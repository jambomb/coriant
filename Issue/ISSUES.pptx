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58" r:id="rId4"/>
    <p:sldId id="261" r:id="rId5"/>
    <p:sldId id="262" r:id="rId6"/>
    <p:sldId id="263" r:id="rId7"/>
    <p:sldId id="264" r:id="rId8"/>
    <p:sldId id="266" r:id="rId9"/>
    <p:sldId id="267" r:id="rId10"/>
    <p:sldId id="268" r:id="rId11"/>
    <p:sldId id="269" r:id="rId12"/>
    <p:sldId id="270" r:id="rId13"/>
    <p:sldId id="265" r:id="rId14"/>
    <p:sldId id="259" r:id="rId15"/>
    <p:sldId id="260" r:id="rId16"/>
  </p:sldIdLst>
  <p:sldSz cx="9144000" cy="6858000" type="screen4x3"/>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C0F40CB-E6AD-40CD-AC42-996402F4E8BF}">
          <p14:sldIdLst>
            <p14:sldId id="256"/>
            <p14:sldId id="257"/>
            <p14:sldId id="258"/>
            <p14:sldId id="261"/>
            <p14:sldId id="262"/>
            <p14:sldId id="263"/>
            <p14:sldId id="264"/>
            <p14:sldId id="266"/>
            <p14:sldId id="267"/>
            <p14:sldId id="268"/>
            <p14:sldId id="269"/>
            <p14:sldId id="270"/>
            <p14:sldId id="265"/>
            <p14:sldId id="259"/>
            <p14:sldId id="260"/>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9619" autoAdjust="0"/>
  </p:normalViewPr>
  <p:slideViewPr>
    <p:cSldViewPr>
      <p:cViewPr varScale="1">
        <p:scale>
          <a:sx n="89" d="100"/>
          <a:sy n="89" d="100"/>
        </p:scale>
        <p:origin x="1638"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49688" y="0"/>
            <a:ext cx="2946400" cy="496888"/>
          </a:xfrm>
          <a:prstGeom prst="rect">
            <a:avLst/>
          </a:prstGeom>
        </p:spPr>
        <p:txBody>
          <a:bodyPr vert="horz" lIns="91440" tIns="45720" rIns="91440" bIns="45720" rtlCol="0"/>
          <a:lstStyle>
            <a:lvl1pPr algn="r">
              <a:defRPr sz="1200"/>
            </a:lvl1pPr>
          </a:lstStyle>
          <a:p>
            <a:fld id="{B48D339C-4ACE-4F1C-827E-BB3FB682E6BC}" type="datetimeFigureOut">
              <a:rPr lang="en-US" smtClean="0"/>
              <a:t>9/12/2016</a:t>
            </a:fld>
            <a:endParaRPr lang="en-US"/>
          </a:p>
        </p:txBody>
      </p:sp>
      <p:sp>
        <p:nvSpPr>
          <p:cNvPr id="4" name="Slide Image Placeholder 3"/>
          <p:cNvSpPr>
            <a:spLocks noGrp="1" noRot="1" noChangeAspect="1"/>
          </p:cNvSpPr>
          <p:nvPr>
            <p:ph type="sldImg" idx="2"/>
          </p:nvPr>
        </p:nvSpPr>
        <p:spPr>
          <a:xfrm>
            <a:off x="1165225" y="1241425"/>
            <a:ext cx="4467225" cy="33496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450" y="4776788"/>
            <a:ext cx="5438775" cy="3908425"/>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429750"/>
            <a:ext cx="2946400" cy="49688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49688" y="9429750"/>
            <a:ext cx="2946400" cy="496888"/>
          </a:xfrm>
          <a:prstGeom prst="rect">
            <a:avLst/>
          </a:prstGeom>
        </p:spPr>
        <p:txBody>
          <a:bodyPr vert="horz" lIns="91440" tIns="45720" rIns="91440" bIns="45720" rtlCol="0" anchor="b"/>
          <a:lstStyle>
            <a:lvl1pPr algn="r">
              <a:defRPr sz="1200"/>
            </a:lvl1pPr>
          </a:lstStyle>
          <a:p>
            <a:fld id="{03D6815C-4569-4406-A663-B4E1B49B67CF}" type="slidenum">
              <a:rPr lang="en-US" smtClean="0"/>
              <a:t>‹#›</a:t>
            </a:fld>
            <a:endParaRPr lang="en-US"/>
          </a:p>
        </p:txBody>
      </p:sp>
    </p:spTree>
    <p:extLst>
      <p:ext uri="{BB962C8B-B14F-4D97-AF65-F5344CB8AC3E}">
        <p14:creationId xmlns:p14="http://schemas.microsoft.com/office/powerpoint/2010/main" val="7961660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The 64 -77 bytes packet dropped issue can be reproduced in shanghai lab and team found out the root cause. This issue can only be reproduced with JDSU analyzer(We use ONT 506 and seems you are using ONT 600), if use Spirent test center this issue never happen.</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After investigation, it turned out that the packet drop is due to improper packet length.</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If we look into the ETH frame generated by the JDSU (64 bytes length for example), can found that the IP Header Length (IHL) is increasing from 0x0 to 0xF. If the IHL set to bigger than 0xB, namely 0xC, 0xD, 0xE and 0xF, the minimum packet length ( </a:t>
            </a:r>
            <a:r>
              <a:rPr lang="en-US" sz="1200" b="1" i="1" kern="1200" dirty="0" smtClean="0">
                <a:solidFill>
                  <a:schemeClr val="tx1"/>
                </a:solidFill>
                <a:effectLst/>
                <a:latin typeface="+mn-lt"/>
                <a:ea typeface="+mn-ea"/>
                <a:cs typeface="+mn-cs"/>
              </a:rPr>
              <a:t>DA(6)+SA(6)+TYPE(2)+IHL*4 + CRC(4) </a:t>
            </a:r>
            <a:r>
              <a:rPr lang="en-US" sz="1200" kern="1200" dirty="0" smtClean="0">
                <a:solidFill>
                  <a:schemeClr val="tx1"/>
                </a:solidFill>
                <a:effectLst/>
                <a:latin typeface="+mn-lt"/>
                <a:ea typeface="+mn-ea"/>
                <a:cs typeface="+mn-cs"/>
              </a:rPr>
              <a:t>)  should be 66, 70, 74 and 78, but actually the ETH packet length is only 64 bytes in this case. </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When chipset Arad check the IP header and verify the packet length, will find that the actual ETH frame length is smaller than the minimum, must be an invalid packet and just dropped it.  So for 64 bytes packet generated by JDSU in this case, IHL with 0xC, 0xD, 0xE and 0xF will be dropped, IHL from 0x0 to 0xB will be OK, this is match the 25% packet drop rate.  </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If the packet length bigger or equal to the minimum packet length ,78 bytes, all the packet will pass the minimum packet length verification, so no packet dropped.</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Also tried to manipulate the JDSU to have the IHL never bigger than 0xB when the packet length small than 78, also no packet drop happened. </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With Spirent test center, we didn’t see packet generated with IHL bigger 0xB with default configuration for the same case.</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For the JDSU tester seems we need to carefully manipulate the IP header to generate correct packets, maybe JDSU already have some configuration there to take care of this we just don’t know.</a:t>
            </a:r>
          </a:p>
          <a:p>
            <a:endParaRPr lang="en-US" dirty="0"/>
          </a:p>
        </p:txBody>
      </p:sp>
      <p:sp>
        <p:nvSpPr>
          <p:cNvPr id="4" name="Slide Number Placeholder 3"/>
          <p:cNvSpPr>
            <a:spLocks noGrp="1"/>
          </p:cNvSpPr>
          <p:nvPr>
            <p:ph type="sldNum" sz="quarter" idx="10"/>
          </p:nvPr>
        </p:nvSpPr>
        <p:spPr/>
        <p:txBody>
          <a:bodyPr/>
          <a:lstStyle/>
          <a:p>
            <a:fld id="{03D6815C-4569-4406-A663-B4E1B49B67CF}" type="slidenum">
              <a:rPr lang="en-US" smtClean="0"/>
              <a:t>11</a:t>
            </a:fld>
            <a:endParaRPr lang="en-US"/>
          </a:p>
        </p:txBody>
      </p:sp>
    </p:spTree>
    <p:extLst>
      <p:ext uri="{BB962C8B-B14F-4D97-AF65-F5344CB8AC3E}">
        <p14:creationId xmlns:p14="http://schemas.microsoft.com/office/powerpoint/2010/main" val="42109274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9/8/2016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9/8/2016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9/8/2016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9/8/2016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9/8/2016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9/8/2016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9/8/2016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9/8/2016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9/8/2016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9/8/2016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9/8/2016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9/8/2016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jira.intra.coriant.com/browse/POCM-476"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1.wmf"/><Relationship Id="rId4"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7100 SW ISSUEs  </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85155984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168670" y="3810000"/>
            <a:ext cx="184731" cy="369332"/>
          </a:xfrm>
          <a:prstGeom prst="rect">
            <a:avLst/>
          </a:prstGeom>
          <a:noFill/>
        </p:spPr>
        <p:txBody>
          <a:bodyPr wrap="none" rtlCol="0">
            <a:spAutoFit/>
          </a:bodyPr>
          <a:lstStyle/>
          <a:p>
            <a:endParaRPr lang="en-US" dirty="0"/>
          </a:p>
        </p:txBody>
      </p:sp>
      <p:sp>
        <p:nvSpPr>
          <p:cNvPr id="6" name="Rectangle 5"/>
          <p:cNvSpPr/>
          <p:nvPr/>
        </p:nvSpPr>
        <p:spPr>
          <a:xfrm>
            <a:off x="2168670" y="3569732"/>
            <a:ext cx="1676400" cy="1219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smtClean="0"/>
              <a:t>PW VXC Eth Port</a:t>
            </a:r>
            <a:endParaRPr lang="en-US" sz="1000" dirty="0"/>
          </a:p>
        </p:txBody>
      </p:sp>
      <p:sp>
        <p:nvSpPr>
          <p:cNvPr id="7" name="Rectangle 6"/>
          <p:cNvSpPr/>
          <p:nvPr/>
        </p:nvSpPr>
        <p:spPr>
          <a:xfrm>
            <a:off x="4835670" y="3604334"/>
            <a:ext cx="1676400" cy="1219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smtClean="0"/>
              <a:t>PW VXC Eth Port </a:t>
            </a:r>
            <a:endParaRPr lang="en-US" sz="1000" dirty="0"/>
          </a:p>
        </p:txBody>
      </p:sp>
      <p:sp>
        <p:nvSpPr>
          <p:cNvPr id="10" name="Oval 9"/>
          <p:cNvSpPr/>
          <p:nvPr/>
        </p:nvSpPr>
        <p:spPr>
          <a:xfrm>
            <a:off x="4721370" y="3766066"/>
            <a:ext cx="228600" cy="27253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4733207" y="4343400"/>
            <a:ext cx="228600" cy="27253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6402579" y="3977499"/>
            <a:ext cx="228600" cy="4021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t>CEp</a:t>
            </a:r>
            <a:endParaRPr lang="en-US" sz="800" dirty="0"/>
          </a:p>
        </p:txBody>
      </p:sp>
      <p:sp>
        <p:nvSpPr>
          <p:cNvPr id="13" name="Oval 12"/>
          <p:cNvSpPr/>
          <p:nvPr/>
        </p:nvSpPr>
        <p:spPr>
          <a:xfrm>
            <a:off x="3730770" y="3810000"/>
            <a:ext cx="228600" cy="27253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3730770" y="4320609"/>
            <a:ext cx="228600" cy="27253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4454799" y="3578869"/>
            <a:ext cx="401072" cy="276999"/>
          </a:xfrm>
          <a:prstGeom prst="rect">
            <a:avLst/>
          </a:prstGeom>
          <a:noFill/>
        </p:spPr>
        <p:txBody>
          <a:bodyPr wrap="none" rtlCol="0">
            <a:spAutoFit/>
          </a:bodyPr>
          <a:lstStyle/>
          <a:p>
            <a:r>
              <a:rPr lang="en-US" sz="1200" dirty="0" smtClean="0"/>
              <a:t>6/1</a:t>
            </a:r>
            <a:endParaRPr lang="en-US" sz="1200" dirty="0"/>
          </a:p>
        </p:txBody>
      </p:sp>
      <p:sp>
        <p:nvSpPr>
          <p:cNvPr id="16" name="TextBox 15"/>
          <p:cNvSpPr txBox="1"/>
          <p:nvPr/>
        </p:nvSpPr>
        <p:spPr>
          <a:xfrm>
            <a:off x="4510798" y="4541356"/>
            <a:ext cx="401072" cy="276999"/>
          </a:xfrm>
          <a:prstGeom prst="rect">
            <a:avLst/>
          </a:prstGeom>
          <a:noFill/>
        </p:spPr>
        <p:txBody>
          <a:bodyPr wrap="none" rtlCol="0">
            <a:spAutoFit/>
          </a:bodyPr>
          <a:lstStyle/>
          <a:p>
            <a:r>
              <a:rPr lang="en-US" sz="1200" dirty="0" smtClean="0"/>
              <a:t>6/2</a:t>
            </a:r>
            <a:endParaRPr lang="en-US" sz="1200" dirty="0"/>
          </a:p>
        </p:txBody>
      </p:sp>
      <p:sp>
        <p:nvSpPr>
          <p:cNvPr id="17" name="TextBox 16"/>
          <p:cNvSpPr txBox="1"/>
          <p:nvPr/>
        </p:nvSpPr>
        <p:spPr>
          <a:xfrm>
            <a:off x="6552390" y="3823317"/>
            <a:ext cx="558166" cy="276999"/>
          </a:xfrm>
          <a:prstGeom prst="rect">
            <a:avLst/>
          </a:prstGeom>
          <a:noFill/>
        </p:spPr>
        <p:txBody>
          <a:bodyPr wrap="none" rtlCol="0">
            <a:spAutoFit/>
          </a:bodyPr>
          <a:lstStyle/>
          <a:p>
            <a:r>
              <a:rPr lang="en-US" sz="1200" dirty="0" smtClean="0"/>
              <a:t>11/13</a:t>
            </a:r>
            <a:endParaRPr lang="en-US" sz="1200" dirty="0"/>
          </a:p>
        </p:txBody>
      </p:sp>
      <p:sp>
        <p:nvSpPr>
          <p:cNvPr id="18" name="TextBox 17"/>
          <p:cNvSpPr txBox="1"/>
          <p:nvPr/>
        </p:nvSpPr>
        <p:spPr>
          <a:xfrm>
            <a:off x="3824998" y="4572000"/>
            <a:ext cx="401072" cy="276999"/>
          </a:xfrm>
          <a:prstGeom prst="rect">
            <a:avLst/>
          </a:prstGeom>
          <a:noFill/>
        </p:spPr>
        <p:txBody>
          <a:bodyPr wrap="none" rtlCol="0">
            <a:spAutoFit/>
          </a:bodyPr>
          <a:lstStyle/>
          <a:p>
            <a:r>
              <a:rPr lang="en-US" sz="1200" dirty="0"/>
              <a:t>4</a:t>
            </a:r>
            <a:r>
              <a:rPr lang="en-US" sz="1200" dirty="0" smtClean="0"/>
              <a:t>/2</a:t>
            </a:r>
            <a:endParaRPr lang="en-US" sz="1200" dirty="0"/>
          </a:p>
        </p:txBody>
      </p:sp>
      <p:sp>
        <p:nvSpPr>
          <p:cNvPr id="19" name="TextBox 18"/>
          <p:cNvSpPr txBox="1"/>
          <p:nvPr/>
        </p:nvSpPr>
        <p:spPr>
          <a:xfrm>
            <a:off x="3783345" y="3590394"/>
            <a:ext cx="401072" cy="276999"/>
          </a:xfrm>
          <a:prstGeom prst="rect">
            <a:avLst/>
          </a:prstGeom>
          <a:noFill/>
        </p:spPr>
        <p:txBody>
          <a:bodyPr wrap="none" rtlCol="0">
            <a:spAutoFit/>
          </a:bodyPr>
          <a:lstStyle/>
          <a:p>
            <a:r>
              <a:rPr lang="en-US" sz="1200" dirty="0" smtClean="0"/>
              <a:t>4/1</a:t>
            </a:r>
            <a:endParaRPr lang="en-US" sz="1200" dirty="0"/>
          </a:p>
        </p:txBody>
      </p:sp>
      <p:sp>
        <p:nvSpPr>
          <p:cNvPr id="20" name="Oval 19"/>
          <p:cNvSpPr/>
          <p:nvPr/>
        </p:nvSpPr>
        <p:spPr>
          <a:xfrm>
            <a:off x="2054370" y="4010344"/>
            <a:ext cx="228600" cy="33645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t>CEp</a:t>
            </a:r>
            <a:endParaRPr lang="en-US" sz="800" dirty="0"/>
          </a:p>
        </p:txBody>
      </p:sp>
      <p:sp>
        <p:nvSpPr>
          <p:cNvPr id="22" name="TextBox 21"/>
          <p:cNvSpPr txBox="1"/>
          <p:nvPr/>
        </p:nvSpPr>
        <p:spPr>
          <a:xfrm>
            <a:off x="1730238" y="3733346"/>
            <a:ext cx="479618" cy="276999"/>
          </a:xfrm>
          <a:prstGeom prst="rect">
            <a:avLst/>
          </a:prstGeom>
          <a:noFill/>
        </p:spPr>
        <p:txBody>
          <a:bodyPr wrap="none" rtlCol="0">
            <a:spAutoFit/>
          </a:bodyPr>
          <a:lstStyle/>
          <a:p>
            <a:r>
              <a:rPr lang="en-US" sz="1200" dirty="0" smtClean="0"/>
              <a:t>4/20</a:t>
            </a:r>
            <a:endParaRPr lang="en-US" sz="1200" dirty="0"/>
          </a:p>
        </p:txBody>
      </p:sp>
      <p:cxnSp>
        <p:nvCxnSpPr>
          <p:cNvPr id="24" name="Straight Arrow Connector 23"/>
          <p:cNvCxnSpPr>
            <a:stCxn id="12" idx="2"/>
            <a:endCxn id="10" idx="6"/>
          </p:cNvCxnSpPr>
          <p:nvPr/>
        </p:nvCxnSpPr>
        <p:spPr>
          <a:xfrm flipH="1" flipV="1">
            <a:off x="4949970" y="3902333"/>
            <a:ext cx="1452609" cy="276238"/>
          </a:xfrm>
          <a:prstGeom prst="straightConnector1">
            <a:avLst/>
          </a:prstGeom>
          <a:ln w="12700" cmpd="dbl">
            <a:headEnd type="stealth" w="lg" len="lg"/>
            <a:tailEnd type="stealth" w="lg" len="lg"/>
          </a:ln>
        </p:spPr>
        <p:style>
          <a:lnRef idx="1">
            <a:schemeClr val="accent5"/>
          </a:lnRef>
          <a:fillRef idx="0">
            <a:schemeClr val="accent5"/>
          </a:fillRef>
          <a:effectRef idx="0">
            <a:schemeClr val="accent5"/>
          </a:effectRef>
          <a:fontRef idx="minor">
            <a:schemeClr val="tx1"/>
          </a:fontRef>
        </p:style>
      </p:cxnSp>
      <p:cxnSp>
        <p:nvCxnSpPr>
          <p:cNvPr id="25" name="Straight Arrow Connector 24"/>
          <p:cNvCxnSpPr>
            <a:endCxn id="11" idx="6"/>
          </p:cNvCxnSpPr>
          <p:nvPr/>
        </p:nvCxnSpPr>
        <p:spPr>
          <a:xfrm flipH="1">
            <a:off x="4961807" y="4213934"/>
            <a:ext cx="1435963" cy="265733"/>
          </a:xfrm>
          <a:prstGeom prst="straightConnector1">
            <a:avLst/>
          </a:prstGeom>
          <a:ln w="12700" cmpd="dbl">
            <a:headEnd type="stealth" w="lg" len="lg"/>
            <a:tailEnd type="stealth" w="lg" len="lg"/>
          </a:ln>
        </p:spPr>
        <p:style>
          <a:lnRef idx="1">
            <a:schemeClr val="accent5"/>
          </a:lnRef>
          <a:fillRef idx="0">
            <a:schemeClr val="accent5"/>
          </a:fillRef>
          <a:effectRef idx="0">
            <a:schemeClr val="accent5"/>
          </a:effectRef>
          <a:fontRef idx="minor">
            <a:schemeClr val="tx1"/>
          </a:fontRef>
        </p:style>
      </p:cxnSp>
      <p:sp>
        <p:nvSpPr>
          <p:cNvPr id="28" name="Oval 27"/>
          <p:cNvSpPr/>
          <p:nvPr/>
        </p:nvSpPr>
        <p:spPr>
          <a:xfrm>
            <a:off x="4510798" y="3604334"/>
            <a:ext cx="705872" cy="1184598"/>
          </a:xfrm>
          <a:prstGeom prst="ellipse">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rgbClr val="7030A0"/>
                </a:solidFill>
              </a:rPr>
              <a:t>LAG</a:t>
            </a:r>
            <a:endParaRPr lang="en-US" sz="1400" dirty="0">
              <a:solidFill>
                <a:srgbClr val="7030A0"/>
              </a:solidFill>
            </a:endParaRPr>
          </a:p>
        </p:txBody>
      </p:sp>
      <p:sp>
        <p:nvSpPr>
          <p:cNvPr id="29" name="Oval 28"/>
          <p:cNvSpPr/>
          <p:nvPr/>
        </p:nvSpPr>
        <p:spPr>
          <a:xfrm>
            <a:off x="3557607" y="3569732"/>
            <a:ext cx="705872" cy="1236501"/>
          </a:xfrm>
          <a:prstGeom prst="ellipse">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rgbClr val="7030A0"/>
                </a:solidFill>
              </a:rPr>
              <a:t>LAG</a:t>
            </a:r>
            <a:endParaRPr lang="en-US" sz="1400" dirty="0">
              <a:solidFill>
                <a:srgbClr val="7030A0"/>
              </a:solidFill>
            </a:endParaRPr>
          </a:p>
        </p:txBody>
      </p:sp>
      <p:cxnSp>
        <p:nvCxnSpPr>
          <p:cNvPr id="30" name="Straight Arrow Connector 29"/>
          <p:cNvCxnSpPr>
            <a:stCxn id="13" idx="2"/>
            <a:endCxn id="20" idx="6"/>
          </p:cNvCxnSpPr>
          <p:nvPr/>
        </p:nvCxnSpPr>
        <p:spPr>
          <a:xfrm flipH="1">
            <a:off x="2282970" y="3946267"/>
            <a:ext cx="1447800" cy="232305"/>
          </a:xfrm>
          <a:prstGeom prst="straightConnector1">
            <a:avLst/>
          </a:prstGeom>
          <a:ln w="12700" cmpd="dbl">
            <a:headEnd type="stealth" w="lg" len="lg"/>
            <a:tailEnd type="stealth" w="lg" len="lg"/>
          </a:ln>
        </p:spPr>
        <p:style>
          <a:lnRef idx="1">
            <a:schemeClr val="accent5"/>
          </a:lnRef>
          <a:fillRef idx="0">
            <a:schemeClr val="accent5"/>
          </a:fillRef>
          <a:effectRef idx="0">
            <a:schemeClr val="accent5"/>
          </a:effectRef>
          <a:fontRef idx="minor">
            <a:schemeClr val="tx1"/>
          </a:fontRef>
        </p:style>
      </p:cxnSp>
      <p:cxnSp>
        <p:nvCxnSpPr>
          <p:cNvPr id="33" name="Straight Arrow Connector 32"/>
          <p:cNvCxnSpPr>
            <a:stCxn id="14" idx="2"/>
            <a:endCxn id="20" idx="6"/>
          </p:cNvCxnSpPr>
          <p:nvPr/>
        </p:nvCxnSpPr>
        <p:spPr>
          <a:xfrm flipH="1" flipV="1">
            <a:off x="2282970" y="4178572"/>
            <a:ext cx="1447800" cy="278304"/>
          </a:xfrm>
          <a:prstGeom prst="straightConnector1">
            <a:avLst/>
          </a:prstGeom>
          <a:ln w="12700" cmpd="dbl">
            <a:headEnd type="stealth" w="lg" len="lg"/>
            <a:tailEnd type="stealth" w="lg" len="lg"/>
          </a:ln>
        </p:spPr>
        <p:style>
          <a:lnRef idx="1">
            <a:schemeClr val="accent5"/>
          </a:lnRef>
          <a:fillRef idx="0">
            <a:schemeClr val="accent5"/>
          </a:fillRef>
          <a:effectRef idx="0">
            <a:schemeClr val="accent5"/>
          </a:effectRef>
          <a:fontRef idx="minor">
            <a:schemeClr val="tx1"/>
          </a:fontRef>
        </p:style>
      </p:cxnSp>
      <p:cxnSp>
        <p:nvCxnSpPr>
          <p:cNvPr id="38" name="Straight Arrow Connector 37"/>
          <p:cNvCxnSpPr>
            <a:stCxn id="13" idx="6"/>
            <a:endCxn id="10" idx="2"/>
          </p:cNvCxnSpPr>
          <p:nvPr/>
        </p:nvCxnSpPr>
        <p:spPr>
          <a:xfrm flipV="1">
            <a:off x="3959370" y="3902333"/>
            <a:ext cx="762000" cy="43934"/>
          </a:xfrm>
          <a:prstGeom prst="straightConnector1">
            <a:avLst/>
          </a:prstGeom>
          <a:ln w="12700">
            <a:headEnd type="stealth"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stCxn id="14" idx="6"/>
            <a:endCxn id="11" idx="2"/>
          </p:cNvCxnSpPr>
          <p:nvPr/>
        </p:nvCxnSpPr>
        <p:spPr>
          <a:xfrm>
            <a:off x="3959370" y="4456876"/>
            <a:ext cx="773837" cy="22791"/>
          </a:xfrm>
          <a:prstGeom prst="straightConnector1">
            <a:avLst/>
          </a:prstGeom>
          <a:ln w="12700">
            <a:headEnd type="stealth" w="lg" len="lg"/>
            <a:tailEnd type="stealth" w="lg" len="lg"/>
          </a:ln>
        </p:spPr>
        <p:style>
          <a:lnRef idx="1">
            <a:schemeClr val="accent1"/>
          </a:lnRef>
          <a:fillRef idx="0">
            <a:schemeClr val="accent1"/>
          </a:fillRef>
          <a:effectRef idx="0">
            <a:schemeClr val="accent1"/>
          </a:effectRef>
          <a:fontRef idx="minor">
            <a:schemeClr val="tx1"/>
          </a:fontRef>
        </p:style>
      </p:cxnSp>
      <p:sp>
        <p:nvSpPr>
          <p:cNvPr id="43" name="Rectangle 42"/>
          <p:cNvSpPr/>
          <p:nvPr/>
        </p:nvSpPr>
        <p:spPr>
          <a:xfrm>
            <a:off x="3672598" y="1524000"/>
            <a:ext cx="1676400" cy="76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Test Center</a:t>
            </a:r>
            <a:endParaRPr lang="en-US" dirty="0"/>
          </a:p>
        </p:txBody>
      </p:sp>
      <p:sp>
        <p:nvSpPr>
          <p:cNvPr id="44" name="Oval 43"/>
          <p:cNvSpPr/>
          <p:nvPr/>
        </p:nvSpPr>
        <p:spPr>
          <a:xfrm>
            <a:off x="5216670" y="1768733"/>
            <a:ext cx="228600" cy="27253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p:cNvSpPr/>
          <p:nvPr/>
        </p:nvSpPr>
        <p:spPr>
          <a:xfrm>
            <a:off x="3558298" y="1768733"/>
            <a:ext cx="228600" cy="27253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7" name="Elbow Connector 46"/>
          <p:cNvCxnSpPr>
            <a:stCxn id="44" idx="6"/>
            <a:endCxn id="12" idx="6"/>
          </p:cNvCxnSpPr>
          <p:nvPr/>
        </p:nvCxnSpPr>
        <p:spPr>
          <a:xfrm>
            <a:off x="5445270" y="1905000"/>
            <a:ext cx="1185909" cy="2273571"/>
          </a:xfrm>
          <a:prstGeom prst="bentConnector3">
            <a:avLst>
              <a:gd name="adj1" fmla="val 119276"/>
            </a:avLst>
          </a:prstGeom>
          <a:ln w="12700">
            <a:headEnd type="stealth"/>
            <a:tailEnd type="stealth"/>
          </a:ln>
        </p:spPr>
        <p:style>
          <a:lnRef idx="1">
            <a:schemeClr val="accent1"/>
          </a:lnRef>
          <a:fillRef idx="0">
            <a:schemeClr val="accent1"/>
          </a:fillRef>
          <a:effectRef idx="0">
            <a:schemeClr val="accent1"/>
          </a:effectRef>
          <a:fontRef idx="minor">
            <a:schemeClr val="tx1"/>
          </a:fontRef>
        </p:style>
      </p:cxnSp>
      <p:cxnSp>
        <p:nvCxnSpPr>
          <p:cNvPr id="51" name="Elbow Connector 50"/>
          <p:cNvCxnSpPr>
            <a:stCxn id="45" idx="2"/>
            <a:endCxn id="20" idx="2"/>
          </p:cNvCxnSpPr>
          <p:nvPr/>
        </p:nvCxnSpPr>
        <p:spPr>
          <a:xfrm rot="10800000" flipV="1">
            <a:off x="2054370" y="1905000"/>
            <a:ext cx="1503928" cy="2273572"/>
          </a:xfrm>
          <a:prstGeom prst="bentConnector3">
            <a:avLst>
              <a:gd name="adj1" fmla="val 115200"/>
            </a:avLst>
          </a:prstGeom>
          <a:ln w="12700">
            <a:headEnd type="stealth"/>
            <a:tailEnd type="stealth"/>
          </a:ln>
        </p:spPr>
        <p:style>
          <a:lnRef idx="1">
            <a:schemeClr val="accent1"/>
          </a:lnRef>
          <a:fillRef idx="0">
            <a:schemeClr val="accent1"/>
          </a:fillRef>
          <a:effectRef idx="0">
            <a:schemeClr val="accent1"/>
          </a:effectRef>
          <a:fontRef idx="minor">
            <a:schemeClr val="tx1"/>
          </a:fontRef>
        </p:style>
      </p:cxnSp>
      <p:sp>
        <p:nvSpPr>
          <p:cNvPr id="52" name="TextBox 51"/>
          <p:cNvSpPr txBox="1"/>
          <p:nvPr/>
        </p:nvSpPr>
        <p:spPr>
          <a:xfrm>
            <a:off x="5346652" y="1981200"/>
            <a:ext cx="479618" cy="276999"/>
          </a:xfrm>
          <a:prstGeom prst="rect">
            <a:avLst/>
          </a:prstGeom>
          <a:noFill/>
        </p:spPr>
        <p:txBody>
          <a:bodyPr wrap="none" rtlCol="0">
            <a:spAutoFit/>
          </a:bodyPr>
          <a:lstStyle/>
          <a:p>
            <a:r>
              <a:rPr lang="en-US" sz="1200" dirty="0" smtClean="0"/>
              <a:t>12/4</a:t>
            </a:r>
            <a:endParaRPr lang="en-US" sz="1200" dirty="0"/>
          </a:p>
        </p:txBody>
      </p:sp>
      <p:sp>
        <p:nvSpPr>
          <p:cNvPr id="53" name="TextBox 52"/>
          <p:cNvSpPr txBox="1"/>
          <p:nvPr/>
        </p:nvSpPr>
        <p:spPr>
          <a:xfrm>
            <a:off x="3164128" y="1969363"/>
            <a:ext cx="401072" cy="276999"/>
          </a:xfrm>
          <a:prstGeom prst="rect">
            <a:avLst/>
          </a:prstGeom>
          <a:noFill/>
        </p:spPr>
        <p:txBody>
          <a:bodyPr wrap="none" rtlCol="0">
            <a:spAutoFit/>
          </a:bodyPr>
          <a:lstStyle/>
          <a:p>
            <a:r>
              <a:rPr lang="en-US" sz="1200" dirty="0" smtClean="0"/>
              <a:t>9/7</a:t>
            </a:r>
            <a:endParaRPr lang="en-US" sz="1200" dirty="0"/>
          </a:p>
        </p:txBody>
      </p:sp>
      <p:sp>
        <p:nvSpPr>
          <p:cNvPr id="54" name="Line Callout 2 53"/>
          <p:cNvSpPr/>
          <p:nvPr/>
        </p:nvSpPr>
        <p:spPr>
          <a:xfrm>
            <a:off x="6852928" y="4418398"/>
            <a:ext cx="1916114" cy="382050"/>
          </a:xfrm>
          <a:prstGeom prst="borderCallout2">
            <a:avLst>
              <a:gd name="adj1" fmla="val 20366"/>
              <a:gd name="adj2" fmla="val -5553"/>
              <a:gd name="adj3" fmla="val 20984"/>
              <a:gd name="adj4" fmla="val -13370"/>
              <a:gd name="adj5" fmla="val -3845"/>
              <a:gd name="adj6" fmla="val -14569"/>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interface </a:t>
            </a:r>
            <a:r>
              <a:rPr lang="en-US" sz="1000" dirty="0" err="1">
                <a:solidFill>
                  <a:schemeClr val="tx1"/>
                </a:solidFill>
              </a:rPr>
              <a:t>xg</a:t>
            </a:r>
            <a:endParaRPr lang="en-US" sz="1000" dirty="0">
              <a:solidFill>
                <a:schemeClr val="tx1"/>
              </a:solidFill>
            </a:endParaRPr>
          </a:p>
          <a:p>
            <a:pPr algn="ctr"/>
            <a:r>
              <a:rPr lang="en-US" sz="1000" dirty="0" smtClean="0">
                <a:solidFill>
                  <a:schemeClr val="tx1"/>
                </a:solidFill>
              </a:rPr>
              <a:t>sub-interface </a:t>
            </a:r>
            <a:r>
              <a:rPr lang="en-US" sz="1000" dirty="0">
                <a:solidFill>
                  <a:schemeClr val="tx1"/>
                </a:solidFill>
              </a:rPr>
              <a:t>switch </a:t>
            </a:r>
            <a:r>
              <a:rPr lang="en-US" sz="1000" dirty="0" err="1" smtClean="0">
                <a:solidFill>
                  <a:schemeClr val="tx1"/>
                </a:solidFill>
              </a:rPr>
              <a:t>vlan</a:t>
            </a:r>
            <a:r>
              <a:rPr lang="en-US" sz="1000" dirty="0" smtClean="0">
                <a:solidFill>
                  <a:schemeClr val="tx1"/>
                </a:solidFill>
              </a:rPr>
              <a:t> </a:t>
            </a:r>
            <a:r>
              <a:rPr lang="en-US" sz="1000" b="1" dirty="0" smtClean="0">
                <a:solidFill>
                  <a:schemeClr val="tx1"/>
                </a:solidFill>
                <a:effectLst>
                  <a:outerShdw blurRad="38100" dist="38100" dir="2700000" algn="tl">
                    <a:srgbClr val="000000">
                      <a:alpha val="43137"/>
                    </a:srgbClr>
                  </a:outerShdw>
                </a:effectLst>
              </a:rPr>
              <a:t>300</a:t>
            </a:r>
            <a:endParaRPr lang="en-US" sz="1000" b="1" dirty="0">
              <a:solidFill>
                <a:schemeClr val="tx1"/>
              </a:solidFill>
              <a:effectLst>
                <a:outerShdw blurRad="38100" dist="38100" dir="2700000" algn="tl">
                  <a:srgbClr val="000000">
                    <a:alpha val="43137"/>
                  </a:srgbClr>
                </a:outerShdw>
              </a:effectLst>
            </a:endParaRPr>
          </a:p>
        </p:txBody>
      </p:sp>
      <p:sp>
        <p:nvSpPr>
          <p:cNvPr id="55" name="Rectangle 54"/>
          <p:cNvSpPr/>
          <p:nvPr/>
        </p:nvSpPr>
        <p:spPr>
          <a:xfrm>
            <a:off x="3557607" y="2746159"/>
            <a:ext cx="1761463"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err="1" smtClean="0"/>
              <a:t>Mpls</a:t>
            </a:r>
            <a:r>
              <a:rPr lang="en-US" sz="1600" dirty="0" smtClean="0"/>
              <a:t> Over Lag with </a:t>
            </a:r>
            <a:r>
              <a:rPr lang="en-US" sz="1600" dirty="0" err="1" smtClean="0"/>
              <a:t>vlan</a:t>
            </a:r>
            <a:r>
              <a:rPr lang="en-US" sz="1600" dirty="0" smtClean="0"/>
              <a:t> 150</a:t>
            </a:r>
            <a:endParaRPr lang="en-US" sz="1600" dirty="0"/>
          </a:p>
        </p:txBody>
      </p:sp>
      <p:cxnSp>
        <p:nvCxnSpPr>
          <p:cNvPr id="60" name="Straight Arrow Connector 59"/>
          <p:cNvCxnSpPr>
            <a:stCxn id="55" idx="2"/>
            <a:endCxn id="29" idx="0"/>
          </p:cNvCxnSpPr>
          <p:nvPr/>
        </p:nvCxnSpPr>
        <p:spPr>
          <a:xfrm flipH="1">
            <a:off x="3910543" y="3203359"/>
            <a:ext cx="527796" cy="36637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a:stCxn id="55" idx="2"/>
          </p:cNvCxnSpPr>
          <p:nvPr/>
        </p:nvCxnSpPr>
        <p:spPr>
          <a:xfrm>
            <a:off x="4438339" y="3203359"/>
            <a:ext cx="397331" cy="37551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73" name="Line Callout 2 72"/>
          <p:cNvSpPr/>
          <p:nvPr/>
        </p:nvSpPr>
        <p:spPr>
          <a:xfrm>
            <a:off x="5196695" y="4977129"/>
            <a:ext cx="1916114" cy="382050"/>
          </a:xfrm>
          <a:prstGeom prst="borderCallout2">
            <a:avLst>
              <a:gd name="adj1" fmla="val 20366"/>
              <a:gd name="adj2" fmla="val -5553"/>
              <a:gd name="adj3" fmla="val 20983"/>
              <a:gd name="adj4" fmla="val -18466"/>
              <a:gd name="adj5" fmla="val -85174"/>
              <a:gd name="adj6" fmla="val -18276"/>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smtClean="0">
                <a:solidFill>
                  <a:schemeClr val="tx1"/>
                </a:solidFill>
              </a:rPr>
              <a:t>interface </a:t>
            </a:r>
            <a:r>
              <a:rPr lang="en-US" sz="1000" dirty="0" err="1" smtClean="0">
                <a:solidFill>
                  <a:schemeClr val="tx1"/>
                </a:solidFill>
              </a:rPr>
              <a:t>tp</a:t>
            </a:r>
            <a:r>
              <a:rPr lang="en-US" sz="1000" dirty="0" smtClean="0">
                <a:solidFill>
                  <a:schemeClr val="tx1"/>
                </a:solidFill>
              </a:rPr>
              <a:t>-pw</a:t>
            </a:r>
          </a:p>
          <a:p>
            <a:r>
              <a:rPr lang="en-US" sz="1000" dirty="0" smtClean="0">
                <a:solidFill>
                  <a:schemeClr val="tx1"/>
                </a:solidFill>
              </a:rPr>
              <a:t>sub-interface </a:t>
            </a:r>
            <a:r>
              <a:rPr lang="en-US" sz="1000" dirty="0">
                <a:solidFill>
                  <a:schemeClr val="tx1"/>
                </a:solidFill>
              </a:rPr>
              <a:t>switch </a:t>
            </a:r>
            <a:r>
              <a:rPr lang="en-US" sz="1000" dirty="0" err="1">
                <a:solidFill>
                  <a:schemeClr val="tx1"/>
                </a:solidFill>
              </a:rPr>
              <a:t>vlan</a:t>
            </a:r>
            <a:r>
              <a:rPr lang="en-US" sz="1000" dirty="0">
                <a:solidFill>
                  <a:schemeClr val="tx1"/>
                </a:solidFill>
              </a:rPr>
              <a:t> </a:t>
            </a:r>
            <a:r>
              <a:rPr lang="en-US" sz="1000" b="1" dirty="0">
                <a:solidFill>
                  <a:schemeClr val="tx1"/>
                </a:solidFill>
                <a:effectLst>
                  <a:outerShdw blurRad="38100" dist="38100" dir="2700000" algn="tl">
                    <a:srgbClr val="000000">
                      <a:alpha val="43137"/>
                    </a:srgbClr>
                  </a:outerShdw>
                </a:effectLst>
              </a:rPr>
              <a:t>200</a:t>
            </a:r>
            <a:r>
              <a:rPr lang="en-US" sz="1000" dirty="0">
                <a:solidFill>
                  <a:schemeClr val="tx1"/>
                </a:solidFill>
              </a:rPr>
              <a:t> </a:t>
            </a:r>
          </a:p>
        </p:txBody>
      </p:sp>
      <p:sp>
        <p:nvSpPr>
          <p:cNvPr id="74" name="Line Callout 2 73"/>
          <p:cNvSpPr/>
          <p:nvPr/>
        </p:nvSpPr>
        <p:spPr>
          <a:xfrm>
            <a:off x="1730238" y="4969472"/>
            <a:ext cx="1916114" cy="382050"/>
          </a:xfrm>
          <a:prstGeom prst="borderCallout2">
            <a:avLst>
              <a:gd name="adj1" fmla="val 1776"/>
              <a:gd name="adj2" fmla="val 100084"/>
              <a:gd name="adj3" fmla="val 2393"/>
              <a:gd name="adj4" fmla="val 111263"/>
              <a:gd name="adj5" fmla="val -99116"/>
              <a:gd name="adj6" fmla="val 110990"/>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smtClean="0">
                <a:solidFill>
                  <a:schemeClr val="tx1"/>
                </a:solidFill>
              </a:rPr>
              <a:t>interface </a:t>
            </a:r>
            <a:r>
              <a:rPr lang="en-US" sz="1000" dirty="0" err="1" smtClean="0">
                <a:solidFill>
                  <a:schemeClr val="tx1"/>
                </a:solidFill>
              </a:rPr>
              <a:t>tp</a:t>
            </a:r>
            <a:r>
              <a:rPr lang="en-US" sz="1000" dirty="0" smtClean="0">
                <a:solidFill>
                  <a:schemeClr val="tx1"/>
                </a:solidFill>
              </a:rPr>
              <a:t>-pw</a:t>
            </a:r>
          </a:p>
          <a:p>
            <a:r>
              <a:rPr lang="en-US" sz="1000" dirty="0" smtClean="0">
                <a:solidFill>
                  <a:schemeClr val="tx1"/>
                </a:solidFill>
              </a:rPr>
              <a:t>sub-interface </a:t>
            </a:r>
            <a:r>
              <a:rPr lang="en-US" sz="1000" dirty="0">
                <a:solidFill>
                  <a:schemeClr val="tx1"/>
                </a:solidFill>
              </a:rPr>
              <a:t>switch </a:t>
            </a:r>
            <a:r>
              <a:rPr lang="en-US" sz="1000" dirty="0" err="1">
                <a:solidFill>
                  <a:schemeClr val="tx1"/>
                </a:solidFill>
              </a:rPr>
              <a:t>vlan</a:t>
            </a:r>
            <a:r>
              <a:rPr lang="en-US" sz="1000" dirty="0">
                <a:solidFill>
                  <a:schemeClr val="tx1"/>
                </a:solidFill>
              </a:rPr>
              <a:t> </a:t>
            </a:r>
            <a:r>
              <a:rPr lang="en-US" sz="1000" b="1" dirty="0">
                <a:solidFill>
                  <a:schemeClr val="tx1"/>
                </a:solidFill>
                <a:effectLst>
                  <a:outerShdw blurRad="38100" dist="38100" dir="2700000" algn="tl">
                    <a:srgbClr val="000000">
                      <a:alpha val="43137"/>
                    </a:srgbClr>
                  </a:outerShdw>
                </a:effectLst>
              </a:rPr>
              <a:t>200</a:t>
            </a:r>
            <a:r>
              <a:rPr lang="en-US" sz="1000" dirty="0">
                <a:solidFill>
                  <a:schemeClr val="tx1"/>
                </a:solidFill>
              </a:rPr>
              <a:t> </a:t>
            </a:r>
          </a:p>
        </p:txBody>
      </p:sp>
      <p:graphicFrame>
        <p:nvGraphicFramePr>
          <p:cNvPr id="79" name="Table 78"/>
          <p:cNvGraphicFramePr>
            <a:graphicFrameLocks noGrp="1"/>
          </p:cNvGraphicFramePr>
          <p:nvPr>
            <p:extLst>
              <p:ext uri="{D42A27DB-BD31-4B8C-83A1-F6EECF244321}">
                <p14:modId xmlns:p14="http://schemas.microsoft.com/office/powerpoint/2010/main" val="3021918516"/>
              </p:ext>
            </p:extLst>
          </p:nvPr>
        </p:nvGraphicFramePr>
        <p:xfrm>
          <a:off x="5445270" y="1554480"/>
          <a:ext cx="3346884" cy="274320"/>
        </p:xfrm>
        <a:graphic>
          <a:graphicData uri="http://schemas.openxmlformats.org/drawingml/2006/table">
            <a:tbl>
              <a:tblPr firstRow="1" bandRow="1">
                <a:tableStyleId>{7DF18680-E054-41AD-8BC1-D1AEF772440D}</a:tableStyleId>
              </a:tblPr>
              <a:tblGrid>
                <a:gridCol w="679882"/>
                <a:gridCol w="435746"/>
                <a:gridCol w="343381"/>
                <a:gridCol w="772247"/>
                <a:gridCol w="557814"/>
                <a:gridCol w="557814"/>
              </a:tblGrid>
              <a:tr h="259080">
                <a:tc>
                  <a:txBody>
                    <a:bodyPr/>
                    <a:lstStyle/>
                    <a:p>
                      <a:r>
                        <a:rPr lang="en-US" sz="1200" b="0" dirty="0" smtClean="0"/>
                        <a:t>Send:</a:t>
                      </a:r>
                    </a:p>
                  </a:txBody>
                  <a:tcPr/>
                </a:tc>
                <a:tc>
                  <a:txBody>
                    <a:bodyPr/>
                    <a:lstStyle/>
                    <a:p>
                      <a:r>
                        <a:rPr lang="en-US" sz="1200" b="0" dirty="0" smtClean="0"/>
                        <a:t>DA</a:t>
                      </a:r>
                      <a:endParaRPr lang="en-US" sz="1200" b="0" dirty="0"/>
                    </a:p>
                  </a:txBody>
                  <a:tcPr/>
                </a:tc>
                <a:tc>
                  <a:txBody>
                    <a:bodyPr/>
                    <a:lstStyle/>
                    <a:p>
                      <a:r>
                        <a:rPr lang="en-US" sz="1200" b="0" dirty="0" smtClean="0"/>
                        <a:t>SA</a:t>
                      </a:r>
                      <a:endParaRPr lang="en-US" sz="1200" b="0" dirty="0"/>
                    </a:p>
                  </a:txBody>
                  <a:tcPr/>
                </a:tc>
                <a:tc>
                  <a:txBody>
                    <a:bodyPr/>
                    <a:lstStyle/>
                    <a:p>
                      <a:r>
                        <a:rPr lang="en-US" sz="1200" b="0" dirty="0" smtClean="0"/>
                        <a:t>0x8100</a:t>
                      </a:r>
                      <a:endParaRPr lang="en-US" sz="1200" b="0" dirty="0"/>
                    </a:p>
                  </a:txBody>
                  <a:tcPr/>
                </a:tc>
                <a:tc>
                  <a:txBody>
                    <a:bodyPr/>
                    <a:lstStyle/>
                    <a:p>
                      <a:r>
                        <a:rPr lang="en-US" sz="1200" b="1" dirty="0" smtClean="0">
                          <a:solidFill>
                            <a:srgbClr val="FF0000"/>
                          </a:solidFill>
                          <a:effectLst>
                            <a:outerShdw blurRad="38100" dist="38100" dir="2700000" algn="tl">
                              <a:srgbClr val="000000">
                                <a:alpha val="43137"/>
                              </a:srgbClr>
                            </a:outerShdw>
                          </a:effectLst>
                        </a:rPr>
                        <a:t>300</a:t>
                      </a:r>
                      <a:endParaRPr lang="en-US" sz="1200" b="1" dirty="0">
                        <a:solidFill>
                          <a:srgbClr val="FF0000"/>
                        </a:solidFill>
                        <a:effectLst>
                          <a:outerShdw blurRad="38100" dist="38100" dir="2700000" algn="tl">
                            <a:srgbClr val="000000">
                              <a:alpha val="43137"/>
                            </a:srgbClr>
                          </a:outerShdw>
                        </a:effectLst>
                      </a:endParaRPr>
                    </a:p>
                  </a:txBody>
                  <a:tcPr/>
                </a:tc>
                <a:tc>
                  <a:txBody>
                    <a:bodyPr/>
                    <a:lstStyle/>
                    <a:p>
                      <a:r>
                        <a:rPr lang="en-US" sz="1200" b="0" dirty="0" smtClean="0"/>
                        <a:t>IP…</a:t>
                      </a:r>
                      <a:endParaRPr lang="en-US" sz="1200" b="0" dirty="0"/>
                    </a:p>
                  </a:txBody>
                  <a:tcPr/>
                </a:tc>
              </a:tr>
            </a:tbl>
          </a:graphicData>
        </a:graphic>
      </p:graphicFrame>
      <p:graphicFrame>
        <p:nvGraphicFramePr>
          <p:cNvPr id="80" name="Table 79"/>
          <p:cNvGraphicFramePr>
            <a:graphicFrameLocks noGrp="1"/>
          </p:cNvGraphicFramePr>
          <p:nvPr>
            <p:extLst>
              <p:ext uri="{D42A27DB-BD31-4B8C-83A1-F6EECF244321}">
                <p14:modId xmlns:p14="http://schemas.microsoft.com/office/powerpoint/2010/main" val="3453819167"/>
              </p:ext>
            </p:extLst>
          </p:nvPr>
        </p:nvGraphicFramePr>
        <p:xfrm>
          <a:off x="265437" y="1530817"/>
          <a:ext cx="3346884" cy="297983"/>
        </p:xfrm>
        <a:graphic>
          <a:graphicData uri="http://schemas.openxmlformats.org/drawingml/2006/table">
            <a:tbl>
              <a:tblPr firstRow="1" bandRow="1">
                <a:tableStyleId>{7DF18680-E054-41AD-8BC1-D1AEF772440D}</a:tableStyleId>
              </a:tblPr>
              <a:tblGrid>
                <a:gridCol w="760233"/>
                <a:gridCol w="457200"/>
                <a:gridCol w="381000"/>
                <a:gridCol w="685800"/>
                <a:gridCol w="504837"/>
                <a:gridCol w="557814"/>
              </a:tblGrid>
              <a:tr h="297983">
                <a:tc>
                  <a:txBody>
                    <a:bodyPr/>
                    <a:lstStyle/>
                    <a:p>
                      <a:pPr marL="0" algn="l" defTabSz="914400" rtl="0" eaLnBrk="1" latinLnBrk="0" hangingPunct="1"/>
                      <a:r>
                        <a:rPr lang="en-US" sz="1200" b="0" kern="1200" dirty="0" smtClean="0">
                          <a:solidFill>
                            <a:schemeClr val="lt1"/>
                          </a:solidFill>
                          <a:latin typeface="+mn-lt"/>
                          <a:ea typeface="+mn-ea"/>
                          <a:cs typeface="+mn-cs"/>
                        </a:rPr>
                        <a:t>Receive:</a:t>
                      </a:r>
                    </a:p>
                  </a:txBody>
                  <a:tcPr/>
                </a:tc>
                <a:tc>
                  <a:txBody>
                    <a:bodyPr/>
                    <a:lstStyle/>
                    <a:p>
                      <a:r>
                        <a:rPr lang="en-US" sz="1200" b="0" dirty="0" smtClean="0"/>
                        <a:t>DA</a:t>
                      </a:r>
                      <a:endParaRPr lang="en-US" sz="1200" b="0" dirty="0"/>
                    </a:p>
                  </a:txBody>
                  <a:tcPr/>
                </a:tc>
                <a:tc>
                  <a:txBody>
                    <a:bodyPr/>
                    <a:lstStyle/>
                    <a:p>
                      <a:r>
                        <a:rPr lang="en-US" sz="1200" b="0" dirty="0" smtClean="0"/>
                        <a:t>SA</a:t>
                      </a:r>
                      <a:endParaRPr lang="en-US" sz="1200" b="0" dirty="0"/>
                    </a:p>
                  </a:txBody>
                  <a:tcPr/>
                </a:tc>
                <a:tc>
                  <a:txBody>
                    <a:bodyPr/>
                    <a:lstStyle/>
                    <a:p>
                      <a:r>
                        <a:rPr lang="en-US" sz="1200" b="0" dirty="0" smtClean="0"/>
                        <a:t>0x8100</a:t>
                      </a:r>
                      <a:endParaRPr lang="en-US" sz="1200" b="0" dirty="0"/>
                    </a:p>
                  </a:txBody>
                  <a:tcPr/>
                </a:tc>
                <a:tc>
                  <a:txBody>
                    <a:bodyPr/>
                    <a:lstStyle/>
                    <a:p>
                      <a:r>
                        <a:rPr lang="en-US" sz="1200" b="1" dirty="0" smtClean="0">
                          <a:solidFill>
                            <a:srgbClr val="FF0000"/>
                          </a:solidFill>
                          <a:effectLst>
                            <a:outerShdw blurRad="38100" dist="38100" dir="2700000" algn="tl">
                              <a:srgbClr val="000000">
                                <a:alpha val="43137"/>
                              </a:srgbClr>
                            </a:outerShdw>
                          </a:effectLst>
                        </a:rPr>
                        <a:t>200</a:t>
                      </a:r>
                      <a:endParaRPr lang="en-US" sz="1200" b="1" dirty="0">
                        <a:solidFill>
                          <a:srgbClr val="FF0000"/>
                        </a:solidFill>
                        <a:effectLst>
                          <a:outerShdw blurRad="38100" dist="38100" dir="2700000" algn="tl">
                            <a:srgbClr val="000000">
                              <a:alpha val="43137"/>
                            </a:srgbClr>
                          </a:outerShdw>
                        </a:effectLst>
                      </a:endParaRPr>
                    </a:p>
                  </a:txBody>
                  <a:tcPr/>
                </a:tc>
                <a:tc>
                  <a:txBody>
                    <a:bodyPr/>
                    <a:lstStyle/>
                    <a:p>
                      <a:r>
                        <a:rPr lang="en-US" sz="1200" b="0" dirty="0" smtClean="0"/>
                        <a:t>IP…</a:t>
                      </a:r>
                      <a:endParaRPr lang="en-US" sz="1200" b="0" dirty="0"/>
                    </a:p>
                  </a:txBody>
                  <a:tcPr/>
                </a:tc>
              </a:tr>
            </a:tbl>
          </a:graphicData>
        </a:graphic>
      </p:graphicFrame>
      <p:sp>
        <p:nvSpPr>
          <p:cNvPr id="81" name="TextBox 80"/>
          <p:cNvSpPr txBox="1"/>
          <p:nvPr/>
        </p:nvSpPr>
        <p:spPr>
          <a:xfrm>
            <a:off x="5292870" y="3593068"/>
            <a:ext cx="912429" cy="369332"/>
          </a:xfrm>
          <a:prstGeom prst="rect">
            <a:avLst/>
          </a:prstGeom>
          <a:noFill/>
        </p:spPr>
        <p:txBody>
          <a:bodyPr wrap="none" rtlCol="0">
            <a:spAutoFit/>
          </a:bodyPr>
          <a:lstStyle/>
          <a:p>
            <a:r>
              <a:rPr lang="en-US" dirty="0" smtClean="0">
                <a:solidFill>
                  <a:schemeClr val="bg1"/>
                </a:solidFill>
              </a:rPr>
              <a:t>NE: 102</a:t>
            </a:r>
            <a:endParaRPr lang="en-US" dirty="0">
              <a:solidFill>
                <a:schemeClr val="bg1"/>
              </a:solidFill>
            </a:endParaRPr>
          </a:p>
        </p:txBody>
      </p:sp>
      <p:sp>
        <p:nvSpPr>
          <p:cNvPr id="82" name="TextBox 81"/>
          <p:cNvSpPr txBox="1"/>
          <p:nvPr/>
        </p:nvSpPr>
        <p:spPr>
          <a:xfrm>
            <a:off x="2550655" y="3576935"/>
            <a:ext cx="912429" cy="369332"/>
          </a:xfrm>
          <a:prstGeom prst="rect">
            <a:avLst/>
          </a:prstGeom>
          <a:noFill/>
        </p:spPr>
        <p:txBody>
          <a:bodyPr wrap="none" rtlCol="0">
            <a:spAutoFit/>
          </a:bodyPr>
          <a:lstStyle/>
          <a:p>
            <a:r>
              <a:rPr lang="en-US" dirty="0" smtClean="0">
                <a:solidFill>
                  <a:schemeClr val="bg1"/>
                </a:solidFill>
              </a:rPr>
              <a:t>NE: 105</a:t>
            </a:r>
            <a:endParaRPr lang="en-US" dirty="0">
              <a:solidFill>
                <a:schemeClr val="bg1"/>
              </a:solidFill>
            </a:endParaRPr>
          </a:p>
        </p:txBody>
      </p:sp>
      <p:sp>
        <p:nvSpPr>
          <p:cNvPr id="83" name="TextBox 82"/>
          <p:cNvSpPr txBox="1"/>
          <p:nvPr/>
        </p:nvSpPr>
        <p:spPr>
          <a:xfrm>
            <a:off x="736569" y="584732"/>
            <a:ext cx="5335500" cy="369332"/>
          </a:xfrm>
          <a:prstGeom prst="rect">
            <a:avLst/>
          </a:prstGeom>
          <a:noFill/>
        </p:spPr>
        <p:txBody>
          <a:bodyPr wrap="none" rtlCol="0">
            <a:spAutoFit/>
          </a:bodyPr>
          <a:lstStyle/>
          <a:p>
            <a:r>
              <a:rPr lang="en-US" dirty="0" smtClean="0"/>
              <a:t>ISSUE1: The reason for  PW VLAN ID not translated  is ?</a:t>
            </a:r>
            <a:endParaRPr lang="en-US" dirty="0"/>
          </a:p>
        </p:txBody>
      </p:sp>
      <p:sp>
        <p:nvSpPr>
          <p:cNvPr id="84" name="Line Callout 2 83"/>
          <p:cNvSpPr/>
          <p:nvPr/>
        </p:nvSpPr>
        <p:spPr>
          <a:xfrm>
            <a:off x="65086" y="4444891"/>
            <a:ext cx="1916114" cy="382050"/>
          </a:xfrm>
          <a:prstGeom prst="borderCallout2">
            <a:avLst>
              <a:gd name="adj1" fmla="val 29661"/>
              <a:gd name="adj2" fmla="val 100083"/>
              <a:gd name="adj3" fmla="val 27955"/>
              <a:gd name="adj4" fmla="val 106628"/>
              <a:gd name="adj5" fmla="val -29406"/>
              <a:gd name="adj6" fmla="val 106820"/>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interface </a:t>
            </a:r>
            <a:r>
              <a:rPr lang="en-US" sz="1000" dirty="0" err="1">
                <a:solidFill>
                  <a:schemeClr val="tx1"/>
                </a:solidFill>
              </a:rPr>
              <a:t>xg</a:t>
            </a:r>
            <a:endParaRPr lang="en-US" sz="1000" dirty="0">
              <a:solidFill>
                <a:schemeClr val="tx1"/>
              </a:solidFill>
            </a:endParaRPr>
          </a:p>
          <a:p>
            <a:pPr algn="ctr"/>
            <a:r>
              <a:rPr lang="en-US" sz="1000" dirty="0" smtClean="0">
                <a:solidFill>
                  <a:schemeClr val="tx1"/>
                </a:solidFill>
              </a:rPr>
              <a:t>sub-interface </a:t>
            </a:r>
            <a:r>
              <a:rPr lang="en-US" sz="1000" dirty="0">
                <a:solidFill>
                  <a:schemeClr val="tx1"/>
                </a:solidFill>
              </a:rPr>
              <a:t>switch </a:t>
            </a:r>
            <a:r>
              <a:rPr lang="en-US" sz="1000" dirty="0" err="1" smtClean="0">
                <a:solidFill>
                  <a:schemeClr val="tx1"/>
                </a:solidFill>
              </a:rPr>
              <a:t>vlan</a:t>
            </a:r>
            <a:r>
              <a:rPr lang="en-US" sz="1000" dirty="0" smtClean="0">
                <a:solidFill>
                  <a:schemeClr val="tx1"/>
                </a:solidFill>
              </a:rPr>
              <a:t> </a:t>
            </a:r>
            <a:r>
              <a:rPr lang="en-US" sz="1000" b="1" dirty="0">
                <a:solidFill>
                  <a:schemeClr val="tx1"/>
                </a:solidFill>
                <a:effectLst>
                  <a:outerShdw blurRad="38100" dist="38100" dir="2700000" algn="tl">
                    <a:srgbClr val="000000">
                      <a:alpha val="43137"/>
                    </a:srgbClr>
                  </a:outerShdw>
                </a:effectLst>
              </a:rPr>
              <a:t>1</a:t>
            </a:r>
            <a:r>
              <a:rPr lang="en-US" sz="1000" b="1" dirty="0" smtClean="0">
                <a:solidFill>
                  <a:schemeClr val="tx1"/>
                </a:solidFill>
                <a:effectLst>
                  <a:outerShdw blurRad="38100" dist="38100" dir="2700000" algn="tl">
                    <a:srgbClr val="000000">
                      <a:alpha val="43137"/>
                    </a:srgbClr>
                  </a:outerShdw>
                </a:effectLst>
              </a:rPr>
              <a:t>00</a:t>
            </a:r>
            <a:endParaRPr lang="en-US" sz="1000" b="1" dirty="0">
              <a:solidFill>
                <a:schemeClr val="tx1"/>
              </a:solidFill>
              <a:effectLst>
                <a:outerShdw blurRad="38100" dist="38100" dir="2700000" algn="tl">
                  <a:srgbClr val="000000">
                    <a:alpha val="43137"/>
                  </a:srgbClr>
                </a:outerShdw>
              </a:effectLst>
            </a:endParaRPr>
          </a:p>
        </p:txBody>
      </p:sp>
      <p:sp>
        <p:nvSpPr>
          <p:cNvPr id="87" name="Oval 86"/>
          <p:cNvSpPr/>
          <p:nvPr/>
        </p:nvSpPr>
        <p:spPr>
          <a:xfrm>
            <a:off x="6516879" y="5105400"/>
            <a:ext cx="417321" cy="253779"/>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9" name="Elbow Connector 88"/>
          <p:cNvCxnSpPr>
            <a:stCxn id="87" idx="4"/>
            <a:endCxn id="84" idx="1"/>
          </p:cNvCxnSpPr>
          <p:nvPr/>
        </p:nvCxnSpPr>
        <p:spPr>
          <a:xfrm rot="5400000" flipH="1">
            <a:off x="3608223" y="2241862"/>
            <a:ext cx="532238" cy="5702397"/>
          </a:xfrm>
          <a:prstGeom prst="bentConnector3">
            <a:avLst>
              <a:gd name="adj1" fmla="val -79647"/>
            </a:avLst>
          </a:prstGeom>
          <a:ln>
            <a:tailEnd type="arrow"/>
          </a:ln>
        </p:spPr>
        <p:style>
          <a:lnRef idx="1">
            <a:schemeClr val="accent1"/>
          </a:lnRef>
          <a:fillRef idx="0">
            <a:schemeClr val="accent1"/>
          </a:fillRef>
          <a:effectRef idx="0">
            <a:schemeClr val="accent1"/>
          </a:effectRef>
          <a:fontRef idx="minor">
            <a:schemeClr val="tx1"/>
          </a:fontRef>
        </p:style>
      </p:cxnSp>
      <p:sp>
        <p:nvSpPr>
          <p:cNvPr id="91" name="Oval 90"/>
          <p:cNvSpPr/>
          <p:nvPr/>
        </p:nvSpPr>
        <p:spPr>
          <a:xfrm>
            <a:off x="1524000" y="4593143"/>
            <a:ext cx="304800" cy="213090"/>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p:cNvSpPr txBox="1"/>
          <p:nvPr/>
        </p:nvSpPr>
        <p:spPr>
          <a:xfrm>
            <a:off x="1077406" y="5867400"/>
            <a:ext cx="5754067" cy="830997"/>
          </a:xfrm>
          <a:prstGeom prst="rect">
            <a:avLst/>
          </a:prstGeom>
          <a:noFill/>
          <a:ln>
            <a:solidFill>
              <a:srgbClr val="C00000"/>
            </a:solidFill>
          </a:ln>
        </p:spPr>
        <p:txBody>
          <a:bodyPr wrap="square" rtlCol="0">
            <a:spAutoFit/>
          </a:bodyPr>
          <a:lstStyle/>
          <a:p>
            <a:r>
              <a:rPr lang="en-US" sz="1200" dirty="0">
                <a:solidFill>
                  <a:schemeClr val="tx2"/>
                </a:solidFill>
                <a:effectLst>
                  <a:outerShdw blurRad="38100" dist="38100" dir="2700000" algn="tl">
                    <a:srgbClr val="000000">
                      <a:alpha val="43137"/>
                    </a:srgbClr>
                  </a:outerShdw>
                </a:effectLst>
              </a:rPr>
              <a:t>FP9.0</a:t>
            </a:r>
            <a:r>
              <a:rPr lang="en-US" sz="1200" dirty="0" smtClean="0">
                <a:solidFill>
                  <a:schemeClr val="tx2"/>
                </a:solidFill>
                <a:effectLst>
                  <a:outerShdw blurRad="38100" dist="38100" dir="2700000" algn="tl">
                    <a:srgbClr val="000000">
                      <a:alpha val="43137"/>
                    </a:srgbClr>
                  </a:outerShdw>
                </a:effectLst>
              </a:rPr>
              <a:t>: </a:t>
            </a:r>
            <a:r>
              <a:rPr lang="en-US" sz="1200" dirty="0" err="1" smtClean="0">
                <a:solidFill>
                  <a:schemeClr val="tx2"/>
                </a:solidFill>
                <a:effectLst>
                  <a:outerShdw blurRad="38100" dist="38100" dir="2700000" algn="tl">
                    <a:srgbClr val="000000">
                      <a:alpha val="43137"/>
                    </a:srgbClr>
                  </a:outerShdw>
                </a:effectLst>
              </a:rPr>
              <a:t>vlan</a:t>
            </a:r>
            <a:r>
              <a:rPr lang="en-US" sz="1200" dirty="0" smtClean="0">
                <a:solidFill>
                  <a:schemeClr val="tx2"/>
                </a:solidFill>
                <a:effectLst>
                  <a:outerShdw blurRad="38100" dist="38100" dir="2700000" algn="tl">
                    <a:srgbClr val="000000">
                      <a:alpha val="43137"/>
                    </a:srgbClr>
                  </a:outerShdw>
                </a:effectLst>
              </a:rPr>
              <a:t>-connection</a:t>
            </a:r>
            <a:r>
              <a:rPr lang="en-US" sz="1200" dirty="0">
                <a:solidFill>
                  <a:schemeClr val="tx2"/>
                </a:solidFill>
                <a:effectLst>
                  <a:outerShdw blurRad="38100" dist="38100" dir="2700000" algn="tl">
                    <a:srgbClr val="000000">
                      <a:alpha val="43137"/>
                    </a:srgbClr>
                  </a:outerShdw>
                </a:effectLst>
              </a:rPr>
              <a:t>:</a:t>
            </a:r>
          </a:p>
          <a:p>
            <a:r>
              <a:rPr lang="en-US" sz="1200" dirty="0">
                <a:solidFill>
                  <a:srgbClr val="C00000"/>
                </a:solidFill>
                <a:effectLst>
                  <a:outerShdw blurRad="38100" dist="38100" dir="2700000" algn="tl">
                    <a:srgbClr val="000000">
                      <a:alpha val="43137"/>
                    </a:srgbClr>
                  </a:outerShdw>
                </a:effectLst>
              </a:rPr>
              <a:t>For VLAN cross-connection between MPLS-TP PW interface and external </a:t>
            </a:r>
            <a:r>
              <a:rPr lang="en-US" sz="1200" dirty="0" err="1">
                <a:solidFill>
                  <a:srgbClr val="C00000"/>
                </a:solidFill>
                <a:effectLst>
                  <a:outerShdw blurRad="38100" dist="38100" dir="2700000" algn="tl">
                    <a:srgbClr val="000000">
                      <a:alpha val="43137"/>
                    </a:srgbClr>
                  </a:outerShdw>
                </a:effectLst>
              </a:rPr>
              <a:t>ethernet</a:t>
            </a:r>
            <a:r>
              <a:rPr lang="en-US" sz="1200" dirty="0">
                <a:solidFill>
                  <a:srgbClr val="C00000"/>
                </a:solidFill>
                <a:effectLst>
                  <a:outerShdw blurRad="38100" dist="38100" dir="2700000" algn="tl">
                    <a:srgbClr val="000000">
                      <a:alpha val="43137"/>
                    </a:srgbClr>
                  </a:outerShdw>
                </a:effectLst>
              </a:rPr>
              <a:t> port, </a:t>
            </a:r>
          </a:p>
          <a:p>
            <a:r>
              <a:rPr lang="en-US" sz="1200" dirty="0">
                <a:solidFill>
                  <a:srgbClr val="C00000"/>
                </a:solidFill>
                <a:effectLst>
                  <a:outerShdw blurRad="38100" dist="38100" dir="2700000" algn="tl">
                    <a:srgbClr val="000000">
                      <a:alpha val="43137"/>
                    </a:srgbClr>
                  </a:outerShdw>
                </a:effectLst>
              </a:rPr>
              <a:t>the VID translation is only for direction from external port to PW interface in FP9.0.</a:t>
            </a:r>
          </a:p>
          <a:p>
            <a:r>
              <a:rPr lang="en-US" sz="1200" dirty="0">
                <a:solidFill>
                  <a:schemeClr val="tx2"/>
                </a:solidFill>
                <a:effectLst>
                  <a:outerShdw blurRad="38100" dist="38100" dir="2700000" algn="tl">
                    <a:srgbClr val="000000">
                      <a:alpha val="43137"/>
                    </a:srgbClr>
                  </a:outerShdw>
                </a:effectLst>
              </a:rPr>
              <a:t>@ page 367, Tellabs 7100® : Feature Package 9.0</a:t>
            </a:r>
          </a:p>
        </p:txBody>
      </p:sp>
    </p:spTree>
    <p:extLst>
      <p:ext uri="{BB962C8B-B14F-4D97-AF65-F5344CB8AC3E}">
        <p14:creationId xmlns:p14="http://schemas.microsoft.com/office/powerpoint/2010/main" val="119887943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extBox 56"/>
          <p:cNvSpPr txBox="1"/>
          <p:nvPr/>
        </p:nvSpPr>
        <p:spPr>
          <a:xfrm>
            <a:off x="736569" y="584732"/>
            <a:ext cx="4447115" cy="369332"/>
          </a:xfrm>
          <a:prstGeom prst="rect">
            <a:avLst/>
          </a:prstGeom>
          <a:noFill/>
        </p:spPr>
        <p:txBody>
          <a:bodyPr wrap="none" rtlCol="0">
            <a:spAutoFit/>
          </a:bodyPr>
          <a:lstStyle/>
          <a:p>
            <a:r>
              <a:rPr lang="en-US" dirty="0" smtClean="0"/>
              <a:t>ISSUE2</a:t>
            </a:r>
            <a:r>
              <a:rPr lang="en-US" dirty="0"/>
              <a:t>: </a:t>
            </a:r>
            <a:r>
              <a:rPr lang="en-US" dirty="0" smtClean="0"/>
              <a:t>Displayed the MACT  Port name error</a:t>
            </a:r>
            <a:endParaRPr lang="en-US" dirty="0"/>
          </a:p>
        </p:txBody>
      </p:sp>
      <p:grpSp>
        <p:nvGrpSpPr>
          <p:cNvPr id="60" name="Group 59"/>
          <p:cNvGrpSpPr/>
          <p:nvPr/>
        </p:nvGrpSpPr>
        <p:grpSpPr>
          <a:xfrm>
            <a:off x="609600" y="2121253"/>
            <a:ext cx="4082407" cy="2595000"/>
            <a:chOff x="1878283" y="1359763"/>
            <a:chExt cx="4951097" cy="2595000"/>
          </a:xfrm>
        </p:grpSpPr>
        <p:sp>
          <p:nvSpPr>
            <p:cNvPr id="4" name="TextBox 3"/>
            <p:cNvSpPr txBox="1"/>
            <p:nvPr/>
          </p:nvSpPr>
          <p:spPr>
            <a:xfrm>
              <a:off x="2264942" y="2712629"/>
              <a:ext cx="184731" cy="369332"/>
            </a:xfrm>
            <a:prstGeom prst="rect">
              <a:avLst/>
            </a:prstGeom>
            <a:noFill/>
          </p:spPr>
          <p:txBody>
            <a:bodyPr wrap="none" rtlCol="0">
              <a:spAutoFit/>
            </a:bodyPr>
            <a:lstStyle/>
            <a:p>
              <a:endParaRPr lang="en-US" dirty="0"/>
            </a:p>
          </p:txBody>
        </p:sp>
        <p:sp>
          <p:nvSpPr>
            <p:cNvPr id="5" name="Rectangle 4"/>
            <p:cNvSpPr/>
            <p:nvPr/>
          </p:nvSpPr>
          <p:spPr>
            <a:xfrm>
              <a:off x="2264942" y="2472361"/>
              <a:ext cx="2323951" cy="93818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p>
          </p:txBody>
        </p:sp>
        <p:sp>
          <p:nvSpPr>
            <p:cNvPr id="6" name="Rectangle 5"/>
            <p:cNvSpPr/>
            <p:nvPr/>
          </p:nvSpPr>
          <p:spPr>
            <a:xfrm>
              <a:off x="4931942" y="2506963"/>
              <a:ext cx="1676400" cy="82673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smtClean="0"/>
                <a:t>PW VXC Eth Port </a:t>
              </a:r>
              <a:endParaRPr lang="en-US" sz="1000" dirty="0"/>
            </a:p>
          </p:txBody>
        </p:sp>
        <p:sp>
          <p:nvSpPr>
            <p:cNvPr id="7" name="Oval 6"/>
            <p:cNvSpPr/>
            <p:nvPr/>
          </p:nvSpPr>
          <p:spPr>
            <a:xfrm>
              <a:off x="4851120" y="2941817"/>
              <a:ext cx="195122" cy="16688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6498851" y="2941817"/>
              <a:ext cx="228600" cy="2113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10" name="Oval 9"/>
            <p:cNvSpPr/>
            <p:nvPr/>
          </p:nvSpPr>
          <p:spPr>
            <a:xfrm>
              <a:off x="4471401" y="2958103"/>
              <a:ext cx="154088" cy="16438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4738304" y="2725028"/>
              <a:ext cx="479618" cy="276999"/>
            </a:xfrm>
            <a:prstGeom prst="rect">
              <a:avLst/>
            </a:prstGeom>
            <a:noFill/>
          </p:spPr>
          <p:txBody>
            <a:bodyPr wrap="none" rtlCol="0">
              <a:spAutoFit/>
            </a:bodyPr>
            <a:lstStyle/>
            <a:p>
              <a:r>
                <a:rPr lang="en-US" sz="1200" dirty="0" smtClean="0"/>
                <a:t>14/1</a:t>
              </a:r>
              <a:endParaRPr lang="en-US" sz="1200" dirty="0"/>
            </a:p>
          </p:txBody>
        </p:sp>
        <p:sp>
          <p:nvSpPr>
            <p:cNvPr id="14" name="TextBox 13"/>
            <p:cNvSpPr txBox="1"/>
            <p:nvPr/>
          </p:nvSpPr>
          <p:spPr>
            <a:xfrm>
              <a:off x="6428308" y="2729153"/>
              <a:ext cx="401072" cy="276999"/>
            </a:xfrm>
            <a:prstGeom prst="rect">
              <a:avLst/>
            </a:prstGeom>
            <a:noFill/>
          </p:spPr>
          <p:txBody>
            <a:bodyPr wrap="none" rtlCol="0">
              <a:spAutoFit/>
            </a:bodyPr>
            <a:lstStyle/>
            <a:p>
              <a:r>
                <a:rPr lang="en-US" sz="1200" dirty="0" smtClean="0"/>
                <a:t>6/1</a:t>
              </a:r>
              <a:endParaRPr lang="en-US" sz="1200" dirty="0"/>
            </a:p>
          </p:txBody>
        </p:sp>
        <p:sp>
          <p:nvSpPr>
            <p:cNvPr id="16" name="TextBox 15"/>
            <p:cNvSpPr txBox="1"/>
            <p:nvPr/>
          </p:nvSpPr>
          <p:spPr>
            <a:xfrm>
              <a:off x="4080790" y="2729153"/>
              <a:ext cx="479618" cy="276999"/>
            </a:xfrm>
            <a:prstGeom prst="rect">
              <a:avLst/>
            </a:prstGeom>
            <a:noFill/>
          </p:spPr>
          <p:txBody>
            <a:bodyPr wrap="none" rtlCol="0">
              <a:spAutoFit/>
            </a:bodyPr>
            <a:lstStyle/>
            <a:p>
              <a:r>
                <a:rPr lang="en-US" sz="1200" dirty="0" smtClean="0"/>
                <a:t>14/2</a:t>
              </a:r>
              <a:endParaRPr lang="en-US" sz="1200" dirty="0"/>
            </a:p>
          </p:txBody>
        </p:sp>
        <p:sp>
          <p:nvSpPr>
            <p:cNvPr id="17" name="Oval 16"/>
            <p:cNvSpPr/>
            <p:nvPr/>
          </p:nvSpPr>
          <p:spPr>
            <a:xfrm>
              <a:off x="2153403" y="3000819"/>
              <a:ext cx="203904" cy="16688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smtClean="0"/>
            </a:p>
            <a:p>
              <a:pPr algn="ctr"/>
              <a:endParaRPr lang="en-US" sz="800" dirty="0" smtClean="0"/>
            </a:p>
            <a:p>
              <a:pPr algn="ctr"/>
              <a:endParaRPr lang="en-US" sz="800" dirty="0"/>
            </a:p>
          </p:txBody>
        </p:sp>
        <p:sp>
          <p:nvSpPr>
            <p:cNvPr id="18" name="TextBox 17"/>
            <p:cNvSpPr txBox="1"/>
            <p:nvPr/>
          </p:nvSpPr>
          <p:spPr>
            <a:xfrm>
              <a:off x="1956235" y="2675183"/>
              <a:ext cx="401072" cy="276999"/>
            </a:xfrm>
            <a:prstGeom prst="rect">
              <a:avLst/>
            </a:prstGeom>
            <a:noFill/>
          </p:spPr>
          <p:txBody>
            <a:bodyPr wrap="none" rtlCol="0">
              <a:spAutoFit/>
            </a:bodyPr>
            <a:lstStyle/>
            <a:p>
              <a:r>
                <a:rPr lang="en-US" sz="1200" dirty="0" smtClean="0"/>
                <a:t>6/2</a:t>
              </a:r>
              <a:endParaRPr lang="en-US" sz="1200" dirty="0"/>
            </a:p>
          </p:txBody>
        </p:sp>
        <p:cxnSp>
          <p:nvCxnSpPr>
            <p:cNvPr id="19" name="Straight Arrow Connector 18"/>
            <p:cNvCxnSpPr>
              <a:stCxn id="9" idx="2"/>
            </p:cNvCxnSpPr>
            <p:nvPr/>
          </p:nvCxnSpPr>
          <p:spPr>
            <a:xfrm flipH="1" flipV="1">
              <a:off x="5043837" y="3033121"/>
              <a:ext cx="1455014" cy="14346"/>
            </a:xfrm>
            <a:prstGeom prst="straightConnector1">
              <a:avLst/>
            </a:prstGeom>
            <a:ln w="19050">
              <a:headEnd type="none" w="lg" len="lg"/>
              <a:tailEnd type="stealth" w="lg" len="lg"/>
            </a:ln>
          </p:spPr>
          <p:style>
            <a:lnRef idx="1">
              <a:schemeClr val="accent6"/>
            </a:lnRef>
            <a:fillRef idx="0">
              <a:schemeClr val="accent6"/>
            </a:fillRef>
            <a:effectRef idx="0">
              <a:schemeClr val="accent6"/>
            </a:effectRef>
            <a:fontRef idx="minor">
              <a:schemeClr val="tx1"/>
            </a:fontRef>
          </p:style>
        </p:cxnSp>
        <p:cxnSp>
          <p:nvCxnSpPr>
            <p:cNvPr id="23" name="Straight Arrow Connector 22"/>
            <p:cNvCxnSpPr>
              <a:stCxn id="10" idx="2"/>
              <a:endCxn id="137" idx="3"/>
            </p:cNvCxnSpPr>
            <p:nvPr/>
          </p:nvCxnSpPr>
          <p:spPr>
            <a:xfrm flipH="1">
              <a:off x="3426917" y="3040294"/>
              <a:ext cx="1044484" cy="24643"/>
            </a:xfrm>
            <a:prstGeom prst="straightConnector1">
              <a:avLst/>
            </a:prstGeom>
            <a:ln w="28575">
              <a:headEnd type="none" w="lg" len="lg"/>
              <a:tailEnd type="stealth" w="lg" len="lg"/>
            </a:ln>
          </p:spPr>
          <p:style>
            <a:lnRef idx="1">
              <a:schemeClr val="accent6"/>
            </a:lnRef>
            <a:fillRef idx="0">
              <a:schemeClr val="accent6"/>
            </a:fillRef>
            <a:effectRef idx="0">
              <a:schemeClr val="accent6"/>
            </a:effectRef>
            <a:fontRef idx="minor">
              <a:schemeClr val="tx1"/>
            </a:fontRef>
          </p:style>
        </p:cxnSp>
        <p:cxnSp>
          <p:nvCxnSpPr>
            <p:cNvPr id="25" name="Straight Arrow Connector 24"/>
            <p:cNvCxnSpPr>
              <a:stCxn id="10" idx="6"/>
              <a:endCxn id="7" idx="2"/>
            </p:cNvCxnSpPr>
            <p:nvPr/>
          </p:nvCxnSpPr>
          <p:spPr>
            <a:xfrm flipV="1">
              <a:off x="4625489" y="3025259"/>
              <a:ext cx="225631" cy="15035"/>
            </a:xfrm>
            <a:prstGeom prst="straightConnector1">
              <a:avLst/>
            </a:prstGeom>
            <a:ln w="28575">
              <a:headEnd type="stealth" w="lg" len="lg"/>
              <a:tailEnd type="none" w="lg" len="lg"/>
            </a:ln>
          </p:spPr>
          <p:style>
            <a:lnRef idx="1">
              <a:schemeClr val="accent6"/>
            </a:lnRef>
            <a:fillRef idx="0">
              <a:schemeClr val="accent6"/>
            </a:fillRef>
            <a:effectRef idx="0">
              <a:schemeClr val="accent6"/>
            </a:effectRef>
            <a:fontRef idx="minor">
              <a:schemeClr val="tx1"/>
            </a:fontRef>
          </p:style>
        </p:cxnSp>
        <p:sp>
          <p:nvSpPr>
            <p:cNvPr id="27" name="Rectangle 26"/>
            <p:cNvSpPr/>
            <p:nvPr/>
          </p:nvSpPr>
          <p:spPr>
            <a:xfrm>
              <a:off x="2357307" y="1359763"/>
              <a:ext cx="1676400" cy="76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Test Center</a:t>
              </a:r>
              <a:endParaRPr lang="en-US" dirty="0"/>
            </a:p>
          </p:txBody>
        </p:sp>
        <p:sp>
          <p:nvSpPr>
            <p:cNvPr id="28" name="Oval 27"/>
            <p:cNvSpPr/>
            <p:nvPr/>
          </p:nvSpPr>
          <p:spPr>
            <a:xfrm>
              <a:off x="3919406" y="1604496"/>
              <a:ext cx="228600" cy="27253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a:off x="2264942" y="1616333"/>
              <a:ext cx="228600" cy="27253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Elbow Connector 29"/>
            <p:cNvCxnSpPr>
              <a:stCxn id="28" idx="6"/>
              <a:endCxn id="9" idx="6"/>
            </p:cNvCxnSpPr>
            <p:nvPr/>
          </p:nvCxnSpPr>
          <p:spPr>
            <a:xfrm>
              <a:off x="4148006" y="1740763"/>
              <a:ext cx="2579445" cy="1306704"/>
            </a:xfrm>
            <a:prstGeom prst="bentConnector3">
              <a:avLst>
                <a:gd name="adj1" fmla="val 110748"/>
              </a:avLst>
            </a:prstGeom>
            <a:ln w="28575">
              <a:headEnd type="none"/>
              <a:tailEnd type="stealth"/>
            </a:ln>
          </p:spPr>
          <p:style>
            <a:lnRef idx="1">
              <a:schemeClr val="accent6"/>
            </a:lnRef>
            <a:fillRef idx="0">
              <a:schemeClr val="accent6"/>
            </a:fillRef>
            <a:effectRef idx="0">
              <a:schemeClr val="accent6"/>
            </a:effectRef>
            <a:fontRef idx="minor">
              <a:schemeClr val="tx1"/>
            </a:fontRef>
          </p:style>
        </p:cxnSp>
        <p:cxnSp>
          <p:nvCxnSpPr>
            <p:cNvPr id="31" name="Elbow Connector 30"/>
            <p:cNvCxnSpPr>
              <a:stCxn id="29" idx="2"/>
              <a:endCxn id="17" idx="2"/>
            </p:cNvCxnSpPr>
            <p:nvPr/>
          </p:nvCxnSpPr>
          <p:spPr>
            <a:xfrm rot="10800000" flipV="1">
              <a:off x="2153404" y="1752599"/>
              <a:ext cx="111539" cy="1331661"/>
            </a:xfrm>
            <a:prstGeom prst="bentConnector3">
              <a:avLst>
                <a:gd name="adj1" fmla="val 348562"/>
              </a:avLst>
            </a:prstGeom>
            <a:ln>
              <a:headEnd type="stealth"/>
              <a:tailEnd type="none"/>
            </a:ln>
          </p:spPr>
          <p:style>
            <a:lnRef idx="2">
              <a:schemeClr val="accent3"/>
            </a:lnRef>
            <a:fillRef idx="0">
              <a:schemeClr val="accent3"/>
            </a:fillRef>
            <a:effectRef idx="1">
              <a:schemeClr val="accent3"/>
            </a:effectRef>
            <a:fontRef idx="minor">
              <a:schemeClr val="tx1"/>
            </a:fontRef>
          </p:style>
        </p:cxnSp>
        <p:sp>
          <p:nvSpPr>
            <p:cNvPr id="32" name="TextBox 31"/>
            <p:cNvSpPr txBox="1"/>
            <p:nvPr/>
          </p:nvSpPr>
          <p:spPr>
            <a:xfrm>
              <a:off x="4064817" y="1752600"/>
              <a:ext cx="401072" cy="276999"/>
            </a:xfrm>
            <a:prstGeom prst="rect">
              <a:avLst/>
            </a:prstGeom>
            <a:noFill/>
          </p:spPr>
          <p:txBody>
            <a:bodyPr wrap="none" rtlCol="0">
              <a:spAutoFit/>
            </a:bodyPr>
            <a:lstStyle/>
            <a:p>
              <a:r>
                <a:rPr lang="en-US" sz="1200" dirty="0" smtClean="0"/>
                <a:t>8/1</a:t>
              </a:r>
              <a:endParaRPr lang="en-US" sz="1200" dirty="0"/>
            </a:p>
          </p:txBody>
        </p:sp>
        <p:sp>
          <p:nvSpPr>
            <p:cNvPr id="33" name="TextBox 32"/>
            <p:cNvSpPr txBox="1"/>
            <p:nvPr/>
          </p:nvSpPr>
          <p:spPr>
            <a:xfrm>
              <a:off x="1878283" y="1780911"/>
              <a:ext cx="401072" cy="276999"/>
            </a:xfrm>
            <a:prstGeom prst="rect">
              <a:avLst/>
            </a:prstGeom>
            <a:noFill/>
          </p:spPr>
          <p:txBody>
            <a:bodyPr wrap="none" rtlCol="0">
              <a:spAutoFit/>
            </a:bodyPr>
            <a:lstStyle/>
            <a:p>
              <a:r>
                <a:rPr lang="en-US" sz="1200" dirty="0" smtClean="0"/>
                <a:t>8/2</a:t>
              </a:r>
              <a:endParaRPr lang="en-US" sz="1200" dirty="0"/>
            </a:p>
          </p:txBody>
        </p:sp>
        <p:sp>
          <p:nvSpPr>
            <p:cNvPr id="42" name="TextBox 41"/>
            <p:cNvSpPr txBox="1"/>
            <p:nvPr/>
          </p:nvSpPr>
          <p:spPr>
            <a:xfrm>
              <a:off x="5389142" y="2495697"/>
              <a:ext cx="912429" cy="369332"/>
            </a:xfrm>
            <a:prstGeom prst="rect">
              <a:avLst/>
            </a:prstGeom>
            <a:noFill/>
          </p:spPr>
          <p:txBody>
            <a:bodyPr wrap="none" rtlCol="0">
              <a:spAutoFit/>
            </a:bodyPr>
            <a:lstStyle/>
            <a:p>
              <a:r>
                <a:rPr lang="en-US" dirty="0" smtClean="0">
                  <a:solidFill>
                    <a:schemeClr val="bg1"/>
                  </a:solidFill>
                </a:rPr>
                <a:t>NE: 101</a:t>
              </a:r>
              <a:endParaRPr lang="en-US" dirty="0">
                <a:solidFill>
                  <a:schemeClr val="bg1"/>
                </a:solidFill>
              </a:endParaRPr>
            </a:p>
          </p:txBody>
        </p:sp>
        <p:sp>
          <p:nvSpPr>
            <p:cNvPr id="43" name="TextBox 42"/>
            <p:cNvSpPr txBox="1"/>
            <p:nvPr/>
          </p:nvSpPr>
          <p:spPr>
            <a:xfrm>
              <a:off x="2894077" y="2472361"/>
              <a:ext cx="1170740" cy="369332"/>
            </a:xfrm>
            <a:prstGeom prst="rect">
              <a:avLst/>
            </a:prstGeom>
            <a:noFill/>
          </p:spPr>
          <p:txBody>
            <a:bodyPr wrap="none" rtlCol="0">
              <a:spAutoFit/>
            </a:bodyPr>
            <a:lstStyle/>
            <a:p>
              <a:r>
                <a:rPr lang="en-US" dirty="0" smtClean="0">
                  <a:solidFill>
                    <a:schemeClr val="bg1"/>
                  </a:solidFill>
                </a:rPr>
                <a:t>NE : 101</a:t>
              </a:r>
              <a:endParaRPr lang="en-US" dirty="0">
                <a:solidFill>
                  <a:schemeClr val="bg1"/>
                </a:solidFill>
              </a:endParaRPr>
            </a:p>
          </p:txBody>
        </p:sp>
        <p:sp>
          <p:nvSpPr>
            <p:cNvPr id="44" name="Rectangle 43"/>
            <p:cNvSpPr/>
            <p:nvPr/>
          </p:nvSpPr>
          <p:spPr>
            <a:xfrm>
              <a:off x="3598443" y="3497563"/>
              <a:ext cx="1790699"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MAC </a:t>
              </a:r>
              <a:r>
                <a:rPr lang="en-US" sz="1400" dirty="0"/>
                <a:t>over </a:t>
              </a:r>
              <a:r>
                <a:rPr lang="en-US" sz="1400" dirty="0" smtClean="0"/>
                <a:t>flexible oduF-1</a:t>
              </a:r>
              <a:endParaRPr lang="en-US" sz="1400" dirty="0"/>
            </a:p>
          </p:txBody>
        </p:sp>
        <p:cxnSp>
          <p:nvCxnSpPr>
            <p:cNvPr id="15" name="Straight Arrow Connector 14"/>
            <p:cNvCxnSpPr>
              <a:stCxn id="44" idx="0"/>
              <a:endCxn id="10" idx="4"/>
            </p:cNvCxnSpPr>
            <p:nvPr/>
          </p:nvCxnSpPr>
          <p:spPr>
            <a:xfrm flipV="1">
              <a:off x="4493793" y="3122484"/>
              <a:ext cx="54653" cy="37507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44" idx="0"/>
              <a:endCxn id="7" idx="3"/>
            </p:cNvCxnSpPr>
            <p:nvPr/>
          </p:nvCxnSpPr>
          <p:spPr>
            <a:xfrm flipV="1">
              <a:off x="4493793" y="3084261"/>
              <a:ext cx="385902" cy="41330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graphicFrame>
        <p:nvGraphicFramePr>
          <p:cNvPr id="61" name="Table 60"/>
          <p:cNvGraphicFramePr>
            <a:graphicFrameLocks noGrp="1"/>
          </p:cNvGraphicFramePr>
          <p:nvPr>
            <p:extLst>
              <p:ext uri="{D42A27DB-BD31-4B8C-83A1-F6EECF244321}">
                <p14:modId xmlns:p14="http://schemas.microsoft.com/office/powerpoint/2010/main" val="1715096313"/>
              </p:ext>
            </p:extLst>
          </p:nvPr>
        </p:nvGraphicFramePr>
        <p:xfrm>
          <a:off x="2286000" y="2122007"/>
          <a:ext cx="2764406" cy="259080"/>
        </p:xfrm>
        <a:graphic>
          <a:graphicData uri="http://schemas.openxmlformats.org/drawingml/2006/table">
            <a:tbl>
              <a:tblPr firstRow="1" bandRow="1">
                <a:tableStyleId>{7DF18680-E054-41AD-8BC1-D1AEF772440D}</a:tableStyleId>
              </a:tblPr>
              <a:tblGrid>
                <a:gridCol w="464060"/>
                <a:gridCol w="416301"/>
                <a:gridCol w="428192"/>
                <a:gridCol w="599469"/>
                <a:gridCol w="428192"/>
                <a:gridCol w="428192"/>
              </a:tblGrid>
              <a:tr h="259080">
                <a:tc>
                  <a:txBody>
                    <a:bodyPr/>
                    <a:lstStyle/>
                    <a:p>
                      <a:r>
                        <a:rPr lang="en-US" sz="1000" b="0" dirty="0" smtClean="0"/>
                        <a:t>Send</a:t>
                      </a:r>
                    </a:p>
                  </a:txBody>
                  <a:tcPr/>
                </a:tc>
                <a:tc>
                  <a:txBody>
                    <a:bodyPr/>
                    <a:lstStyle/>
                    <a:p>
                      <a:r>
                        <a:rPr lang="en-US" sz="1000" b="0" dirty="0" smtClean="0"/>
                        <a:t>DA</a:t>
                      </a:r>
                      <a:endParaRPr lang="en-US" sz="1000" b="0" dirty="0"/>
                    </a:p>
                  </a:txBody>
                  <a:tcPr/>
                </a:tc>
                <a:tc>
                  <a:txBody>
                    <a:bodyPr/>
                    <a:lstStyle/>
                    <a:p>
                      <a:r>
                        <a:rPr lang="en-US" sz="1000" b="0" dirty="0" smtClean="0"/>
                        <a:t>SA</a:t>
                      </a:r>
                      <a:endParaRPr lang="en-US" sz="1000" b="0" dirty="0"/>
                    </a:p>
                  </a:txBody>
                  <a:tcPr/>
                </a:tc>
                <a:tc>
                  <a:txBody>
                    <a:bodyPr/>
                    <a:lstStyle/>
                    <a:p>
                      <a:r>
                        <a:rPr lang="en-US" sz="1000" b="0" dirty="0" smtClean="0"/>
                        <a:t>0x88a8</a:t>
                      </a:r>
                      <a:endParaRPr lang="en-US" sz="1000" b="0" dirty="0"/>
                    </a:p>
                  </a:txBody>
                  <a:tcPr/>
                </a:tc>
                <a:tc>
                  <a:txBody>
                    <a:bodyPr/>
                    <a:lstStyle/>
                    <a:p>
                      <a:r>
                        <a:rPr lang="en-US" sz="1000" b="1" dirty="0" smtClean="0">
                          <a:solidFill>
                            <a:srgbClr val="FF0000"/>
                          </a:solidFill>
                          <a:effectLst>
                            <a:outerShdw blurRad="38100" dist="38100" dir="2700000" algn="tl">
                              <a:srgbClr val="000000">
                                <a:alpha val="43137"/>
                              </a:srgbClr>
                            </a:outerShdw>
                          </a:effectLst>
                        </a:rPr>
                        <a:t>666</a:t>
                      </a:r>
                      <a:endParaRPr lang="en-US" sz="1000" b="1" dirty="0">
                        <a:solidFill>
                          <a:srgbClr val="FF0000"/>
                        </a:solidFill>
                        <a:effectLst>
                          <a:outerShdw blurRad="38100" dist="38100" dir="2700000" algn="tl">
                            <a:srgbClr val="000000">
                              <a:alpha val="43137"/>
                            </a:srgbClr>
                          </a:outerShdw>
                        </a:effectLst>
                      </a:endParaRPr>
                    </a:p>
                  </a:txBody>
                  <a:tcPr/>
                </a:tc>
                <a:tc>
                  <a:txBody>
                    <a:bodyPr/>
                    <a:lstStyle/>
                    <a:p>
                      <a:r>
                        <a:rPr lang="en-US" sz="1000" b="0" dirty="0" smtClean="0"/>
                        <a:t>IP…</a:t>
                      </a:r>
                      <a:endParaRPr lang="en-US" sz="1000" b="0" dirty="0"/>
                    </a:p>
                  </a:txBody>
                  <a:tcPr/>
                </a:tc>
              </a:tr>
            </a:tbl>
          </a:graphicData>
        </a:graphic>
      </p:graphicFrame>
      <p:sp>
        <p:nvSpPr>
          <p:cNvPr id="78" name="TextBox 77"/>
          <p:cNvSpPr txBox="1"/>
          <p:nvPr/>
        </p:nvSpPr>
        <p:spPr>
          <a:xfrm>
            <a:off x="710180" y="1282005"/>
            <a:ext cx="7175875" cy="646331"/>
          </a:xfrm>
          <a:prstGeom prst="rect">
            <a:avLst/>
          </a:prstGeom>
          <a:noFill/>
        </p:spPr>
        <p:txBody>
          <a:bodyPr wrap="none" rtlCol="0">
            <a:spAutoFit/>
          </a:bodyPr>
          <a:lstStyle/>
          <a:p>
            <a:r>
              <a:rPr lang="en-US" dirty="0" smtClean="0"/>
              <a:t>For bridge service(</a:t>
            </a:r>
            <a:r>
              <a:rPr lang="en-US" dirty="0" err="1" smtClean="0"/>
              <a:t>vlan</a:t>
            </a:r>
            <a:r>
              <a:rPr lang="en-US" dirty="0" smtClean="0"/>
              <a:t>),  when ingress port and egress port doesn’t locate </a:t>
            </a:r>
          </a:p>
          <a:p>
            <a:r>
              <a:rPr lang="en-US" dirty="0" smtClean="0"/>
              <a:t>at the same slot card.  Displayed destination port  of MACT is error.</a:t>
            </a:r>
            <a:endParaRPr lang="en-US" dirty="0"/>
          </a:p>
        </p:txBody>
      </p:sp>
      <p:sp>
        <p:nvSpPr>
          <p:cNvPr id="80" name="Rectangle 79"/>
          <p:cNvSpPr/>
          <p:nvPr/>
        </p:nvSpPr>
        <p:spPr>
          <a:xfrm>
            <a:off x="4983686" y="2602181"/>
            <a:ext cx="3655057" cy="1477328"/>
          </a:xfrm>
          <a:prstGeom prst="rect">
            <a:avLst/>
          </a:prstGeom>
          <a:ln>
            <a:solidFill>
              <a:srgbClr val="C00000"/>
            </a:solidFill>
          </a:ln>
        </p:spPr>
        <p:txBody>
          <a:bodyPr wrap="square">
            <a:spAutoFit/>
          </a:bodyPr>
          <a:lstStyle/>
          <a:p>
            <a:r>
              <a:rPr lang="en-US" sz="1000" dirty="0"/>
              <a:t>show mac-address-table : dynamic unicast</a:t>
            </a:r>
          </a:p>
          <a:p>
            <a:r>
              <a:rPr lang="en-US" sz="1000" dirty="0"/>
              <a:t>Searching Mac Table - enter "no mac[-address-table]" to quit...</a:t>
            </a:r>
          </a:p>
          <a:p>
            <a:r>
              <a:rPr lang="en-US" sz="1000" dirty="0" err="1"/>
              <a:t>VcId</a:t>
            </a:r>
            <a:r>
              <a:rPr lang="en-US" sz="1000" dirty="0"/>
              <a:t> </a:t>
            </a:r>
            <a:r>
              <a:rPr lang="en-US" sz="1000" dirty="0" err="1"/>
              <a:t>VcName</a:t>
            </a:r>
            <a:r>
              <a:rPr lang="en-US" sz="1000" dirty="0"/>
              <a:t>     </a:t>
            </a:r>
            <a:r>
              <a:rPr lang="en-US" sz="1000" dirty="0" err="1"/>
              <a:t>Vlan</a:t>
            </a:r>
            <a:r>
              <a:rPr lang="en-US" sz="1000" dirty="0"/>
              <a:t>    Mac Address        Port       Slot</a:t>
            </a:r>
          </a:p>
          <a:p>
            <a:r>
              <a:rPr lang="en-US" sz="1000" dirty="0"/>
              <a:t>-------------------------------------------------------------------</a:t>
            </a:r>
          </a:p>
          <a:p>
            <a:r>
              <a:rPr lang="en-US" sz="1000" dirty="0"/>
              <a:t>1    default    666     00:10:94:00:00:06  </a:t>
            </a:r>
            <a:r>
              <a:rPr lang="en-US" sz="1000" b="1" dirty="0">
                <a:solidFill>
                  <a:srgbClr val="FF0000"/>
                </a:solidFill>
              </a:rPr>
              <a:t>15/3</a:t>
            </a:r>
            <a:r>
              <a:rPr lang="en-US" sz="1000" dirty="0"/>
              <a:t>        6    </a:t>
            </a:r>
          </a:p>
          <a:p>
            <a:r>
              <a:rPr lang="en-US" sz="1000" dirty="0"/>
              <a:t>1    default    666     00:10:94:00:00:07  </a:t>
            </a:r>
            <a:r>
              <a:rPr lang="en-US" sz="1000" b="1" dirty="0">
                <a:solidFill>
                  <a:srgbClr val="FF0000"/>
                </a:solidFill>
              </a:rPr>
              <a:t>15/3</a:t>
            </a:r>
            <a:r>
              <a:rPr lang="en-US" sz="1000" dirty="0"/>
              <a:t>        6    </a:t>
            </a:r>
          </a:p>
          <a:p>
            <a:r>
              <a:rPr lang="en-US" sz="1000" dirty="0"/>
              <a:t>1    default    666     00:10:94:00:00:02  </a:t>
            </a:r>
            <a:r>
              <a:rPr lang="en-US" sz="1000" b="1" dirty="0">
                <a:solidFill>
                  <a:srgbClr val="FF0000"/>
                </a:solidFill>
              </a:rPr>
              <a:t>15/3</a:t>
            </a:r>
            <a:r>
              <a:rPr lang="en-US" sz="1000" dirty="0"/>
              <a:t>        6    </a:t>
            </a:r>
          </a:p>
          <a:p>
            <a:r>
              <a:rPr lang="en-US" sz="1000" dirty="0"/>
              <a:t>1    default    666     00:10:94:00:00:08 </a:t>
            </a:r>
            <a:r>
              <a:rPr lang="en-US" sz="1000" dirty="0">
                <a:solidFill>
                  <a:srgbClr val="FF0000"/>
                </a:solidFill>
              </a:rPr>
              <a:t> </a:t>
            </a:r>
            <a:r>
              <a:rPr lang="en-US" sz="1000" b="1" dirty="0">
                <a:solidFill>
                  <a:srgbClr val="FF0000"/>
                </a:solidFill>
                <a:effectLst>
                  <a:outerShdw blurRad="38100" dist="38100" dir="2700000" algn="tl">
                    <a:srgbClr val="000000">
                      <a:alpha val="43137"/>
                    </a:srgbClr>
                  </a:outerShdw>
                </a:effectLst>
              </a:rPr>
              <a:t>15/3</a:t>
            </a:r>
            <a:r>
              <a:rPr lang="en-US" sz="1000" dirty="0">
                <a:solidFill>
                  <a:srgbClr val="FF0000"/>
                </a:solidFill>
              </a:rPr>
              <a:t>        </a:t>
            </a:r>
            <a:r>
              <a:rPr lang="en-US" sz="1000" dirty="0"/>
              <a:t>6    </a:t>
            </a:r>
          </a:p>
          <a:p>
            <a:r>
              <a:rPr lang="en-US" sz="1000" dirty="0" smtClean="0"/>
              <a:t>-------------------------------------------------------------------</a:t>
            </a:r>
            <a:endParaRPr lang="en-US" sz="1000" dirty="0"/>
          </a:p>
        </p:txBody>
      </p:sp>
      <p:sp>
        <p:nvSpPr>
          <p:cNvPr id="81" name="Rectangle 80"/>
          <p:cNvSpPr/>
          <p:nvPr/>
        </p:nvSpPr>
        <p:spPr>
          <a:xfrm>
            <a:off x="4903136" y="4681477"/>
            <a:ext cx="3816158" cy="1477328"/>
          </a:xfrm>
          <a:prstGeom prst="rect">
            <a:avLst/>
          </a:prstGeom>
          <a:ln>
            <a:solidFill>
              <a:srgbClr val="C00000"/>
            </a:solidFill>
          </a:ln>
        </p:spPr>
        <p:txBody>
          <a:bodyPr wrap="square">
            <a:spAutoFit/>
          </a:bodyPr>
          <a:lstStyle/>
          <a:p>
            <a:r>
              <a:rPr lang="en-US" sz="1000" dirty="0"/>
              <a:t>show mac-address-table : dynamic unicast</a:t>
            </a:r>
          </a:p>
          <a:p>
            <a:r>
              <a:rPr lang="en-US" sz="1000" dirty="0"/>
              <a:t>Searching Mac Table - enter "no mac[-address-table]" to quit...</a:t>
            </a:r>
          </a:p>
          <a:p>
            <a:r>
              <a:rPr lang="en-US" sz="1000" dirty="0" err="1"/>
              <a:t>VcId</a:t>
            </a:r>
            <a:r>
              <a:rPr lang="en-US" sz="1000" dirty="0"/>
              <a:t> </a:t>
            </a:r>
            <a:r>
              <a:rPr lang="en-US" sz="1000" dirty="0" err="1"/>
              <a:t>VcName</a:t>
            </a:r>
            <a:r>
              <a:rPr lang="en-US" sz="1000" dirty="0"/>
              <a:t>     </a:t>
            </a:r>
            <a:r>
              <a:rPr lang="en-US" sz="1000" dirty="0" err="1"/>
              <a:t>Vlan</a:t>
            </a:r>
            <a:r>
              <a:rPr lang="en-US" sz="1000" dirty="0"/>
              <a:t>    Mac Address        Port       Slot</a:t>
            </a:r>
          </a:p>
          <a:p>
            <a:r>
              <a:rPr lang="en-US" sz="1000" dirty="0"/>
              <a:t>-------------------------------------------------------------------</a:t>
            </a:r>
          </a:p>
          <a:p>
            <a:r>
              <a:rPr lang="en-US" sz="1000" dirty="0"/>
              <a:t>1    default    666     00:10:94:00:00:06  </a:t>
            </a:r>
            <a:r>
              <a:rPr lang="en-US" sz="1000" b="1" dirty="0">
                <a:solidFill>
                  <a:schemeClr val="accent3">
                    <a:lumMod val="75000"/>
                  </a:schemeClr>
                </a:solidFill>
                <a:effectLst>
                  <a:outerShdw blurRad="38100" dist="38100" dir="2700000" algn="tl">
                    <a:srgbClr val="000000">
                      <a:alpha val="43137"/>
                    </a:srgbClr>
                  </a:outerShdw>
                </a:effectLst>
              </a:rPr>
              <a:t>FL14/1/ODU2-2/ODUF-1</a:t>
            </a:r>
            <a:r>
              <a:rPr lang="en-US" sz="1000" dirty="0"/>
              <a:t> </a:t>
            </a:r>
            <a:r>
              <a:rPr lang="en-US" sz="1000" dirty="0" smtClean="0"/>
              <a:t>        </a:t>
            </a:r>
            <a:r>
              <a:rPr lang="en-US" sz="1000" dirty="0"/>
              <a:t>6    </a:t>
            </a:r>
          </a:p>
          <a:p>
            <a:r>
              <a:rPr lang="en-US" sz="1000" dirty="0"/>
              <a:t>1    default    666     00:10:94:00:00:07  </a:t>
            </a:r>
            <a:r>
              <a:rPr lang="en-US" sz="1000" b="1" dirty="0">
                <a:solidFill>
                  <a:schemeClr val="accent3">
                    <a:lumMod val="75000"/>
                  </a:schemeClr>
                </a:solidFill>
                <a:effectLst>
                  <a:outerShdw blurRad="38100" dist="38100" dir="2700000" algn="tl">
                    <a:srgbClr val="000000">
                      <a:alpha val="43137"/>
                    </a:srgbClr>
                  </a:outerShdw>
                </a:effectLst>
              </a:rPr>
              <a:t>FL14/1/ODU2-2/ODUF-1</a:t>
            </a:r>
            <a:r>
              <a:rPr lang="en-US" sz="1000" dirty="0"/>
              <a:t> </a:t>
            </a:r>
            <a:r>
              <a:rPr lang="en-US" sz="1000" dirty="0" smtClean="0"/>
              <a:t>        </a:t>
            </a:r>
            <a:r>
              <a:rPr lang="en-US" sz="1000" dirty="0"/>
              <a:t>6    </a:t>
            </a:r>
          </a:p>
          <a:p>
            <a:r>
              <a:rPr lang="en-US" sz="1000" dirty="0"/>
              <a:t>1    default    666     00:10:94:00:00:02  </a:t>
            </a:r>
            <a:r>
              <a:rPr lang="en-US" sz="1000" b="1" dirty="0">
                <a:solidFill>
                  <a:schemeClr val="accent3">
                    <a:lumMod val="75000"/>
                  </a:schemeClr>
                </a:solidFill>
                <a:effectLst>
                  <a:outerShdw blurRad="38100" dist="38100" dir="2700000" algn="tl">
                    <a:srgbClr val="000000">
                      <a:alpha val="43137"/>
                    </a:srgbClr>
                  </a:outerShdw>
                </a:effectLst>
              </a:rPr>
              <a:t>FL14/1/ODU2-2/ODUF-1 </a:t>
            </a:r>
            <a:r>
              <a:rPr lang="en-US" sz="1000" dirty="0" smtClean="0"/>
              <a:t>        </a:t>
            </a:r>
            <a:r>
              <a:rPr lang="en-US" sz="1000" dirty="0"/>
              <a:t>6    </a:t>
            </a:r>
          </a:p>
          <a:p>
            <a:r>
              <a:rPr lang="en-US" sz="1000" dirty="0"/>
              <a:t>1    default    666     00:10:94:00:00:08 </a:t>
            </a:r>
            <a:r>
              <a:rPr lang="en-US" sz="1000" dirty="0">
                <a:solidFill>
                  <a:srgbClr val="FF0000"/>
                </a:solidFill>
              </a:rPr>
              <a:t> </a:t>
            </a:r>
            <a:r>
              <a:rPr lang="en-US" sz="1000" b="1" dirty="0">
                <a:solidFill>
                  <a:schemeClr val="accent3">
                    <a:lumMod val="75000"/>
                  </a:schemeClr>
                </a:solidFill>
                <a:effectLst>
                  <a:outerShdw blurRad="38100" dist="38100" dir="2700000" algn="tl">
                    <a:srgbClr val="000000">
                      <a:alpha val="43137"/>
                    </a:srgbClr>
                  </a:outerShdw>
                </a:effectLst>
              </a:rPr>
              <a:t>FL14/1/ODU2-2/ODUF-1</a:t>
            </a:r>
            <a:r>
              <a:rPr lang="en-US" sz="1000" dirty="0"/>
              <a:t> </a:t>
            </a:r>
            <a:r>
              <a:rPr lang="en-US" sz="1000" dirty="0" smtClean="0">
                <a:solidFill>
                  <a:srgbClr val="FF0000"/>
                </a:solidFill>
              </a:rPr>
              <a:t>        </a:t>
            </a:r>
            <a:r>
              <a:rPr lang="en-US" sz="1000" dirty="0"/>
              <a:t>6    </a:t>
            </a:r>
          </a:p>
          <a:p>
            <a:r>
              <a:rPr lang="en-US" sz="1000" dirty="0" smtClean="0"/>
              <a:t>-------------------------------------------------------------------</a:t>
            </a:r>
            <a:endParaRPr lang="en-US" sz="1000" dirty="0"/>
          </a:p>
        </p:txBody>
      </p:sp>
      <p:cxnSp>
        <p:nvCxnSpPr>
          <p:cNvPr id="82" name="Straight Arrow Connector 81"/>
          <p:cNvCxnSpPr>
            <a:stCxn id="80" idx="2"/>
            <a:endCxn id="81" idx="0"/>
          </p:cNvCxnSpPr>
          <p:nvPr/>
        </p:nvCxnSpPr>
        <p:spPr>
          <a:xfrm>
            <a:off x="6811215" y="4079509"/>
            <a:ext cx="0" cy="60196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3" name="TextBox 82"/>
          <p:cNvSpPr txBox="1"/>
          <p:nvPr/>
        </p:nvSpPr>
        <p:spPr>
          <a:xfrm>
            <a:off x="6858000" y="4279334"/>
            <a:ext cx="824265" cy="276999"/>
          </a:xfrm>
          <a:prstGeom prst="rect">
            <a:avLst/>
          </a:prstGeom>
          <a:noFill/>
        </p:spPr>
        <p:txBody>
          <a:bodyPr wrap="none" rtlCol="0">
            <a:spAutoFit/>
          </a:bodyPr>
          <a:lstStyle/>
          <a:p>
            <a:r>
              <a:rPr lang="en-US" sz="1200" b="1" dirty="0" smtClean="0">
                <a:effectLst>
                  <a:outerShdw blurRad="38100" dist="38100" dir="2700000" algn="tl">
                    <a:srgbClr val="000000">
                      <a:alpha val="43137"/>
                    </a:srgbClr>
                  </a:outerShdw>
                </a:effectLst>
              </a:rPr>
              <a:t>Should be</a:t>
            </a:r>
            <a:endParaRPr lang="en-US" sz="1200" b="1" dirty="0">
              <a:effectLst>
                <a:outerShdw blurRad="38100" dist="38100" dir="2700000" algn="tl">
                  <a:srgbClr val="000000">
                    <a:alpha val="43137"/>
                  </a:srgbClr>
                </a:outerShdw>
              </a:effectLst>
            </a:endParaRPr>
          </a:p>
        </p:txBody>
      </p:sp>
      <p:sp>
        <p:nvSpPr>
          <p:cNvPr id="84" name="TextBox 83"/>
          <p:cNvSpPr txBox="1"/>
          <p:nvPr/>
        </p:nvSpPr>
        <p:spPr>
          <a:xfrm>
            <a:off x="577085" y="4800600"/>
            <a:ext cx="3872564" cy="1754326"/>
          </a:xfrm>
          <a:prstGeom prst="rect">
            <a:avLst/>
          </a:prstGeom>
          <a:noFill/>
          <a:ln>
            <a:solidFill>
              <a:srgbClr val="C00000"/>
            </a:solidFill>
          </a:ln>
        </p:spPr>
        <p:txBody>
          <a:bodyPr wrap="square" rtlCol="0">
            <a:spAutoFit/>
          </a:bodyPr>
          <a:lstStyle/>
          <a:p>
            <a:r>
              <a:rPr lang="en-US" sz="1200" dirty="0" smtClean="0"/>
              <a:t>Root cause: no </a:t>
            </a:r>
            <a:r>
              <a:rPr lang="en-US" sz="1200" dirty="0"/>
              <a:t>distinction </a:t>
            </a:r>
            <a:r>
              <a:rPr lang="en-US" sz="1200" dirty="0" smtClean="0"/>
              <a:t>between  local port and remote port at MACT  Traverse function. </a:t>
            </a:r>
          </a:p>
          <a:p>
            <a:r>
              <a:rPr lang="en-US" sz="1200" dirty="0" smtClean="0"/>
              <a:t>--------------------------------------------------------------------------------</a:t>
            </a:r>
            <a:endParaRPr lang="en-US" sz="1200" dirty="0"/>
          </a:p>
          <a:p>
            <a:r>
              <a:rPr lang="en-US" sz="1200" dirty="0" smtClean="0"/>
              <a:t>Function:  </a:t>
            </a:r>
            <a:r>
              <a:rPr lang="en-US" sz="1200" dirty="0" err="1" smtClean="0"/>
              <a:t>HAL_PktMacTableTraverseEntriesGetCallback</a:t>
            </a:r>
            <a:r>
              <a:rPr lang="en-US" sz="1200" dirty="0" smtClean="0"/>
              <a:t>()</a:t>
            </a:r>
          </a:p>
          <a:p>
            <a:r>
              <a:rPr lang="en-US" sz="1200" dirty="0" err="1"/>
              <a:t>mact.u.hal_if.physicalPortInterface.localPort</a:t>
            </a:r>
            <a:r>
              <a:rPr lang="en-US" sz="1200" dirty="0"/>
              <a:t> = </a:t>
            </a:r>
            <a:r>
              <a:rPr lang="en-US" sz="1200" b="1" dirty="0">
                <a:solidFill>
                  <a:srgbClr val="FF0000"/>
                </a:solidFill>
              </a:rPr>
              <a:t>HAL_INTERFACE_PORT_GET(</a:t>
            </a:r>
            <a:r>
              <a:rPr lang="en-US" sz="1200" b="1" dirty="0" err="1">
                <a:solidFill>
                  <a:srgbClr val="FF0000"/>
                </a:solidFill>
              </a:rPr>
              <a:t>aradPort</a:t>
            </a:r>
            <a:r>
              <a:rPr lang="en-US" sz="1200" b="1" dirty="0" smtClean="0">
                <a:solidFill>
                  <a:srgbClr val="FF0000"/>
                </a:solidFill>
              </a:rPr>
              <a:t>);</a:t>
            </a:r>
          </a:p>
          <a:p>
            <a:endParaRPr lang="en-US" sz="1200" b="1" dirty="0" smtClean="0">
              <a:solidFill>
                <a:srgbClr val="FF0000"/>
              </a:solidFill>
            </a:endParaRPr>
          </a:p>
          <a:p>
            <a:r>
              <a:rPr lang="en-US" sz="1200" dirty="0">
                <a:solidFill>
                  <a:srgbClr val="C00000"/>
                </a:solidFill>
                <a:effectLst>
                  <a:outerShdw blurRad="38100" dist="38100" dir="2700000" algn="tl">
                    <a:srgbClr val="000000">
                      <a:alpha val="43137"/>
                    </a:srgbClr>
                  </a:outerShdw>
                </a:effectLst>
              </a:rPr>
              <a:t>This is improper  for remote port. It should use the HAL_INTERFACE_REMOTE_PORT_GET for remote port</a:t>
            </a:r>
            <a:r>
              <a:rPr lang="en-US" sz="1200" dirty="0" smtClean="0">
                <a:solidFill>
                  <a:srgbClr val="C00000"/>
                </a:solidFill>
                <a:effectLst>
                  <a:outerShdw blurRad="38100" dist="38100" dir="2700000" algn="tl">
                    <a:srgbClr val="000000">
                      <a:alpha val="43137"/>
                    </a:srgbClr>
                  </a:outerShdw>
                </a:effectLst>
              </a:rPr>
              <a:t>.</a:t>
            </a:r>
            <a:endParaRPr lang="en-US" sz="1200" dirty="0">
              <a:solidFill>
                <a:srgbClr val="C00000"/>
              </a:solidFill>
              <a:effectLst>
                <a:outerShdw blurRad="38100" dist="38100" dir="2700000" algn="tl">
                  <a:srgbClr val="000000">
                    <a:alpha val="43137"/>
                  </a:srgbClr>
                </a:outerShdw>
              </a:effectLst>
            </a:endParaRPr>
          </a:p>
        </p:txBody>
      </p:sp>
      <p:cxnSp>
        <p:nvCxnSpPr>
          <p:cNvPr id="97" name="Straight Arrow Connector 96"/>
          <p:cNvCxnSpPr>
            <a:stCxn id="84" idx="3"/>
            <a:endCxn id="81" idx="1"/>
          </p:cNvCxnSpPr>
          <p:nvPr/>
        </p:nvCxnSpPr>
        <p:spPr>
          <a:xfrm flipV="1">
            <a:off x="4449649" y="5420141"/>
            <a:ext cx="453487" cy="25762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00" name="TextBox 99"/>
          <p:cNvSpPr txBox="1"/>
          <p:nvPr/>
        </p:nvSpPr>
        <p:spPr>
          <a:xfrm rot="19863243">
            <a:off x="4376984" y="5348816"/>
            <a:ext cx="515013" cy="276999"/>
          </a:xfrm>
          <a:prstGeom prst="rect">
            <a:avLst/>
          </a:prstGeom>
          <a:noFill/>
        </p:spPr>
        <p:txBody>
          <a:bodyPr wrap="none" rtlCol="0">
            <a:spAutoFit/>
          </a:bodyPr>
          <a:lstStyle/>
          <a:p>
            <a:r>
              <a:rPr lang="en-US" sz="1200" b="1" dirty="0" smtClean="0">
                <a:effectLst>
                  <a:outerShdw blurRad="38100" dist="38100" dir="2700000" algn="tl">
                    <a:srgbClr val="000000">
                      <a:alpha val="43137"/>
                    </a:srgbClr>
                  </a:outerShdw>
                </a:effectLst>
              </a:rPr>
              <a:t>to be</a:t>
            </a:r>
            <a:endParaRPr lang="en-US" sz="1200" b="1" dirty="0">
              <a:effectLst>
                <a:outerShdw blurRad="38100" dist="38100" dir="2700000" algn="tl">
                  <a:srgbClr val="000000">
                    <a:alpha val="43137"/>
                  </a:srgbClr>
                </a:outerShdw>
              </a:effectLst>
            </a:endParaRPr>
          </a:p>
        </p:txBody>
      </p:sp>
      <p:sp>
        <p:nvSpPr>
          <p:cNvPr id="137" name="Flowchart: Multidocument 136"/>
          <p:cNvSpPr/>
          <p:nvPr/>
        </p:nvSpPr>
        <p:spPr>
          <a:xfrm>
            <a:off x="1292359" y="3524583"/>
            <a:ext cx="594161" cy="603687"/>
          </a:xfrm>
          <a:prstGeom prst="flowChartMulti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smtClean="0"/>
              <a:t>Slot 6 MACT</a:t>
            </a:r>
            <a:endParaRPr lang="en-US" sz="900" dirty="0"/>
          </a:p>
        </p:txBody>
      </p:sp>
      <p:cxnSp>
        <p:nvCxnSpPr>
          <p:cNvPr id="153" name="Straight Connector 152"/>
          <p:cNvCxnSpPr>
            <a:stCxn id="137" idx="1"/>
            <a:endCxn id="17" idx="6"/>
          </p:cNvCxnSpPr>
          <p:nvPr/>
        </p:nvCxnSpPr>
        <p:spPr>
          <a:xfrm flipH="1">
            <a:off x="1004577" y="3826427"/>
            <a:ext cx="287782" cy="193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59" name="Straight Connector 158"/>
          <p:cNvCxnSpPr>
            <a:stCxn id="137" idx="1"/>
            <a:endCxn id="17" idx="6"/>
          </p:cNvCxnSpPr>
          <p:nvPr/>
        </p:nvCxnSpPr>
        <p:spPr>
          <a:xfrm flipH="1">
            <a:off x="1004577" y="3826427"/>
            <a:ext cx="287782" cy="19324"/>
          </a:xfrm>
          <a:prstGeom prst="line">
            <a:avLst/>
          </a:prstGeom>
          <a:ln/>
        </p:spPr>
        <p:style>
          <a:lnRef idx="3">
            <a:schemeClr val="accent3"/>
          </a:lnRef>
          <a:fillRef idx="0">
            <a:schemeClr val="accent3"/>
          </a:fillRef>
          <a:effectRef idx="2">
            <a:schemeClr val="accent3"/>
          </a:effectRef>
          <a:fontRef idx="minor">
            <a:schemeClr val="tx1"/>
          </a:fontRef>
        </p:style>
      </p:cxnSp>
    </p:spTree>
    <p:extLst>
      <p:ext uri="{BB962C8B-B14F-4D97-AF65-F5344CB8AC3E}">
        <p14:creationId xmlns:p14="http://schemas.microsoft.com/office/powerpoint/2010/main" val="18718474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115591" y="2757684"/>
            <a:ext cx="184731" cy="369332"/>
          </a:xfrm>
          <a:prstGeom prst="rect">
            <a:avLst/>
          </a:prstGeom>
          <a:noFill/>
        </p:spPr>
        <p:txBody>
          <a:bodyPr wrap="none" rtlCol="0">
            <a:spAutoFit/>
          </a:bodyPr>
          <a:lstStyle/>
          <a:p>
            <a:endParaRPr lang="en-US" dirty="0"/>
          </a:p>
        </p:txBody>
      </p:sp>
      <p:sp>
        <p:nvSpPr>
          <p:cNvPr id="5" name="Rectangle 4"/>
          <p:cNvSpPr/>
          <p:nvPr/>
        </p:nvSpPr>
        <p:spPr>
          <a:xfrm>
            <a:off x="2115591" y="2517416"/>
            <a:ext cx="1676400" cy="1219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err="1" smtClean="0"/>
              <a:t>Vlan</a:t>
            </a:r>
            <a:r>
              <a:rPr lang="en-US" sz="1000" dirty="0" smtClean="0"/>
              <a:t> 30 (VSI)</a:t>
            </a:r>
            <a:endParaRPr lang="en-US" sz="1000" dirty="0"/>
          </a:p>
        </p:txBody>
      </p:sp>
      <p:sp>
        <p:nvSpPr>
          <p:cNvPr id="6" name="Rectangle 5"/>
          <p:cNvSpPr/>
          <p:nvPr/>
        </p:nvSpPr>
        <p:spPr>
          <a:xfrm>
            <a:off x="4782591" y="2552018"/>
            <a:ext cx="1676400" cy="1219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err="1" smtClean="0"/>
              <a:t>Vlan</a:t>
            </a:r>
            <a:r>
              <a:rPr lang="en-US" sz="1000" dirty="0" smtClean="0"/>
              <a:t> 30 (VSI)</a:t>
            </a:r>
            <a:endParaRPr lang="en-US" sz="1000" dirty="0"/>
          </a:p>
        </p:txBody>
      </p:sp>
      <p:sp>
        <p:nvSpPr>
          <p:cNvPr id="7" name="Oval 6"/>
          <p:cNvSpPr/>
          <p:nvPr/>
        </p:nvSpPr>
        <p:spPr>
          <a:xfrm>
            <a:off x="4668291" y="2713750"/>
            <a:ext cx="228600" cy="27253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4680128" y="3291084"/>
            <a:ext cx="228600" cy="27253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6349500" y="2925183"/>
            <a:ext cx="228600" cy="4021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t>pnp</a:t>
            </a:r>
            <a:endParaRPr lang="en-US" sz="800" dirty="0"/>
          </a:p>
        </p:txBody>
      </p:sp>
      <p:sp>
        <p:nvSpPr>
          <p:cNvPr id="10" name="Oval 9"/>
          <p:cNvSpPr/>
          <p:nvPr/>
        </p:nvSpPr>
        <p:spPr>
          <a:xfrm>
            <a:off x="3677691" y="2757684"/>
            <a:ext cx="228600" cy="27253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3677691" y="3268293"/>
            <a:ext cx="228600" cy="27253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4401720" y="2526553"/>
            <a:ext cx="479618" cy="276999"/>
          </a:xfrm>
          <a:prstGeom prst="rect">
            <a:avLst/>
          </a:prstGeom>
          <a:noFill/>
        </p:spPr>
        <p:txBody>
          <a:bodyPr wrap="none" rtlCol="0">
            <a:spAutoFit/>
          </a:bodyPr>
          <a:lstStyle/>
          <a:p>
            <a:r>
              <a:rPr lang="en-US" sz="1200" dirty="0" smtClean="0"/>
              <a:t>2/13</a:t>
            </a:r>
            <a:endParaRPr lang="en-US" sz="1200" dirty="0"/>
          </a:p>
        </p:txBody>
      </p:sp>
      <p:sp>
        <p:nvSpPr>
          <p:cNvPr id="13" name="TextBox 12"/>
          <p:cNvSpPr txBox="1"/>
          <p:nvPr/>
        </p:nvSpPr>
        <p:spPr>
          <a:xfrm>
            <a:off x="4457719" y="3489040"/>
            <a:ext cx="479618" cy="276999"/>
          </a:xfrm>
          <a:prstGeom prst="rect">
            <a:avLst/>
          </a:prstGeom>
          <a:noFill/>
        </p:spPr>
        <p:txBody>
          <a:bodyPr wrap="none" rtlCol="0">
            <a:spAutoFit/>
          </a:bodyPr>
          <a:lstStyle/>
          <a:p>
            <a:r>
              <a:rPr lang="en-US" sz="1200" dirty="0" smtClean="0"/>
              <a:t>2/14</a:t>
            </a:r>
            <a:endParaRPr lang="en-US" sz="1200" dirty="0"/>
          </a:p>
        </p:txBody>
      </p:sp>
      <p:sp>
        <p:nvSpPr>
          <p:cNvPr id="14" name="TextBox 13"/>
          <p:cNvSpPr txBox="1"/>
          <p:nvPr/>
        </p:nvSpPr>
        <p:spPr>
          <a:xfrm>
            <a:off x="6499311" y="2771001"/>
            <a:ext cx="401072" cy="276999"/>
          </a:xfrm>
          <a:prstGeom prst="rect">
            <a:avLst/>
          </a:prstGeom>
          <a:noFill/>
        </p:spPr>
        <p:txBody>
          <a:bodyPr wrap="none" rtlCol="0">
            <a:spAutoFit/>
          </a:bodyPr>
          <a:lstStyle/>
          <a:p>
            <a:r>
              <a:rPr lang="en-US" sz="1200" dirty="0" smtClean="0"/>
              <a:t>6/1</a:t>
            </a:r>
            <a:endParaRPr lang="en-US" sz="1200" dirty="0"/>
          </a:p>
        </p:txBody>
      </p:sp>
      <p:sp>
        <p:nvSpPr>
          <p:cNvPr id="15" name="TextBox 14"/>
          <p:cNvSpPr txBox="1"/>
          <p:nvPr/>
        </p:nvSpPr>
        <p:spPr>
          <a:xfrm>
            <a:off x="3771919" y="3519684"/>
            <a:ext cx="479618" cy="276999"/>
          </a:xfrm>
          <a:prstGeom prst="rect">
            <a:avLst/>
          </a:prstGeom>
          <a:noFill/>
        </p:spPr>
        <p:txBody>
          <a:bodyPr wrap="none" rtlCol="0">
            <a:spAutoFit/>
          </a:bodyPr>
          <a:lstStyle/>
          <a:p>
            <a:r>
              <a:rPr lang="en-US" sz="1200" dirty="0" smtClean="0"/>
              <a:t>6/14</a:t>
            </a:r>
            <a:endParaRPr lang="en-US" sz="1200" dirty="0"/>
          </a:p>
        </p:txBody>
      </p:sp>
      <p:sp>
        <p:nvSpPr>
          <p:cNvPr id="16" name="TextBox 15"/>
          <p:cNvSpPr txBox="1"/>
          <p:nvPr/>
        </p:nvSpPr>
        <p:spPr>
          <a:xfrm>
            <a:off x="3730266" y="2538078"/>
            <a:ext cx="479618" cy="276999"/>
          </a:xfrm>
          <a:prstGeom prst="rect">
            <a:avLst/>
          </a:prstGeom>
          <a:noFill/>
        </p:spPr>
        <p:txBody>
          <a:bodyPr wrap="none" rtlCol="0">
            <a:spAutoFit/>
          </a:bodyPr>
          <a:lstStyle/>
          <a:p>
            <a:r>
              <a:rPr lang="en-US" sz="1200" dirty="0" smtClean="0"/>
              <a:t>6/13</a:t>
            </a:r>
            <a:endParaRPr lang="en-US" sz="1200" dirty="0"/>
          </a:p>
        </p:txBody>
      </p:sp>
      <p:sp>
        <p:nvSpPr>
          <p:cNvPr id="17" name="Oval 16"/>
          <p:cNvSpPr/>
          <p:nvPr/>
        </p:nvSpPr>
        <p:spPr>
          <a:xfrm>
            <a:off x="2001291" y="2958028"/>
            <a:ext cx="228600" cy="33645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t>pnp</a:t>
            </a:r>
            <a:endParaRPr lang="en-US" sz="800" dirty="0"/>
          </a:p>
        </p:txBody>
      </p:sp>
      <p:sp>
        <p:nvSpPr>
          <p:cNvPr id="18" name="TextBox 17"/>
          <p:cNvSpPr txBox="1"/>
          <p:nvPr/>
        </p:nvSpPr>
        <p:spPr>
          <a:xfrm>
            <a:off x="1677159" y="2681030"/>
            <a:ext cx="479618" cy="276999"/>
          </a:xfrm>
          <a:prstGeom prst="rect">
            <a:avLst/>
          </a:prstGeom>
          <a:noFill/>
        </p:spPr>
        <p:txBody>
          <a:bodyPr wrap="none" rtlCol="0">
            <a:spAutoFit/>
          </a:bodyPr>
          <a:lstStyle/>
          <a:p>
            <a:r>
              <a:rPr lang="en-US" sz="1200" dirty="0" smtClean="0"/>
              <a:t>6/16</a:t>
            </a:r>
            <a:endParaRPr lang="en-US" sz="1200" dirty="0"/>
          </a:p>
        </p:txBody>
      </p:sp>
      <p:cxnSp>
        <p:nvCxnSpPr>
          <p:cNvPr id="19" name="Straight Arrow Connector 18"/>
          <p:cNvCxnSpPr>
            <a:stCxn id="9" idx="2"/>
            <a:endCxn id="7" idx="6"/>
          </p:cNvCxnSpPr>
          <p:nvPr/>
        </p:nvCxnSpPr>
        <p:spPr>
          <a:xfrm flipH="1" flipV="1">
            <a:off x="4896891" y="2850017"/>
            <a:ext cx="1452609" cy="276238"/>
          </a:xfrm>
          <a:prstGeom prst="straightConnector1">
            <a:avLst/>
          </a:prstGeom>
          <a:ln w="12700" cmpd="dbl">
            <a:headEnd type="stealth" w="lg" len="lg"/>
            <a:tailEnd type="stealth" w="lg" len="lg"/>
          </a:ln>
        </p:spPr>
        <p:style>
          <a:lnRef idx="1">
            <a:schemeClr val="accent5"/>
          </a:lnRef>
          <a:fillRef idx="0">
            <a:schemeClr val="accent5"/>
          </a:fillRef>
          <a:effectRef idx="0">
            <a:schemeClr val="accent5"/>
          </a:effectRef>
          <a:fontRef idx="minor">
            <a:schemeClr val="tx1"/>
          </a:fontRef>
        </p:style>
      </p:cxnSp>
      <p:cxnSp>
        <p:nvCxnSpPr>
          <p:cNvPr id="20" name="Straight Arrow Connector 19"/>
          <p:cNvCxnSpPr>
            <a:endCxn id="8" idx="6"/>
          </p:cNvCxnSpPr>
          <p:nvPr/>
        </p:nvCxnSpPr>
        <p:spPr>
          <a:xfrm flipH="1">
            <a:off x="4908728" y="3161618"/>
            <a:ext cx="1435963" cy="265733"/>
          </a:xfrm>
          <a:prstGeom prst="straightConnector1">
            <a:avLst/>
          </a:prstGeom>
          <a:ln w="12700" cmpd="dbl">
            <a:solidFill>
              <a:srgbClr val="C00000"/>
            </a:solidFill>
            <a:prstDash val="dash"/>
            <a:headEnd type="stealth" w="lg" len="lg"/>
            <a:tailEnd type="stealth" w="lg" len="lg"/>
          </a:ln>
        </p:spPr>
        <p:style>
          <a:lnRef idx="1">
            <a:schemeClr val="accent5"/>
          </a:lnRef>
          <a:fillRef idx="0">
            <a:schemeClr val="accent5"/>
          </a:fillRef>
          <a:effectRef idx="0">
            <a:schemeClr val="accent5"/>
          </a:effectRef>
          <a:fontRef idx="minor">
            <a:schemeClr val="tx1"/>
          </a:fontRef>
        </p:style>
      </p:cxnSp>
      <p:cxnSp>
        <p:nvCxnSpPr>
          <p:cNvPr id="23" name="Straight Arrow Connector 22"/>
          <p:cNvCxnSpPr>
            <a:stCxn id="10" idx="2"/>
            <a:endCxn id="17" idx="6"/>
          </p:cNvCxnSpPr>
          <p:nvPr/>
        </p:nvCxnSpPr>
        <p:spPr>
          <a:xfrm flipH="1">
            <a:off x="2229891" y="2893951"/>
            <a:ext cx="1447800" cy="232305"/>
          </a:xfrm>
          <a:prstGeom prst="straightConnector1">
            <a:avLst/>
          </a:prstGeom>
          <a:ln w="12700" cmpd="dbl">
            <a:headEnd type="stealth" w="lg" len="lg"/>
            <a:tailEnd type="stealth" w="lg" len="lg"/>
          </a:ln>
        </p:spPr>
        <p:style>
          <a:lnRef idx="1">
            <a:schemeClr val="accent5"/>
          </a:lnRef>
          <a:fillRef idx="0">
            <a:schemeClr val="accent5"/>
          </a:fillRef>
          <a:effectRef idx="0">
            <a:schemeClr val="accent5"/>
          </a:effectRef>
          <a:fontRef idx="minor">
            <a:schemeClr val="tx1"/>
          </a:fontRef>
        </p:style>
      </p:cxnSp>
      <p:cxnSp>
        <p:nvCxnSpPr>
          <p:cNvPr id="24" name="Straight Arrow Connector 23"/>
          <p:cNvCxnSpPr>
            <a:stCxn id="11" idx="2"/>
            <a:endCxn id="17" idx="6"/>
          </p:cNvCxnSpPr>
          <p:nvPr/>
        </p:nvCxnSpPr>
        <p:spPr>
          <a:xfrm flipH="1" flipV="1">
            <a:off x="2229891" y="3126256"/>
            <a:ext cx="1447800" cy="278304"/>
          </a:xfrm>
          <a:prstGeom prst="straightConnector1">
            <a:avLst/>
          </a:prstGeom>
          <a:ln w="12700" cmpd="dbl">
            <a:solidFill>
              <a:srgbClr val="C00000"/>
            </a:solidFill>
            <a:prstDash val="dash"/>
            <a:headEnd type="stealth" w="lg" len="lg"/>
            <a:tailEnd type="stealth" w="lg" len="lg"/>
          </a:ln>
        </p:spPr>
        <p:style>
          <a:lnRef idx="1">
            <a:schemeClr val="accent5"/>
          </a:lnRef>
          <a:fillRef idx="0">
            <a:schemeClr val="accent5"/>
          </a:fillRef>
          <a:effectRef idx="0">
            <a:schemeClr val="accent5"/>
          </a:effectRef>
          <a:fontRef idx="minor">
            <a:schemeClr val="tx1"/>
          </a:fontRef>
        </p:style>
      </p:cxnSp>
      <p:cxnSp>
        <p:nvCxnSpPr>
          <p:cNvPr id="25" name="Straight Arrow Connector 24"/>
          <p:cNvCxnSpPr>
            <a:stCxn id="10" idx="6"/>
            <a:endCxn id="7" idx="2"/>
          </p:cNvCxnSpPr>
          <p:nvPr/>
        </p:nvCxnSpPr>
        <p:spPr>
          <a:xfrm flipV="1">
            <a:off x="3906291" y="2850017"/>
            <a:ext cx="762000" cy="43934"/>
          </a:xfrm>
          <a:prstGeom prst="straightConnector1">
            <a:avLst/>
          </a:prstGeom>
          <a:ln w="12700">
            <a:headEnd type="stealth"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11" idx="6"/>
            <a:endCxn id="8" idx="2"/>
          </p:cNvCxnSpPr>
          <p:nvPr/>
        </p:nvCxnSpPr>
        <p:spPr>
          <a:xfrm>
            <a:off x="3906291" y="3404560"/>
            <a:ext cx="773837" cy="22791"/>
          </a:xfrm>
          <a:prstGeom prst="straightConnector1">
            <a:avLst/>
          </a:prstGeom>
          <a:ln w="12700">
            <a:headEnd type="stealth" w="lg" len="lg"/>
            <a:tailEnd type="stealth" w="lg" len="lg"/>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3560341" y="1143000"/>
            <a:ext cx="1676400" cy="76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Test Center</a:t>
            </a:r>
            <a:endParaRPr lang="en-US" dirty="0"/>
          </a:p>
        </p:txBody>
      </p:sp>
      <p:sp>
        <p:nvSpPr>
          <p:cNvPr id="28" name="Oval 27"/>
          <p:cNvSpPr/>
          <p:nvPr/>
        </p:nvSpPr>
        <p:spPr>
          <a:xfrm>
            <a:off x="5104413" y="1387733"/>
            <a:ext cx="228600" cy="27253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a:off x="3446041" y="1387733"/>
            <a:ext cx="228600" cy="27253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Elbow Connector 29"/>
          <p:cNvCxnSpPr>
            <a:stCxn id="28" idx="6"/>
            <a:endCxn id="9" idx="6"/>
          </p:cNvCxnSpPr>
          <p:nvPr/>
        </p:nvCxnSpPr>
        <p:spPr>
          <a:xfrm>
            <a:off x="5333013" y="1524000"/>
            <a:ext cx="1245087" cy="1602255"/>
          </a:xfrm>
          <a:prstGeom prst="bentConnector3">
            <a:avLst>
              <a:gd name="adj1" fmla="val 118360"/>
            </a:avLst>
          </a:prstGeom>
          <a:ln w="12700">
            <a:headEnd type="stealth"/>
            <a:tailEnd type="stealth"/>
          </a:ln>
        </p:spPr>
        <p:style>
          <a:lnRef idx="1">
            <a:schemeClr val="accent1"/>
          </a:lnRef>
          <a:fillRef idx="0">
            <a:schemeClr val="accent1"/>
          </a:fillRef>
          <a:effectRef idx="0">
            <a:schemeClr val="accent1"/>
          </a:effectRef>
          <a:fontRef idx="minor">
            <a:schemeClr val="tx1"/>
          </a:fontRef>
        </p:style>
      </p:cxnSp>
      <p:cxnSp>
        <p:nvCxnSpPr>
          <p:cNvPr id="31" name="Elbow Connector 30"/>
          <p:cNvCxnSpPr>
            <a:stCxn id="29" idx="2"/>
            <a:endCxn id="17" idx="2"/>
          </p:cNvCxnSpPr>
          <p:nvPr/>
        </p:nvCxnSpPr>
        <p:spPr>
          <a:xfrm rot="10800000" flipV="1">
            <a:off x="2001291" y="1524000"/>
            <a:ext cx="1444750" cy="1602256"/>
          </a:xfrm>
          <a:prstGeom prst="bentConnector3">
            <a:avLst>
              <a:gd name="adj1" fmla="val 115823"/>
            </a:avLst>
          </a:prstGeom>
          <a:ln w="12700">
            <a:headEnd type="stealth"/>
            <a:tailEnd type="stealth"/>
          </a:ln>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5234395" y="1600200"/>
            <a:ext cx="401072" cy="276999"/>
          </a:xfrm>
          <a:prstGeom prst="rect">
            <a:avLst/>
          </a:prstGeom>
          <a:noFill/>
        </p:spPr>
        <p:txBody>
          <a:bodyPr wrap="none" rtlCol="0">
            <a:spAutoFit/>
          </a:bodyPr>
          <a:lstStyle/>
          <a:p>
            <a:r>
              <a:rPr lang="en-US" sz="1200" dirty="0" smtClean="0"/>
              <a:t>8/1</a:t>
            </a:r>
            <a:endParaRPr lang="en-US" sz="1200" dirty="0"/>
          </a:p>
        </p:txBody>
      </p:sp>
      <p:sp>
        <p:nvSpPr>
          <p:cNvPr id="33" name="TextBox 32"/>
          <p:cNvSpPr txBox="1"/>
          <p:nvPr/>
        </p:nvSpPr>
        <p:spPr>
          <a:xfrm>
            <a:off x="3051871" y="1588363"/>
            <a:ext cx="401072" cy="276999"/>
          </a:xfrm>
          <a:prstGeom prst="rect">
            <a:avLst/>
          </a:prstGeom>
          <a:noFill/>
        </p:spPr>
        <p:txBody>
          <a:bodyPr wrap="none" rtlCol="0">
            <a:spAutoFit/>
          </a:bodyPr>
          <a:lstStyle/>
          <a:p>
            <a:r>
              <a:rPr lang="en-US" sz="1200" dirty="0" smtClean="0"/>
              <a:t>8/2</a:t>
            </a:r>
            <a:endParaRPr lang="en-US" sz="1200" dirty="0"/>
          </a:p>
        </p:txBody>
      </p:sp>
      <p:graphicFrame>
        <p:nvGraphicFramePr>
          <p:cNvPr id="40" name="Table 39"/>
          <p:cNvGraphicFramePr>
            <a:graphicFrameLocks noGrp="1"/>
          </p:cNvGraphicFramePr>
          <p:nvPr>
            <p:extLst>
              <p:ext uri="{D42A27DB-BD31-4B8C-83A1-F6EECF244321}">
                <p14:modId xmlns:p14="http://schemas.microsoft.com/office/powerpoint/2010/main" val="1862270713"/>
              </p:ext>
            </p:extLst>
          </p:nvPr>
        </p:nvGraphicFramePr>
        <p:xfrm>
          <a:off x="5333013" y="1173480"/>
          <a:ext cx="2896587" cy="274320"/>
        </p:xfrm>
        <a:graphic>
          <a:graphicData uri="http://schemas.openxmlformats.org/drawingml/2006/table">
            <a:tbl>
              <a:tblPr firstRow="1" bandRow="1">
                <a:tableStyleId>{7DF18680-E054-41AD-8BC1-D1AEF772440D}</a:tableStyleId>
              </a:tblPr>
              <a:tblGrid>
                <a:gridCol w="381987"/>
                <a:gridCol w="457200"/>
                <a:gridCol w="457200"/>
                <a:gridCol w="685800"/>
                <a:gridCol w="381000"/>
                <a:gridCol w="533400"/>
              </a:tblGrid>
              <a:tr h="259080">
                <a:tc>
                  <a:txBody>
                    <a:bodyPr/>
                    <a:lstStyle/>
                    <a:p>
                      <a:r>
                        <a:rPr lang="en-US" sz="1200" b="0" dirty="0" smtClean="0"/>
                        <a:t>TX</a:t>
                      </a:r>
                    </a:p>
                  </a:txBody>
                  <a:tcPr/>
                </a:tc>
                <a:tc>
                  <a:txBody>
                    <a:bodyPr/>
                    <a:lstStyle/>
                    <a:p>
                      <a:r>
                        <a:rPr lang="en-US" sz="1200" b="0" dirty="0" smtClean="0"/>
                        <a:t>DA1</a:t>
                      </a:r>
                      <a:endParaRPr lang="en-US" sz="1200" b="0" dirty="0"/>
                    </a:p>
                  </a:txBody>
                  <a:tcPr/>
                </a:tc>
                <a:tc>
                  <a:txBody>
                    <a:bodyPr/>
                    <a:lstStyle/>
                    <a:p>
                      <a:r>
                        <a:rPr lang="en-US" sz="1200" b="0" dirty="0" smtClean="0"/>
                        <a:t>SA1</a:t>
                      </a:r>
                      <a:endParaRPr lang="en-US" sz="1200" b="0" dirty="0"/>
                    </a:p>
                  </a:txBody>
                  <a:tcPr/>
                </a:tc>
                <a:tc>
                  <a:txBody>
                    <a:bodyPr/>
                    <a:lstStyle/>
                    <a:p>
                      <a:r>
                        <a:rPr lang="en-US" sz="1200" b="0" dirty="0" smtClean="0"/>
                        <a:t>0x8100</a:t>
                      </a:r>
                      <a:endParaRPr lang="en-US" sz="1200" b="0" dirty="0"/>
                    </a:p>
                  </a:txBody>
                  <a:tcPr/>
                </a:tc>
                <a:tc>
                  <a:txBody>
                    <a:bodyPr/>
                    <a:lstStyle/>
                    <a:p>
                      <a:r>
                        <a:rPr lang="en-US" sz="1200" b="1" dirty="0" smtClean="0">
                          <a:solidFill>
                            <a:srgbClr val="FF0000"/>
                          </a:solidFill>
                          <a:effectLst>
                            <a:outerShdw blurRad="38100" dist="38100" dir="2700000" algn="tl">
                              <a:srgbClr val="000000">
                                <a:alpha val="43137"/>
                              </a:srgbClr>
                            </a:outerShdw>
                          </a:effectLst>
                        </a:rPr>
                        <a:t>30</a:t>
                      </a:r>
                      <a:endParaRPr lang="en-US" sz="1200" b="1" dirty="0">
                        <a:solidFill>
                          <a:srgbClr val="FF0000"/>
                        </a:solidFill>
                        <a:effectLst>
                          <a:outerShdw blurRad="38100" dist="38100" dir="2700000" algn="tl">
                            <a:srgbClr val="000000">
                              <a:alpha val="43137"/>
                            </a:srgbClr>
                          </a:outerShdw>
                        </a:effectLst>
                      </a:endParaRPr>
                    </a:p>
                  </a:txBody>
                  <a:tcPr/>
                </a:tc>
                <a:tc>
                  <a:txBody>
                    <a:bodyPr/>
                    <a:lstStyle/>
                    <a:p>
                      <a:r>
                        <a:rPr lang="en-US" sz="1200" b="0" dirty="0" smtClean="0"/>
                        <a:t>IP…</a:t>
                      </a:r>
                      <a:endParaRPr lang="en-US" sz="1200" b="0" dirty="0"/>
                    </a:p>
                  </a:txBody>
                  <a:tcPr/>
                </a:tc>
              </a:tr>
            </a:tbl>
          </a:graphicData>
        </a:graphic>
      </p:graphicFrame>
      <p:sp>
        <p:nvSpPr>
          <p:cNvPr id="42" name="TextBox 41"/>
          <p:cNvSpPr txBox="1"/>
          <p:nvPr/>
        </p:nvSpPr>
        <p:spPr>
          <a:xfrm>
            <a:off x="5239791" y="2540752"/>
            <a:ext cx="912429" cy="369332"/>
          </a:xfrm>
          <a:prstGeom prst="rect">
            <a:avLst/>
          </a:prstGeom>
          <a:noFill/>
        </p:spPr>
        <p:txBody>
          <a:bodyPr wrap="none" rtlCol="0">
            <a:spAutoFit/>
          </a:bodyPr>
          <a:lstStyle/>
          <a:p>
            <a:r>
              <a:rPr lang="en-US" dirty="0" smtClean="0">
                <a:solidFill>
                  <a:schemeClr val="bg1"/>
                </a:solidFill>
              </a:rPr>
              <a:t>NE: 101</a:t>
            </a:r>
            <a:endParaRPr lang="en-US" dirty="0">
              <a:solidFill>
                <a:schemeClr val="bg1"/>
              </a:solidFill>
            </a:endParaRPr>
          </a:p>
        </p:txBody>
      </p:sp>
      <p:sp>
        <p:nvSpPr>
          <p:cNvPr id="43" name="TextBox 42"/>
          <p:cNvSpPr txBox="1"/>
          <p:nvPr/>
        </p:nvSpPr>
        <p:spPr>
          <a:xfrm>
            <a:off x="2497576" y="2524619"/>
            <a:ext cx="912429" cy="369332"/>
          </a:xfrm>
          <a:prstGeom prst="rect">
            <a:avLst/>
          </a:prstGeom>
          <a:noFill/>
        </p:spPr>
        <p:txBody>
          <a:bodyPr wrap="none" rtlCol="0">
            <a:spAutoFit/>
          </a:bodyPr>
          <a:lstStyle/>
          <a:p>
            <a:r>
              <a:rPr lang="en-US" dirty="0" smtClean="0">
                <a:solidFill>
                  <a:schemeClr val="bg1"/>
                </a:solidFill>
              </a:rPr>
              <a:t>NE: 104</a:t>
            </a:r>
            <a:endParaRPr lang="en-US" dirty="0">
              <a:solidFill>
                <a:schemeClr val="bg1"/>
              </a:solidFill>
            </a:endParaRPr>
          </a:p>
        </p:txBody>
      </p:sp>
      <p:sp>
        <p:nvSpPr>
          <p:cNvPr id="44" name="TextBox 43"/>
          <p:cNvSpPr txBox="1"/>
          <p:nvPr/>
        </p:nvSpPr>
        <p:spPr>
          <a:xfrm>
            <a:off x="736569" y="584732"/>
            <a:ext cx="7419660" cy="369332"/>
          </a:xfrm>
          <a:prstGeom prst="rect">
            <a:avLst/>
          </a:prstGeom>
          <a:noFill/>
        </p:spPr>
        <p:txBody>
          <a:bodyPr wrap="none" rtlCol="0">
            <a:spAutoFit/>
          </a:bodyPr>
          <a:lstStyle/>
          <a:p>
            <a:r>
              <a:rPr lang="en-US" dirty="0" smtClean="0"/>
              <a:t>ISSUE3:</a:t>
            </a:r>
            <a:r>
              <a:rPr lang="en-US" dirty="0"/>
              <a:t>l2 bridge traffic recovery need to 5 </a:t>
            </a:r>
            <a:r>
              <a:rPr lang="en-US" dirty="0" err="1"/>
              <a:t>mins</a:t>
            </a:r>
            <a:r>
              <a:rPr lang="en-US" dirty="0"/>
              <a:t> when </a:t>
            </a:r>
            <a:r>
              <a:rPr lang="en-US" dirty="0" err="1"/>
              <a:t>chaged</a:t>
            </a:r>
            <a:r>
              <a:rPr lang="en-US" dirty="0"/>
              <a:t> a different port</a:t>
            </a:r>
          </a:p>
        </p:txBody>
      </p:sp>
      <p:graphicFrame>
        <p:nvGraphicFramePr>
          <p:cNvPr id="49" name="Table 48"/>
          <p:cNvGraphicFramePr>
            <a:graphicFrameLocks noGrp="1"/>
          </p:cNvGraphicFramePr>
          <p:nvPr>
            <p:extLst>
              <p:ext uri="{D42A27DB-BD31-4B8C-83A1-F6EECF244321}">
                <p14:modId xmlns:p14="http://schemas.microsoft.com/office/powerpoint/2010/main" val="3490328842"/>
              </p:ext>
            </p:extLst>
          </p:nvPr>
        </p:nvGraphicFramePr>
        <p:xfrm>
          <a:off x="627148" y="1131163"/>
          <a:ext cx="2845985" cy="274320"/>
        </p:xfrm>
        <a:graphic>
          <a:graphicData uri="http://schemas.openxmlformats.org/drawingml/2006/table">
            <a:tbl>
              <a:tblPr firstRow="1" bandRow="1">
                <a:tableStyleId>{7DF18680-E054-41AD-8BC1-D1AEF772440D}</a:tableStyleId>
              </a:tblPr>
              <a:tblGrid>
                <a:gridCol w="363452"/>
                <a:gridCol w="457200"/>
                <a:gridCol w="457200"/>
                <a:gridCol w="685800"/>
                <a:gridCol w="381000"/>
                <a:gridCol w="501333"/>
              </a:tblGrid>
              <a:tr h="259080">
                <a:tc>
                  <a:txBody>
                    <a:bodyPr/>
                    <a:lstStyle/>
                    <a:p>
                      <a:r>
                        <a:rPr lang="en-US" sz="1200" b="0" dirty="0" err="1" smtClean="0"/>
                        <a:t>Tx</a:t>
                      </a:r>
                      <a:endParaRPr lang="en-US" sz="1200" b="0" dirty="0" smtClean="0"/>
                    </a:p>
                  </a:txBody>
                  <a:tcPr/>
                </a:tc>
                <a:tc>
                  <a:txBody>
                    <a:bodyPr/>
                    <a:lstStyle/>
                    <a:p>
                      <a:r>
                        <a:rPr lang="en-US" sz="1200" b="0" dirty="0" smtClean="0"/>
                        <a:t>DA2</a:t>
                      </a:r>
                      <a:endParaRPr lang="en-US" sz="1200" b="0" dirty="0"/>
                    </a:p>
                  </a:txBody>
                  <a:tcPr/>
                </a:tc>
                <a:tc>
                  <a:txBody>
                    <a:bodyPr/>
                    <a:lstStyle/>
                    <a:p>
                      <a:r>
                        <a:rPr lang="en-US" sz="1200" b="0" dirty="0" smtClean="0"/>
                        <a:t>SA2</a:t>
                      </a:r>
                      <a:endParaRPr lang="en-US" sz="1200" b="0" dirty="0"/>
                    </a:p>
                  </a:txBody>
                  <a:tcPr/>
                </a:tc>
                <a:tc>
                  <a:txBody>
                    <a:bodyPr/>
                    <a:lstStyle/>
                    <a:p>
                      <a:r>
                        <a:rPr lang="en-US" sz="1200" b="0" dirty="0" smtClean="0"/>
                        <a:t>0x8100</a:t>
                      </a:r>
                      <a:endParaRPr lang="en-US" sz="1200" b="0" dirty="0"/>
                    </a:p>
                  </a:txBody>
                  <a:tcPr/>
                </a:tc>
                <a:tc>
                  <a:txBody>
                    <a:bodyPr/>
                    <a:lstStyle/>
                    <a:p>
                      <a:r>
                        <a:rPr lang="en-US" sz="1200" b="1" dirty="0" smtClean="0">
                          <a:solidFill>
                            <a:srgbClr val="FF0000"/>
                          </a:solidFill>
                          <a:effectLst>
                            <a:outerShdw blurRad="38100" dist="38100" dir="2700000" algn="tl">
                              <a:srgbClr val="000000">
                                <a:alpha val="43137"/>
                              </a:srgbClr>
                            </a:outerShdw>
                          </a:effectLst>
                        </a:rPr>
                        <a:t>30</a:t>
                      </a:r>
                      <a:endParaRPr lang="en-US" sz="1200" b="1" dirty="0">
                        <a:solidFill>
                          <a:srgbClr val="FF0000"/>
                        </a:solidFill>
                        <a:effectLst>
                          <a:outerShdw blurRad="38100" dist="38100" dir="2700000" algn="tl">
                            <a:srgbClr val="000000">
                              <a:alpha val="43137"/>
                            </a:srgbClr>
                          </a:outerShdw>
                        </a:effectLst>
                      </a:endParaRPr>
                    </a:p>
                  </a:txBody>
                  <a:tcPr/>
                </a:tc>
                <a:tc>
                  <a:txBody>
                    <a:bodyPr/>
                    <a:lstStyle/>
                    <a:p>
                      <a:r>
                        <a:rPr lang="en-US" sz="1200" b="0" dirty="0" smtClean="0"/>
                        <a:t>IP…</a:t>
                      </a:r>
                      <a:endParaRPr lang="en-US" sz="1200" b="0" dirty="0"/>
                    </a:p>
                  </a:txBody>
                  <a:tcPr/>
                </a:tc>
              </a:tr>
            </a:tbl>
          </a:graphicData>
        </a:graphic>
      </p:graphicFrame>
      <p:sp>
        <p:nvSpPr>
          <p:cNvPr id="51" name="TextBox 50"/>
          <p:cNvSpPr txBox="1"/>
          <p:nvPr/>
        </p:nvSpPr>
        <p:spPr>
          <a:xfrm>
            <a:off x="736569" y="4083730"/>
            <a:ext cx="3752117" cy="1938992"/>
          </a:xfrm>
          <a:prstGeom prst="rect">
            <a:avLst/>
          </a:prstGeom>
          <a:noFill/>
          <a:ln>
            <a:solidFill>
              <a:srgbClr val="C00000"/>
            </a:solidFill>
          </a:ln>
        </p:spPr>
        <p:txBody>
          <a:bodyPr wrap="none" rtlCol="0">
            <a:spAutoFit/>
          </a:bodyPr>
          <a:lstStyle/>
          <a:p>
            <a:pPr marL="228600" indent="-228600">
              <a:buAutoNum type="arabicPeriod"/>
            </a:pPr>
            <a:r>
              <a:rPr lang="en-US" sz="1200" dirty="0" smtClean="0"/>
              <a:t>Create VSI (</a:t>
            </a:r>
            <a:r>
              <a:rPr lang="en-US" sz="1200" dirty="0" err="1" smtClean="0"/>
              <a:t>vlan</a:t>
            </a:r>
            <a:r>
              <a:rPr lang="en-US" sz="1200" dirty="0" smtClean="0"/>
              <a:t> 30 ) at NE 101 and NE 104</a:t>
            </a:r>
          </a:p>
          <a:p>
            <a:pPr marL="228600" indent="-228600">
              <a:buAutoNum type="arabicPeriod"/>
            </a:pPr>
            <a:r>
              <a:rPr lang="en-US" sz="1200" dirty="0" smtClean="0"/>
              <a:t>Add Port </a:t>
            </a:r>
            <a:r>
              <a:rPr lang="en-US" sz="1200" dirty="0" err="1" smtClean="0"/>
              <a:t>xg</a:t>
            </a:r>
            <a:r>
              <a:rPr lang="en-US" sz="1200" dirty="0" smtClean="0"/>
              <a:t> 2/13 , </a:t>
            </a:r>
            <a:r>
              <a:rPr lang="en-US" sz="1200" dirty="0" err="1" smtClean="0"/>
              <a:t>xg</a:t>
            </a:r>
            <a:r>
              <a:rPr lang="en-US" sz="1200" dirty="0" smtClean="0"/>
              <a:t> 6/1 in </a:t>
            </a:r>
            <a:r>
              <a:rPr lang="en-US" sz="1200" dirty="0" err="1" smtClean="0"/>
              <a:t>vsi</a:t>
            </a:r>
            <a:r>
              <a:rPr lang="en-US" sz="1200" dirty="0" smtClean="0"/>
              <a:t> </a:t>
            </a:r>
            <a:r>
              <a:rPr lang="en-US" sz="1200" dirty="0" err="1" smtClean="0"/>
              <a:t>vlan</a:t>
            </a:r>
            <a:r>
              <a:rPr lang="en-US" sz="1200" dirty="0" smtClean="0"/>
              <a:t> 30 at NE 101</a:t>
            </a:r>
          </a:p>
          <a:p>
            <a:pPr marL="228600" indent="-228600">
              <a:buFontTx/>
              <a:buAutoNum type="arabicPeriod"/>
            </a:pPr>
            <a:r>
              <a:rPr lang="en-US" sz="1200" dirty="0"/>
              <a:t>Add Port </a:t>
            </a:r>
            <a:r>
              <a:rPr lang="en-US" sz="1200" dirty="0" err="1"/>
              <a:t>xg</a:t>
            </a:r>
            <a:r>
              <a:rPr lang="en-US" sz="1200" dirty="0"/>
              <a:t> </a:t>
            </a:r>
            <a:r>
              <a:rPr lang="en-US" sz="1200" dirty="0" smtClean="0"/>
              <a:t>6/16 </a:t>
            </a:r>
            <a:r>
              <a:rPr lang="en-US" sz="1200" dirty="0"/>
              <a:t>, </a:t>
            </a:r>
            <a:r>
              <a:rPr lang="en-US" sz="1200" dirty="0" err="1"/>
              <a:t>xg</a:t>
            </a:r>
            <a:r>
              <a:rPr lang="en-US" sz="1200" dirty="0"/>
              <a:t> </a:t>
            </a:r>
            <a:r>
              <a:rPr lang="en-US" sz="1200" dirty="0" smtClean="0"/>
              <a:t>6/13 </a:t>
            </a:r>
            <a:r>
              <a:rPr lang="en-US" sz="1200" dirty="0"/>
              <a:t>in </a:t>
            </a:r>
            <a:r>
              <a:rPr lang="en-US" sz="1200" dirty="0" err="1" smtClean="0"/>
              <a:t>vsi</a:t>
            </a:r>
            <a:r>
              <a:rPr lang="en-US" sz="1200" dirty="0" smtClean="0"/>
              <a:t> </a:t>
            </a:r>
            <a:r>
              <a:rPr lang="en-US" sz="1200" dirty="0" err="1" smtClean="0"/>
              <a:t>vlan</a:t>
            </a:r>
            <a:r>
              <a:rPr lang="en-US" sz="1200" dirty="0" smtClean="0"/>
              <a:t> </a:t>
            </a:r>
            <a:r>
              <a:rPr lang="en-US" sz="1200" dirty="0"/>
              <a:t>30 at NE </a:t>
            </a:r>
            <a:r>
              <a:rPr lang="en-US" sz="1200" dirty="0" smtClean="0"/>
              <a:t>104</a:t>
            </a:r>
          </a:p>
          <a:p>
            <a:r>
              <a:rPr lang="en-US" sz="1200" dirty="0" smtClean="0">
                <a:solidFill>
                  <a:srgbClr val="C00000"/>
                </a:solidFill>
              </a:rPr>
              <a:t>The packet with </a:t>
            </a:r>
            <a:r>
              <a:rPr lang="en-US" sz="1200" dirty="0" err="1" smtClean="0">
                <a:solidFill>
                  <a:srgbClr val="C00000"/>
                </a:solidFill>
              </a:rPr>
              <a:t>vlan</a:t>
            </a:r>
            <a:r>
              <a:rPr lang="en-US" sz="1200" dirty="0" smtClean="0">
                <a:solidFill>
                  <a:srgbClr val="C00000"/>
                </a:solidFill>
              </a:rPr>
              <a:t> 30 traffic is ok in two-way.</a:t>
            </a:r>
          </a:p>
          <a:p>
            <a:r>
              <a:rPr lang="en-US" sz="1200" dirty="0" smtClean="0">
                <a:solidFill>
                  <a:srgbClr val="C00000"/>
                </a:solidFill>
              </a:rPr>
              <a:t>Packet Ethernet II format are DA1 = SA2, SA1 = DA2</a:t>
            </a:r>
          </a:p>
          <a:p>
            <a:r>
              <a:rPr lang="en-US" sz="1200" dirty="0" smtClean="0"/>
              <a:t>4. remove ports </a:t>
            </a:r>
            <a:r>
              <a:rPr lang="en-US" sz="1200" dirty="0" err="1" smtClean="0"/>
              <a:t>xg</a:t>
            </a:r>
            <a:r>
              <a:rPr lang="en-US" sz="1200" dirty="0" smtClean="0"/>
              <a:t> 6/13 and 2/13 from their own </a:t>
            </a:r>
            <a:r>
              <a:rPr lang="en-US" sz="1200" dirty="0" err="1" smtClean="0"/>
              <a:t>vsi</a:t>
            </a:r>
            <a:r>
              <a:rPr lang="en-US" sz="1200" dirty="0" smtClean="0"/>
              <a:t> </a:t>
            </a:r>
          </a:p>
          <a:p>
            <a:r>
              <a:rPr lang="en-US" sz="1200" dirty="0" smtClean="0"/>
              <a:t>and then add </a:t>
            </a:r>
            <a:r>
              <a:rPr lang="en-US" sz="1200" dirty="0" err="1" smtClean="0"/>
              <a:t>xg</a:t>
            </a:r>
            <a:r>
              <a:rPr lang="en-US" sz="1200" dirty="0" smtClean="0"/>
              <a:t> 6/14 and </a:t>
            </a:r>
            <a:r>
              <a:rPr lang="en-US" sz="1200" dirty="0" err="1" smtClean="0"/>
              <a:t>xg</a:t>
            </a:r>
            <a:r>
              <a:rPr lang="en-US" sz="1200" dirty="0" smtClean="0"/>
              <a:t> 2/14  in their </a:t>
            </a:r>
            <a:r>
              <a:rPr lang="en-US" sz="1200" dirty="0" err="1" smtClean="0"/>
              <a:t>vsi</a:t>
            </a:r>
            <a:r>
              <a:rPr lang="en-US" sz="1200" dirty="0" smtClean="0"/>
              <a:t> .</a:t>
            </a:r>
          </a:p>
          <a:p>
            <a:r>
              <a:rPr lang="en-US" sz="1200" dirty="0" smtClean="0">
                <a:solidFill>
                  <a:srgbClr val="C00000"/>
                </a:solidFill>
              </a:rPr>
              <a:t>The </a:t>
            </a:r>
            <a:r>
              <a:rPr lang="en-US" sz="1200" dirty="0">
                <a:solidFill>
                  <a:srgbClr val="C00000"/>
                </a:solidFill>
              </a:rPr>
              <a:t>packet with </a:t>
            </a:r>
            <a:r>
              <a:rPr lang="en-US" sz="1200" dirty="0" err="1">
                <a:solidFill>
                  <a:srgbClr val="C00000"/>
                </a:solidFill>
              </a:rPr>
              <a:t>vlan</a:t>
            </a:r>
            <a:r>
              <a:rPr lang="en-US" sz="1200" dirty="0">
                <a:solidFill>
                  <a:srgbClr val="C00000"/>
                </a:solidFill>
              </a:rPr>
              <a:t> 30 </a:t>
            </a:r>
            <a:r>
              <a:rPr lang="en-US" sz="1200" dirty="0" smtClean="0">
                <a:solidFill>
                  <a:srgbClr val="C00000"/>
                </a:solidFill>
              </a:rPr>
              <a:t>traffic is also delay.</a:t>
            </a:r>
          </a:p>
          <a:p>
            <a:r>
              <a:rPr lang="en-US" sz="1200" dirty="0" smtClean="0">
                <a:solidFill>
                  <a:srgbClr val="C00000"/>
                </a:solidFill>
              </a:rPr>
              <a:t>MAC Table don’t update new ports instantly.</a:t>
            </a:r>
          </a:p>
          <a:p>
            <a:r>
              <a:rPr lang="en-US" sz="1200" dirty="0" smtClean="0">
                <a:solidFill>
                  <a:srgbClr val="C00000"/>
                </a:solidFill>
              </a:rPr>
              <a:t>It  needs 5 minutes aging time and then learn new ports. </a:t>
            </a:r>
            <a:endParaRPr lang="en-US" sz="1200" dirty="0"/>
          </a:p>
        </p:txBody>
      </p:sp>
      <p:sp>
        <p:nvSpPr>
          <p:cNvPr id="2" name="TextBox 1"/>
          <p:cNvSpPr txBox="1"/>
          <p:nvPr/>
        </p:nvSpPr>
        <p:spPr>
          <a:xfrm>
            <a:off x="4782591" y="4092610"/>
            <a:ext cx="3701872" cy="1754326"/>
          </a:xfrm>
          <a:prstGeom prst="rect">
            <a:avLst/>
          </a:prstGeom>
          <a:noFill/>
          <a:ln>
            <a:solidFill>
              <a:srgbClr val="C00000"/>
            </a:solidFill>
          </a:ln>
        </p:spPr>
        <p:txBody>
          <a:bodyPr wrap="square" rtlCol="0">
            <a:spAutoFit/>
          </a:bodyPr>
          <a:lstStyle/>
          <a:p>
            <a:r>
              <a:rPr lang="en-US" sz="1200" dirty="0" smtClean="0"/>
              <a:t>Root cause: </a:t>
            </a:r>
          </a:p>
          <a:p>
            <a:r>
              <a:rPr lang="en-US" sz="1200" dirty="0"/>
              <a:t>when removing the port from VSI</a:t>
            </a:r>
          </a:p>
          <a:p>
            <a:r>
              <a:rPr lang="en-US" sz="1200" dirty="0" smtClean="0"/>
              <a:t>, the related port learning-mac entries </a:t>
            </a:r>
          </a:p>
          <a:p>
            <a:r>
              <a:rPr lang="en-US" sz="1200" dirty="0" smtClean="0"/>
              <a:t>in </a:t>
            </a:r>
            <a:r>
              <a:rPr lang="en-US" sz="1200" dirty="0" err="1" smtClean="0"/>
              <a:t>mact</a:t>
            </a:r>
            <a:r>
              <a:rPr lang="en-US" sz="1200" dirty="0" smtClean="0"/>
              <a:t> can’t be deleted. </a:t>
            </a:r>
          </a:p>
          <a:p>
            <a:endParaRPr lang="en-US" sz="1200" dirty="0"/>
          </a:p>
          <a:p>
            <a:r>
              <a:rPr lang="en-US" sz="1200" dirty="0" smtClean="0"/>
              <a:t>Fix: </a:t>
            </a:r>
            <a:r>
              <a:rPr lang="en-US" sz="1200" dirty="0"/>
              <a:t>Add new function in file </a:t>
            </a:r>
            <a:r>
              <a:rPr lang="en-US" sz="1200" dirty="0" err="1"/>
              <a:t>vlanminp.c</a:t>
            </a:r>
            <a:endParaRPr lang="en-US" sz="1200" dirty="0"/>
          </a:p>
          <a:p>
            <a:r>
              <a:rPr lang="en-US" sz="1200" dirty="0" err="1"/>
              <a:t>FsMiVlanHwFlushPortandVlanandContext_adp</a:t>
            </a:r>
            <a:r>
              <a:rPr lang="en-US" sz="1200" dirty="0"/>
              <a:t> </a:t>
            </a:r>
            <a:endParaRPr lang="en-US" sz="1200" dirty="0" smtClean="0"/>
          </a:p>
          <a:p>
            <a:r>
              <a:rPr lang="en-US" sz="1200" dirty="0" smtClean="0"/>
              <a:t>And call </a:t>
            </a:r>
            <a:r>
              <a:rPr lang="en-US" sz="1200" dirty="0"/>
              <a:t>the new function to delete </a:t>
            </a:r>
            <a:r>
              <a:rPr lang="en-US" sz="1200" dirty="0" err="1"/>
              <a:t>mact</a:t>
            </a:r>
            <a:r>
              <a:rPr lang="en-US" sz="1200" dirty="0"/>
              <a:t> entries  in </a:t>
            </a:r>
            <a:r>
              <a:rPr lang="en-US" sz="1200" dirty="0" err="1"/>
              <a:t>VLANB_Npal.c</a:t>
            </a:r>
            <a:r>
              <a:rPr lang="en-US" sz="1200" dirty="0" smtClean="0"/>
              <a:t>.</a:t>
            </a:r>
          </a:p>
        </p:txBody>
      </p:sp>
    </p:spTree>
    <p:extLst>
      <p:ext uri="{BB962C8B-B14F-4D97-AF65-F5344CB8AC3E}">
        <p14:creationId xmlns:p14="http://schemas.microsoft.com/office/powerpoint/2010/main" val="8930936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09600" y="533400"/>
            <a:ext cx="7772400" cy="369332"/>
          </a:xfrm>
          <a:prstGeom prst="rect">
            <a:avLst/>
          </a:prstGeom>
        </p:spPr>
        <p:txBody>
          <a:bodyPr wrap="square">
            <a:spAutoFit/>
          </a:bodyPr>
          <a:lstStyle/>
          <a:p>
            <a:r>
              <a:rPr lang="en-US" dirty="0" smtClean="0"/>
              <a:t>ISSUE4: ARP packets can’t be trapped to CPU  on the MPLS compatible port.</a:t>
            </a:r>
            <a:endParaRPr lang="en-US" dirty="0"/>
          </a:p>
        </p:txBody>
      </p:sp>
      <p:sp>
        <p:nvSpPr>
          <p:cNvPr id="7" name="Rectangle 6"/>
          <p:cNvSpPr/>
          <p:nvPr/>
        </p:nvSpPr>
        <p:spPr>
          <a:xfrm>
            <a:off x="3640998" y="2375223"/>
            <a:ext cx="1676400" cy="1059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b="1" dirty="0">
              <a:effectLst>
                <a:outerShdw blurRad="38100" dist="38100" dir="2700000" algn="tl">
                  <a:srgbClr val="000000">
                    <a:alpha val="43137"/>
                  </a:srgbClr>
                </a:outerShdw>
              </a:effectLst>
            </a:endParaRPr>
          </a:p>
        </p:txBody>
      </p:sp>
      <p:sp>
        <p:nvSpPr>
          <p:cNvPr id="8" name="Oval 7"/>
          <p:cNvSpPr/>
          <p:nvPr/>
        </p:nvSpPr>
        <p:spPr>
          <a:xfrm>
            <a:off x="3482807" y="2733290"/>
            <a:ext cx="327193" cy="3841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t>PNP</a:t>
            </a:r>
            <a:endParaRPr lang="en-US" sz="800" dirty="0"/>
          </a:p>
        </p:txBody>
      </p:sp>
      <p:sp>
        <p:nvSpPr>
          <p:cNvPr id="9" name="Oval 8"/>
          <p:cNvSpPr/>
          <p:nvPr/>
        </p:nvSpPr>
        <p:spPr>
          <a:xfrm>
            <a:off x="5185832" y="2733290"/>
            <a:ext cx="228600" cy="3324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14" name="TextBox 13"/>
          <p:cNvSpPr txBox="1"/>
          <p:nvPr/>
        </p:nvSpPr>
        <p:spPr>
          <a:xfrm>
            <a:off x="3294696" y="3065741"/>
            <a:ext cx="401072" cy="276999"/>
          </a:xfrm>
          <a:prstGeom prst="rect">
            <a:avLst/>
          </a:prstGeom>
          <a:noFill/>
        </p:spPr>
        <p:txBody>
          <a:bodyPr wrap="none" rtlCol="0">
            <a:spAutoFit/>
          </a:bodyPr>
          <a:lstStyle/>
          <a:p>
            <a:r>
              <a:rPr lang="en-US" sz="1200" dirty="0" smtClean="0"/>
              <a:t>2/6</a:t>
            </a:r>
            <a:endParaRPr lang="en-US" sz="1200" dirty="0"/>
          </a:p>
        </p:txBody>
      </p:sp>
      <p:sp>
        <p:nvSpPr>
          <p:cNvPr id="15" name="TextBox 14"/>
          <p:cNvSpPr txBox="1"/>
          <p:nvPr/>
        </p:nvSpPr>
        <p:spPr>
          <a:xfrm>
            <a:off x="5434931" y="2922803"/>
            <a:ext cx="401072" cy="276999"/>
          </a:xfrm>
          <a:prstGeom prst="rect">
            <a:avLst/>
          </a:prstGeom>
          <a:noFill/>
        </p:spPr>
        <p:txBody>
          <a:bodyPr wrap="none" rtlCol="0">
            <a:spAutoFit/>
          </a:bodyPr>
          <a:lstStyle/>
          <a:p>
            <a:r>
              <a:rPr lang="en-US" sz="1200" dirty="0" smtClean="0"/>
              <a:t>6/1</a:t>
            </a:r>
            <a:endParaRPr lang="en-US" sz="1200" dirty="0"/>
          </a:p>
        </p:txBody>
      </p:sp>
      <p:sp>
        <p:nvSpPr>
          <p:cNvPr id="26" name="Rectangle 25"/>
          <p:cNvSpPr/>
          <p:nvPr/>
        </p:nvSpPr>
        <p:spPr>
          <a:xfrm>
            <a:off x="3560341" y="1143000"/>
            <a:ext cx="1676400" cy="76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Test Center</a:t>
            </a:r>
            <a:endParaRPr lang="en-US" dirty="0"/>
          </a:p>
        </p:txBody>
      </p:sp>
      <p:sp>
        <p:nvSpPr>
          <p:cNvPr id="27" name="Oval 26"/>
          <p:cNvSpPr/>
          <p:nvPr/>
        </p:nvSpPr>
        <p:spPr>
          <a:xfrm>
            <a:off x="5104413" y="1387733"/>
            <a:ext cx="228600" cy="27253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3446041" y="1387733"/>
            <a:ext cx="228600" cy="27253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Elbow Connector 28"/>
          <p:cNvCxnSpPr>
            <a:stCxn id="27" idx="6"/>
            <a:endCxn id="9" idx="6"/>
          </p:cNvCxnSpPr>
          <p:nvPr/>
        </p:nvCxnSpPr>
        <p:spPr>
          <a:xfrm>
            <a:off x="5333013" y="1524000"/>
            <a:ext cx="81419" cy="1375516"/>
          </a:xfrm>
          <a:prstGeom prst="bentConnector3">
            <a:avLst>
              <a:gd name="adj1" fmla="val 1645596"/>
            </a:avLst>
          </a:prstGeom>
          <a:ln w="12700">
            <a:headEnd type="stealth"/>
            <a:tailEnd type="stealth"/>
          </a:ln>
        </p:spPr>
        <p:style>
          <a:lnRef idx="1">
            <a:schemeClr val="accent1"/>
          </a:lnRef>
          <a:fillRef idx="0">
            <a:schemeClr val="accent1"/>
          </a:fillRef>
          <a:effectRef idx="0">
            <a:schemeClr val="accent1"/>
          </a:effectRef>
          <a:fontRef idx="minor">
            <a:schemeClr val="tx1"/>
          </a:fontRef>
        </p:style>
      </p:cxnSp>
      <p:cxnSp>
        <p:nvCxnSpPr>
          <p:cNvPr id="30" name="Elbow Connector 29"/>
          <p:cNvCxnSpPr>
            <a:stCxn id="28" idx="2"/>
            <a:endCxn id="8" idx="2"/>
          </p:cNvCxnSpPr>
          <p:nvPr/>
        </p:nvCxnSpPr>
        <p:spPr>
          <a:xfrm rot="10800000" flipH="1" flipV="1">
            <a:off x="3446041" y="1524000"/>
            <a:ext cx="36766" cy="1401362"/>
          </a:xfrm>
          <a:prstGeom prst="bentConnector3">
            <a:avLst>
              <a:gd name="adj1" fmla="val -2577629"/>
            </a:avLst>
          </a:prstGeom>
          <a:ln w="12700">
            <a:headEnd type="stealth"/>
            <a:tailEnd type="stealth"/>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5234395" y="1600200"/>
            <a:ext cx="401072" cy="276999"/>
          </a:xfrm>
          <a:prstGeom prst="rect">
            <a:avLst/>
          </a:prstGeom>
          <a:noFill/>
        </p:spPr>
        <p:txBody>
          <a:bodyPr wrap="none" rtlCol="0">
            <a:spAutoFit/>
          </a:bodyPr>
          <a:lstStyle/>
          <a:p>
            <a:r>
              <a:rPr lang="en-US" sz="1200" dirty="0"/>
              <a:t>5</a:t>
            </a:r>
            <a:r>
              <a:rPr lang="en-US" sz="1200" dirty="0" smtClean="0"/>
              <a:t>/1</a:t>
            </a:r>
            <a:endParaRPr lang="en-US" sz="1200" dirty="0"/>
          </a:p>
        </p:txBody>
      </p:sp>
      <p:sp>
        <p:nvSpPr>
          <p:cNvPr id="32" name="TextBox 31"/>
          <p:cNvSpPr txBox="1"/>
          <p:nvPr/>
        </p:nvSpPr>
        <p:spPr>
          <a:xfrm>
            <a:off x="3051871" y="1588363"/>
            <a:ext cx="401072" cy="276999"/>
          </a:xfrm>
          <a:prstGeom prst="rect">
            <a:avLst/>
          </a:prstGeom>
          <a:noFill/>
        </p:spPr>
        <p:txBody>
          <a:bodyPr wrap="none" rtlCol="0">
            <a:spAutoFit/>
          </a:bodyPr>
          <a:lstStyle/>
          <a:p>
            <a:r>
              <a:rPr lang="en-US" sz="1200" dirty="0" smtClean="0"/>
              <a:t>5/2</a:t>
            </a:r>
            <a:endParaRPr lang="en-US" sz="1200" dirty="0"/>
          </a:p>
        </p:txBody>
      </p:sp>
      <p:graphicFrame>
        <p:nvGraphicFramePr>
          <p:cNvPr id="33" name="Table 32"/>
          <p:cNvGraphicFramePr>
            <a:graphicFrameLocks noGrp="1"/>
          </p:cNvGraphicFramePr>
          <p:nvPr>
            <p:extLst>
              <p:ext uri="{D42A27DB-BD31-4B8C-83A1-F6EECF244321}">
                <p14:modId xmlns:p14="http://schemas.microsoft.com/office/powerpoint/2010/main" val="323342929"/>
              </p:ext>
            </p:extLst>
          </p:nvPr>
        </p:nvGraphicFramePr>
        <p:xfrm>
          <a:off x="5238333" y="1149658"/>
          <a:ext cx="2820386" cy="274320"/>
        </p:xfrm>
        <a:graphic>
          <a:graphicData uri="http://schemas.openxmlformats.org/drawingml/2006/table">
            <a:tbl>
              <a:tblPr firstRow="1" bandRow="1">
                <a:tableStyleId>{7DF18680-E054-41AD-8BC1-D1AEF772440D}</a:tableStyleId>
              </a:tblPr>
              <a:tblGrid>
                <a:gridCol w="428270"/>
                <a:gridCol w="512596"/>
                <a:gridCol w="512596"/>
                <a:gridCol w="768895"/>
                <a:gridCol w="598029"/>
              </a:tblGrid>
              <a:tr h="259080">
                <a:tc>
                  <a:txBody>
                    <a:bodyPr/>
                    <a:lstStyle/>
                    <a:p>
                      <a:r>
                        <a:rPr lang="en-US" sz="1200" b="0" dirty="0" smtClean="0"/>
                        <a:t>TX1</a:t>
                      </a:r>
                    </a:p>
                  </a:txBody>
                  <a:tcPr/>
                </a:tc>
                <a:tc>
                  <a:txBody>
                    <a:bodyPr/>
                    <a:lstStyle/>
                    <a:p>
                      <a:r>
                        <a:rPr lang="en-US" sz="1200" b="0" dirty="0" smtClean="0"/>
                        <a:t>DA1</a:t>
                      </a:r>
                      <a:endParaRPr lang="en-US" sz="1200" b="0" dirty="0"/>
                    </a:p>
                  </a:txBody>
                  <a:tcPr/>
                </a:tc>
                <a:tc>
                  <a:txBody>
                    <a:bodyPr/>
                    <a:lstStyle/>
                    <a:p>
                      <a:r>
                        <a:rPr lang="en-US" sz="1200" b="0" dirty="0" smtClean="0"/>
                        <a:t>SA1</a:t>
                      </a:r>
                      <a:endParaRPr lang="en-US" sz="1200" b="0" dirty="0"/>
                    </a:p>
                  </a:txBody>
                  <a:tcPr/>
                </a:tc>
                <a:tc>
                  <a:txBody>
                    <a:bodyPr/>
                    <a:lstStyle/>
                    <a:p>
                      <a:r>
                        <a:rPr lang="en-US" sz="1200" b="0" dirty="0" smtClean="0"/>
                        <a:t>0x0806</a:t>
                      </a:r>
                      <a:endParaRPr lang="en-US" sz="1200" b="0" dirty="0"/>
                    </a:p>
                  </a:txBody>
                  <a:tcPr/>
                </a:tc>
                <a:tc>
                  <a:txBody>
                    <a:bodyPr/>
                    <a:lstStyle/>
                    <a:p>
                      <a:r>
                        <a:rPr lang="en-US" sz="1200" b="0" dirty="0" smtClean="0"/>
                        <a:t>ARP…</a:t>
                      </a:r>
                      <a:endParaRPr lang="en-US" sz="1200" b="0" dirty="0"/>
                    </a:p>
                  </a:txBody>
                  <a:tcPr/>
                </a:tc>
              </a:tr>
            </a:tbl>
          </a:graphicData>
        </a:graphic>
      </p:graphicFrame>
      <p:sp>
        <p:nvSpPr>
          <p:cNvPr id="34" name="TextBox 33"/>
          <p:cNvSpPr txBox="1"/>
          <p:nvPr/>
        </p:nvSpPr>
        <p:spPr>
          <a:xfrm>
            <a:off x="4001503" y="2363958"/>
            <a:ext cx="912429" cy="369332"/>
          </a:xfrm>
          <a:prstGeom prst="rect">
            <a:avLst/>
          </a:prstGeom>
          <a:noFill/>
        </p:spPr>
        <p:txBody>
          <a:bodyPr wrap="none" rtlCol="0">
            <a:spAutoFit/>
          </a:bodyPr>
          <a:lstStyle/>
          <a:p>
            <a:r>
              <a:rPr lang="en-US" dirty="0" smtClean="0">
                <a:solidFill>
                  <a:schemeClr val="bg1"/>
                </a:solidFill>
              </a:rPr>
              <a:t>NE: 101</a:t>
            </a:r>
            <a:endParaRPr lang="en-US" dirty="0">
              <a:solidFill>
                <a:schemeClr val="bg1"/>
              </a:solidFill>
            </a:endParaRPr>
          </a:p>
        </p:txBody>
      </p:sp>
      <p:sp>
        <p:nvSpPr>
          <p:cNvPr id="44" name="TextBox 43"/>
          <p:cNvSpPr txBox="1"/>
          <p:nvPr/>
        </p:nvSpPr>
        <p:spPr>
          <a:xfrm>
            <a:off x="4292429" y="2691697"/>
            <a:ext cx="445956" cy="276999"/>
          </a:xfrm>
          <a:prstGeom prst="rect">
            <a:avLst/>
          </a:prstGeom>
          <a:noFill/>
          <a:ln>
            <a:solidFill>
              <a:srgbClr val="C00000"/>
            </a:solidFill>
          </a:ln>
        </p:spPr>
        <p:txBody>
          <a:bodyPr wrap="none" rtlCol="0">
            <a:spAutoFit/>
          </a:bodyPr>
          <a:lstStyle/>
          <a:p>
            <a:r>
              <a:rPr lang="en-US" sz="1200" dirty="0" smtClean="0"/>
              <a:t>CPU</a:t>
            </a:r>
            <a:endParaRPr lang="en-US" sz="1200" dirty="0"/>
          </a:p>
        </p:txBody>
      </p:sp>
      <p:cxnSp>
        <p:nvCxnSpPr>
          <p:cNvPr id="46" name="Straight Arrow Connector 45"/>
          <p:cNvCxnSpPr>
            <a:stCxn id="9" idx="2"/>
          </p:cNvCxnSpPr>
          <p:nvPr/>
        </p:nvCxnSpPr>
        <p:spPr>
          <a:xfrm flipH="1" flipV="1">
            <a:off x="4738386" y="2830197"/>
            <a:ext cx="447446" cy="69319"/>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
        <p:nvSpPr>
          <p:cNvPr id="66" name="TextBox 65"/>
          <p:cNvSpPr txBox="1"/>
          <p:nvPr/>
        </p:nvSpPr>
        <p:spPr>
          <a:xfrm>
            <a:off x="5317398" y="2444623"/>
            <a:ext cx="1122423" cy="338554"/>
          </a:xfrm>
          <a:prstGeom prst="rect">
            <a:avLst/>
          </a:prstGeom>
          <a:noFill/>
          <a:ln>
            <a:solidFill>
              <a:srgbClr val="0070C0"/>
            </a:solidFill>
          </a:ln>
        </p:spPr>
        <p:txBody>
          <a:bodyPr wrap="none" rtlCol="0">
            <a:spAutoFit/>
          </a:bodyPr>
          <a:lstStyle/>
          <a:p>
            <a:r>
              <a:rPr lang="en-US" sz="800" dirty="0" err="1" smtClean="0"/>
              <a:t>Mpls</a:t>
            </a:r>
            <a:r>
              <a:rPr lang="en-US" sz="800" dirty="0" smtClean="0"/>
              <a:t> Compatible port.</a:t>
            </a:r>
          </a:p>
          <a:p>
            <a:r>
              <a:rPr lang="en-US" sz="800" dirty="0" smtClean="0"/>
              <a:t>PVID: 4095</a:t>
            </a:r>
            <a:endParaRPr lang="en-US" sz="800" dirty="0"/>
          </a:p>
        </p:txBody>
      </p:sp>
      <p:sp>
        <p:nvSpPr>
          <p:cNvPr id="68" name="TextBox 67"/>
          <p:cNvSpPr txBox="1"/>
          <p:nvPr/>
        </p:nvSpPr>
        <p:spPr>
          <a:xfrm>
            <a:off x="2858280" y="2520523"/>
            <a:ext cx="587020" cy="338554"/>
          </a:xfrm>
          <a:prstGeom prst="rect">
            <a:avLst/>
          </a:prstGeom>
          <a:noFill/>
          <a:ln>
            <a:solidFill>
              <a:srgbClr val="0070C0"/>
            </a:solidFill>
          </a:ln>
        </p:spPr>
        <p:txBody>
          <a:bodyPr wrap="none" rtlCol="0">
            <a:spAutoFit/>
          </a:bodyPr>
          <a:lstStyle/>
          <a:p>
            <a:r>
              <a:rPr lang="en-US" sz="800" dirty="0" smtClean="0"/>
              <a:t>PNP port.</a:t>
            </a:r>
          </a:p>
          <a:p>
            <a:r>
              <a:rPr lang="en-US" sz="800" dirty="0" smtClean="0"/>
              <a:t>PVID: 1</a:t>
            </a:r>
            <a:endParaRPr lang="en-US" sz="800" dirty="0"/>
          </a:p>
        </p:txBody>
      </p:sp>
      <p:cxnSp>
        <p:nvCxnSpPr>
          <p:cNvPr id="69" name="Straight Arrow Connector 68"/>
          <p:cNvCxnSpPr>
            <a:stCxn id="8" idx="6"/>
            <a:endCxn id="44" idx="1"/>
          </p:cNvCxnSpPr>
          <p:nvPr/>
        </p:nvCxnSpPr>
        <p:spPr>
          <a:xfrm flipV="1">
            <a:off x="3810000" y="2830197"/>
            <a:ext cx="482429" cy="95165"/>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
        <p:nvSpPr>
          <p:cNvPr id="73" name="TextBox 72"/>
          <p:cNvSpPr txBox="1"/>
          <p:nvPr/>
        </p:nvSpPr>
        <p:spPr>
          <a:xfrm>
            <a:off x="4847712" y="2680190"/>
            <a:ext cx="467037" cy="369332"/>
          </a:xfrm>
          <a:prstGeom prst="rect">
            <a:avLst/>
          </a:prstGeom>
          <a:noFill/>
        </p:spPr>
        <p:txBody>
          <a:bodyPr wrap="square" rtlCol="0">
            <a:spAutoFit/>
          </a:bodyPr>
          <a:lstStyle/>
          <a:p>
            <a:r>
              <a:rPr lang="en-US" dirty="0" smtClean="0">
                <a:solidFill>
                  <a:srgbClr val="FF0000"/>
                </a:solidFill>
                <a:effectLst>
                  <a:outerShdw blurRad="38100" dist="38100" dir="2700000" algn="tl">
                    <a:srgbClr val="000000">
                      <a:alpha val="43137"/>
                    </a:srgbClr>
                  </a:outerShdw>
                </a:effectLst>
              </a:rPr>
              <a:t>X</a:t>
            </a:r>
            <a:endParaRPr lang="en-US" dirty="0">
              <a:solidFill>
                <a:srgbClr val="FF0000"/>
              </a:solidFill>
              <a:effectLst>
                <a:outerShdw blurRad="38100" dist="38100" dir="2700000" algn="tl">
                  <a:srgbClr val="000000">
                    <a:alpha val="43137"/>
                  </a:srgbClr>
                </a:outerShdw>
              </a:effectLst>
            </a:endParaRPr>
          </a:p>
        </p:txBody>
      </p:sp>
      <p:graphicFrame>
        <p:nvGraphicFramePr>
          <p:cNvPr id="74" name="Table 73"/>
          <p:cNvGraphicFramePr>
            <a:graphicFrameLocks noGrp="1"/>
          </p:cNvGraphicFramePr>
          <p:nvPr>
            <p:extLst>
              <p:ext uri="{D42A27DB-BD31-4B8C-83A1-F6EECF244321}">
                <p14:modId xmlns:p14="http://schemas.microsoft.com/office/powerpoint/2010/main" val="3905607863"/>
              </p:ext>
            </p:extLst>
          </p:nvPr>
        </p:nvGraphicFramePr>
        <p:xfrm>
          <a:off x="672379" y="1158536"/>
          <a:ext cx="2820386" cy="274320"/>
        </p:xfrm>
        <a:graphic>
          <a:graphicData uri="http://schemas.openxmlformats.org/drawingml/2006/table">
            <a:tbl>
              <a:tblPr firstRow="1" bandRow="1">
                <a:tableStyleId>{7DF18680-E054-41AD-8BC1-D1AEF772440D}</a:tableStyleId>
              </a:tblPr>
              <a:tblGrid>
                <a:gridCol w="428270"/>
                <a:gridCol w="512596"/>
                <a:gridCol w="512596"/>
                <a:gridCol w="768895"/>
                <a:gridCol w="598029"/>
              </a:tblGrid>
              <a:tr h="152400">
                <a:tc>
                  <a:txBody>
                    <a:bodyPr/>
                    <a:lstStyle/>
                    <a:p>
                      <a:r>
                        <a:rPr lang="en-US" sz="1200" b="0" dirty="0" smtClean="0"/>
                        <a:t>TX2</a:t>
                      </a:r>
                    </a:p>
                  </a:txBody>
                  <a:tcPr/>
                </a:tc>
                <a:tc>
                  <a:txBody>
                    <a:bodyPr/>
                    <a:lstStyle/>
                    <a:p>
                      <a:r>
                        <a:rPr lang="en-US" sz="1200" b="0" dirty="0" smtClean="0"/>
                        <a:t>DA1</a:t>
                      </a:r>
                      <a:endParaRPr lang="en-US" sz="1200" b="0" dirty="0"/>
                    </a:p>
                  </a:txBody>
                  <a:tcPr/>
                </a:tc>
                <a:tc>
                  <a:txBody>
                    <a:bodyPr/>
                    <a:lstStyle/>
                    <a:p>
                      <a:r>
                        <a:rPr lang="en-US" sz="1200" b="0" dirty="0" smtClean="0"/>
                        <a:t>SA1</a:t>
                      </a:r>
                      <a:endParaRPr lang="en-US" sz="1200" b="0" dirty="0"/>
                    </a:p>
                  </a:txBody>
                  <a:tcPr/>
                </a:tc>
                <a:tc>
                  <a:txBody>
                    <a:bodyPr/>
                    <a:lstStyle/>
                    <a:p>
                      <a:r>
                        <a:rPr lang="en-US" sz="1200" b="0" dirty="0" smtClean="0"/>
                        <a:t>0x0806</a:t>
                      </a:r>
                      <a:endParaRPr lang="en-US" sz="1200" b="0" dirty="0"/>
                    </a:p>
                  </a:txBody>
                  <a:tcPr/>
                </a:tc>
                <a:tc>
                  <a:txBody>
                    <a:bodyPr/>
                    <a:lstStyle/>
                    <a:p>
                      <a:r>
                        <a:rPr lang="en-US" sz="1200" b="0" dirty="0" smtClean="0"/>
                        <a:t>ARP…</a:t>
                      </a:r>
                      <a:endParaRPr lang="en-US" sz="1200" b="0" dirty="0"/>
                    </a:p>
                  </a:txBody>
                  <a:tcPr/>
                </a:tc>
              </a:tr>
            </a:tbl>
          </a:graphicData>
        </a:graphic>
      </p:graphicFrame>
      <p:sp>
        <p:nvSpPr>
          <p:cNvPr id="79" name="TextBox 78"/>
          <p:cNvSpPr txBox="1"/>
          <p:nvPr/>
        </p:nvSpPr>
        <p:spPr>
          <a:xfrm>
            <a:off x="661231" y="3883981"/>
            <a:ext cx="4349781" cy="1569660"/>
          </a:xfrm>
          <a:prstGeom prst="rect">
            <a:avLst/>
          </a:prstGeom>
          <a:noFill/>
          <a:ln>
            <a:solidFill>
              <a:srgbClr val="C00000"/>
            </a:solidFill>
          </a:ln>
        </p:spPr>
        <p:txBody>
          <a:bodyPr wrap="none" rtlCol="0">
            <a:spAutoFit/>
          </a:bodyPr>
          <a:lstStyle/>
          <a:p>
            <a:pPr marL="228600" indent="-228600">
              <a:buAutoNum type="arabicPeriod"/>
            </a:pPr>
            <a:r>
              <a:rPr lang="en-US" sz="1200" dirty="0" smtClean="0"/>
              <a:t>Create  Port </a:t>
            </a:r>
            <a:r>
              <a:rPr lang="en-US" sz="1200" dirty="0" err="1" smtClean="0"/>
              <a:t>xg</a:t>
            </a:r>
            <a:r>
              <a:rPr lang="en-US" sz="1200" dirty="0" smtClean="0"/>
              <a:t> 1/6 as </a:t>
            </a:r>
            <a:r>
              <a:rPr lang="en-US" sz="1200" dirty="0" err="1" smtClean="0"/>
              <a:t>mpls</a:t>
            </a:r>
            <a:r>
              <a:rPr lang="en-US" sz="1200" dirty="0" smtClean="0"/>
              <a:t> compatible at NE 101</a:t>
            </a:r>
          </a:p>
          <a:p>
            <a:pPr marL="228600" indent="-228600">
              <a:buAutoNum type="arabicPeriod"/>
            </a:pPr>
            <a:r>
              <a:rPr lang="en-US" sz="1200" dirty="0" smtClean="0"/>
              <a:t>Create Port </a:t>
            </a:r>
            <a:r>
              <a:rPr lang="en-US" sz="1200" dirty="0" err="1" smtClean="0"/>
              <a:t>xg</a:t>
            </a:r>
            <a:r>
              <a:rPr lang="en-US" sz="1200" dirty="0" smtClean="0"/>
              <a:t> 2/6 as </a:t>
            </a:r>
            <a:r>
              <a:rPr lang="en-US" sz="1200" dirty="0" err="1" smtClean="0"/>
              <a:t>pnp</a:t>
            </a:r>
            <a:r>
              <a:rPr lang="en-US" sz="1200" dirty="0" smtClean="0"/>
              <a:t> port at NE 101</a:t>
            </a:r>
          </a:p>
          <a:p>
            <a:pPr marL="228600" indent="-228600">
              <a:buAutoNum type="arabicPeriod" startAt="3"/>
            </a:pPr>
            <a:r>
              <a:rPr lang="en-US" sz="1200" dirty="0" smtClean="0">
                <a:solidFill>
                  <a:srgbClr val="C00000"/>
                </a:solidFill>
              </a:rPr>
              <a:t>TC sends ARP packets to the two ports.</a:t>
            </a:r>
          </a:p>
          <a:p>
            <a:pPr marL="228600" indent="-228600">
              <a:buAutoNum type="arabicPeriod" startAt="3"/>
            </a:pPr>
            <a:r>
              <a:rPr lang="en-US" sz="1200" dirty="0" smtClean="0">
                <a:solidFill>
                  <a:srgbClr val="C00000"/>
                </a:solidFill>
              </a:rPr>
              <a:t>The </a:t>
            </a:r>
            <a:r>
              <a:rPr lang="en-US" sz="1200" dirty="0" err="1" smtClean="0">
                <a:solidFill>
                  <a:srgbClr val="C00000"/>
                </a:solidFill>
              </a:rPr>
              <a:t>arp</a:t>
            </a:r>
            <a:r>
              <a:rPr lang="en-US" sz="1200" dirty="0" smtClean="0">
                <a:solidFill>
                  <a:srgbClr val="C00000"/>
                </a:solidFill>
              </a:rPr>
              <a:t> packets can be trapped to </a:t>
            </a:r>
            <a:r>
              <a:rPr lang="en-US" sz="1200" dirty="0" err="1" smtClean="0">
                <a:solidFill>
                  <a:srgbClr val="C00000"/>
                </a:solidFill>
              </a:rPr>
              <a:t>cpu</a:t>
            </a:r>
            <a:r>
              <a:rPr lang="en-US" sz="1200" dirty="0" smtClean="0">
                <a:solidFill>
                  <a:srgbClr val="C00000"/>
                </a:solidFill>
              </a:rPr>
              <a:t> from PNP port. </a:t>
            </a:r>
          </a:p>
          <a:p>
            <a:r>
              <a:rPr lang="en-US" sz="1200" dirty="0" smtClean="0">
                <a:solidFill>
                  <a:srgbClr val="C00000"/>
                </a:solidFill>
              </a:rPr>
              <a:t>However can’t be trapped to </a:t>
            </a:r>
            <a:r>
              <a:rPr lang="en-US" sz="1200" dirty="0" err="1" smtClean="0">
                <a:solidFill>
                  <a:srgbClr val="C00000"/>
                </a:solidFill>
              </a:rPr>
              <a:t>cpu</a:t>
            </a:r>
            <a:r>
              <a:rPr lang="en-US" sz="1200" dirty="0" smtClean="0">
                <a:solidFill>
                  <a:srgbClr val="C00000"/>
                </a:solidFill>
              </a:rPr>
              <a:t> from </a:t>
            </a:r>
            <a:r>
              <a:rPr lang="en-US" sz="1200" dirty="0" err="1" smtClean="0">
                <a:solidFill>
                  <a:srgbClr val="C00000"/>
                </a:solidFill>
              </a:rPr>
              <a:t>mpls</a:t>
            </a:r>
            <a:r>
              <a:rPr lang="en-US" sz="1200" dirty="0" smtClean="0">
                <a:solidFill>
                  <a:srgbClr val="C00000"/>
                </a:solidFill>
              </a:rPr>
              <a:t> compatible port</a:t>
            </a:r>
            <a:r>
              <a:rPr lang="en-US" sz="1200" dirty="0" smtClean="0"/>
              <a:t>.</a:t>
            </a:r>
          </a:p>
          <a:p>
            <a:r>
              <a:rPr lang="en-US" sz="1200" dirty="0" smtClean="0"/>
              <a:t>5. Check the BCM Arad configure.</a:t>
            </a:r>
          </a:p>
          <a:p>
            <a:r>
              <a:rPr lang="en-US" sz="1200" dirty="0" smtClean="0"/>
              <a:t> the packet with </a:t>
            </a:r>
            <a:r>
              <a:rPr lang="en-US" sz="1200" dirty="0" err="1" smtClean="0"/>
              <a:t>pvid</a:t>
            </a:r>
            <a:r>
              <a:rPr lang="en-US" sz="1200" dirty="0" smtClean="0"/>
              <a:t> 1 from PNP port  can be sent to </a:t>
            </a:r>
            <a:r>
              <a:rPr lang="en-US" sz="1200" dirty="0" err="1" smtClean="0"/>
              <a:t>vsi</a:t>
            </a:r>
            <a:r>
              <a:rPr lang="en-US" sz="1200" dirty="0" smtClean="0"/>
              <a:t> 1.</a:t>
            </a:r>
          </a:p>
          <a:p>
            <a:r>
              <a:rPr lang="en-US" sz="1200" dirty="0"/>
              <a:t> the packet with </a:t>
            </a:r>
            <a:r>
              <a:rPr lang="en-US" sz="1200" dirty="0" err="1"/>
              <a:t>pvid</a:t>
            </a:r>
            <a:r>
              <a:rPr lang="en-US" sz="1200" dirty="0"/>
              <a:t> </a:t>
            </a:r>
            <a:r>
              <a:rPr lang="en-US" sz="1200" dirty="0" smtClean="0"/>
              <a:t>4095 </a:t>
            </a:r>
            <a:r>
              <a:rPr lang="en-US" sz="1200" dirty="0"/>
              <a:t>from </a:t>
            </a:r>
            <a:r>
              <a:rPr lang="en-US" sz="1200" dirty="0" err="1" smtClean="0"/>
              <a:t>mpls</a:t>
            </a:r>
            <a:r>
              <a:rPr lang="en-US" sz="1200" dirty="0" smtClean="0"/>
              <a:t> </a:t>
            </a:r>
            <a:r>
              <a:rPr lang="en-US" sz="1200" dirty="0"/>
              <a:t>port  can be sent to </a:t>
            </a:r>
            <a:r>
              <a:rPr lang="en-US" sz="1200" dirty="0" err="1"/>
              <a:t>vsi</a:t>
            </a:r>
            <a:r>
              <a:rPr lang="en-US" sz="1200" dirty="0"/>
              <a:t> </a:t>
            </a:r>
            <a:r>
              <a:rPr lang="en-US" sz="1200" dirty="0" smtClean="0"/>
              <a:t>4095.</a:t>
            </a:r>
          </a:p>
        </p:txBody>
      </p:sp>
      <p:sp>
        <p:nvSpPr>
          <p:cNvPr id="80" name="TextBox 79"/>
          <p:cNvSpPr txBox="1"/>
          <p:nvPr/>
        </p:nvSpPr>
        <p:spPr>
          <a:xfrm>
            <a:off x="5106005" y="3883981"/>
            <a:ext cx="3504595" cy="1615827"/>
          </a:xfrm>
          <a:prstGeom prst="rect">
            <a:avLst/>
          </a:prstGeom>
          <a:noFill/>
          <a:ln>
            <a:solidFill>
              <a:srgbClr val="C00000"/>
            </a:solidFill>
          </a:ln>
        </p:spPr>
        <p:txBody>
          <a:bodyPr wrap="square" rtlCol="0">
            <a:spAutoFit/>
          </a:bodyPr>
          <a:lstStyle/>
          <a:p>
            <a:r>
              <a:rPr lang="en-US" sz="1100" dirty="0" smtClean="0"/>
              <a:t>Root cause:</a:t>
            </a:r>
          </a:p>
          <a:p>
            <a:r>
              <a:rPr lang="en-US" sz="1100" dirty="0" smtClean="0"/>
              <a:t>In Arad PMF,  an </a:t>
            </a:r>
            <a:r>
              <a:rPr lang="en-US" sz="1100" dirty="0"/>
              <a:t>existed PMF entry that qualifies the packets from VSI 4095 </a:t>
            </a:r>
            <a:r>
              <a:rPr lang="en-US" sz="1100" dirty="0" smtClean="0"/>
              <a:t>and </a:t>
            </a:r>
            <a:r>
              <a:rPr lang="en-US" sz="1100" dirty="0"/>
              <a:t> its  action is “drop”. </a:t>
            </a:r>
            <a:endParaRPr lang="en-US" sz="1100" dirty="0" smtClean="0"/>
          </a:p>
          <a:p>
            <a:r>
              <a:rPr lang="en-US" sz="1100" dirty="0"/>
              <a:t> </a:t>
            </a:r>
            <a:r>
              <a:rPr lang="en-US" sz="1100" dirty="0" smtClean="0"/>
              <a:t>  </a:t>
            </a:r>
            <a:r>
              <a:rPr lang="en-US" sz="1100" dirty="0"/>
              <a:t> So the ARP packets on </a:t>
            </a:r>
            <a:r>
              <a:rPr lang="en-US" sz="1100" dirty="0" smtClean="0"/>
              <a:t>MPLS compatible </a:t>
            </a:r>
            <a:r>
              <a:rPr lang="en-US" sz="1100" dirty="0"/>
              <a:t>port  out from VSI 4095 will be dropped.  </a:t>
            </a:r>
            <a:endParaRPr lang="en-US" sz="1100" dirty="0" smtClean="0"/>
          </a:p>
          <a:p>
            <a:endParaRPr lang="en-US" sz="1100" dirty="0"/>
          </a:p>
          <a:p>
            <a:r>
              <a:rPr lang="en-US" sz="1100" dirty="0" smtClean="0"/>
              <a:t>Solution:</a:t>
            </a:r>
          </a:p>
          <a:p>
            <a:r>
              <a:rPr lang="en-US" sz="1100" dirty="0" smtClean="0"/>
              <a:t>1. Improve  the priority of the  trapped ARP PMF entry higher then the drop packets from VSI 4095 PMF entry.</a:t>
            </a:r>
          </a:p>
        </p:txBody>
      </p:sp>
    </p:spTree>
    <p:extLst>
      <p:ext uri="{BB962C8B-B14F-4D97-AF65-F5344CB8AC3E}">
        <p14:creationId xmlns:p14="http://schemas.microsoft.com/office/powerpoint/2010/main" val="37807256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09600" y="533400"/>
            <a:ext cx="7772400" cy="369332"/>
          </a:xfrm>
          <a:prstGeom prst="rect">
            <a:avLst/>
          </a:prstGeom>
        </p:spPr>
        <p:txBody>
          <a:bodyPr wrap="square">
            <a:spAutoFit/>
          </a:bodyPr>
          <a:lstStyle/>
          <a:p>
            <a:r>
              <a:rPr lang="en-US" dirty="0" smtClean="0"/>
              <a:t>ISSUE5:  there is a crash when testing RFC2544 with </a:t>
            </a:r>
            <a:r>
              <a:rPr lang="en-US" dirty="0" err="1" smtClean="0"/>
              <a:t>vlan</a:t>
            </a:r>
            <a:r>
              <a:rPr lang="en-US" dirty="0" smtClean="0"/>
              <a:t>-xc mode at mTera4.</a:t>
            </a:r>
            <a:endParaRPr lang="en-US" dirty="0"/>
          </a:p>
        </p:txBody>
      </p:sp>
      <p:sp>
        <p:nvSpPr>
          <p:cNvPr id="5" name="Rectangle 4"/>
          <p:cNvSpPr/>
          <p:nvPr/>
        </p:nvSpPr>
        <p:spPr>
          <a:xfrm>
            <a:off x="1369699" y="1413682"/>
            <a:ext cx="1676400" cy="13896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b="1" dirty="0">
              <a:effectLst>
                <a:outerShdw blurRad="38100" dist="38100" dir="2700000" algn="tl">
                  <a:srgbClr val="000000">
                    <a:alpha val="43137"/>
                  </a:srgbClr>
                </a:outerShdw>
              </a:effectLst>
            </a:endParaRPr>
          </a:p>
        </p:txBody>
      </p:sp>
      <p:sp>
        <p:nvSpPr>
          <p:cNvPr id="7" name="Oval 6"/>
          <p:cNvSpPr/>
          <p:nvPr/>
        </p:nvSpPr>
        <p:spPr>
          <a:xfrm>
            <a:off x="2914533" y="1683990"/>
            <a:ext cx="228600" cy="24845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8" name="TextBox 7"/>
          <p:cNvSpPr txBox="1"/>
          <p:nvPr/>
        </p:nvSpPr>
        <p:spPr>
          <a:xfrm>
            <a:off x="3060155" y="2112340"/>
            <a:ext cx="401072" cy="276999"/>
          </a:xfrm>
          <a:prstGeom prst="rect">
            <a:avLst/>
          </a:prstGeom>
          <a:noFill/>
        </p:spPr>
        <p:txBody>
          <a:bodyPr wrap="none" rtlCol="0">
            <a:spAutoFit/>
          </a:bodyPr>
          <a:lstStyle/>
          <a:p>
            <a:r>
              <a:rPr lang="en-US" sz="1200" dirty="0" smtClean="0"/>
              <a:t>4/3</a:t>
            </a:r>
            <a:endParaRPr lang="en-US" sz="1200" dirty="0"/>
          </a:p>
        </p:txBody>
      </p:sp>
      <p:sp>
        <p:nvSpPr>
          <p:cNvPr id="9" name="TextBox 8"/>
          <p:cNvSpPr txBox="1"/>
          <p:nvPr/>
        </p:nvSpPr>
        <p:spPr>
          <a:xfrm>
            <a:off x="3028833" y="1471220"/>
            <a:ext cx="401072" cy="276999"/>
          </a:xfrm>
          <a:prstGeom prst="rect">
            <a:avLst/>
          </a:prstGeom>
          <a:noFill/>
        </p:spPr>
        <p:txBody>
          <a:bodyPr wrap="none" rtlCol="0">
            <a:spAutoFit/>
          </a:bodyPr>
          <a:lstStyle/>
          <a:p>
            <a:r>
              <a:rPr lang="en-US" sz="1200" dirty="0"/>
              <a:t>7</a:t>
            </a:r>
            <a:r>
              <a:rPr lang="en-US" sz="1200" dirty="0" smtClean="0"/>
              <a:t>/1</a:t>
            </a:r>
            <a:endParaRPr lang="en-US" sz="1200" dirty="0"/>
          </a:p>
        </p:txBody>
      </p:sp>
      <p:sp>
        <p:nvSpPr>
          <p:cNvPr id="12" name="Oval 11"/>
          <p:cNvSpPr/>
          <p:nvPr/>
        </p:nvSpPr>
        <p:spPr>
          <a:xfrm>
            <a:off x="2923165" y="2250839"/>
            <a:ext cx="219968" cy="2637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1376548" y="1431751"/>
            <a:ext cx="799233" cy="307777"/>
          </a:xfrm>
          <a:prstGeom prst="rect">
            <a:avLst/>
          </a:prstGeom>
          <a:noFill/>
        </p:spPr>
        <p:txBody>
          <a:bodyPr wrap="square" rtlCol="0">
            <a:spAutoFit/>
          </a:bodyPr>
          <a:lstStyle/>
          <a:p>
            <a:r>
              <a:rPr lang="en-US" sz="1400" dirty="0" smtClean="0">
                <a:solidFill>
                  <a:schemeClr val="bg1"/>
                </a:solidFill>
              </a:rPr>
              <a:t>NE: 104</a:t>
            </a:r>
            <a:endParaRPr lang="en-US" sz="1400" dirty="0">
              <a:solidFill>
                <a:schemeClr val="bg1"/>
              </a:solidFill>
            </a:endParaRPr>
          </a:p>
        </p:txBody>
      </p:sp>
      <p:cxnSp>
        <p:nvCxnSpPr>
          <p:cNvPr id="23" name="Straight Arrow Connector 22"/>
          <p:cNvCxnSpPr>
            <a:stCxn id="12" idx="6"/>
            <a:endCxn id="42" idx="2"/>
          </p:cNvCxnSpPr>
          <p:nvPr/>
        </p:nvCxnSpPr>
        <p:spPr>
          <a:xfrm flipV="1">
            <a:off x="3143133" y="2325581"/>
            <a:ext cx="1579948" cy="57139"/>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
        <p:nvSpPr>
          <p:cNvPr id="26" name="TextBox 25"/>
          <p:cNvSpPr txBox="1"/>
          <p:nvPr/>
        </p:nvSpPr>
        <p:spPr>
          <a:xfrm>
            <a:off x="1375166" y="3048000"/>
            <a:ext cx="5120427" cy="2492990"/>
          </a:xfrm>
          <a:prstGeom prst="rect">
            <a:avLst/>
          </a:prstGeom>
          <a:noFill/>
          <a:ln>
            <a:solidFill>
              <a:srgbClr val="C00000"/>
            </a:solidFill>
          </a:ln>
        </p:spPr>
        <p:txBody>
          <a:bodyPr wrap="square" rtlCol="0">
            <a:spAutoFit/>
          </a:bodyPr>
          <a:lstStyle/>
          <a:p>
            <a:r>
              <a:rPr lang="en-US" sz="1200" dirty="0"/>
              <a:t>RFC2544 Test </a:t>
            </a:r>
            <a:r>
              <a:rPr lang="en-US" sz="1200" dirty="0" err="1"/>
              <a:t>enviroment</a:t>
            </a:r>
            <a:r>
              <a:rPr lang="en-US" sz="1200" dirty="0" smtClean="0"/>
              <a:t>:</a:t>
            </a:r>
          </a:p>
          <a:p>
            <a:pPr marL="228600" indent="-228600">
              <a:buAutoNum type="arabicPeriod"/>
            </a:pPr>
            <a:r>
              <a:rPr lang="en-US" sz="1200" dirty="0" smtClean="0"/>
              <a:t>Create </a:t>
            </a:r>
            <a:r>
              <a:rPr lang="en-US" sz="1200" dirty="0" err="1"/>
              <a:t>vlan</a:t>
            </a:r>
            <a:r>
              <a:rPr lang="en-US" sz="1200" dirty="0"/>
              <a:t>-xc between </a:t>
            </a:r>
            <a:r>
              <a:rPr lang="en-US" sz="1200" dirty="0" err="1"/>
              <a:t>xg</a:t>
            </a:r>
            <a:r>
              <a:rPr lang="en-US" sz="1200" dirty="0"/>
              <a:t> 1/7 and </a:t>
            </a:r>
            <a:r>
              <a:rPr lang="en-US" sz="1200" dirty="0" err="1"/>
              <a:t>xg</a:t>
            </a:r>
            <a:r>
              <a:rPr lang="en-US" sz="1200" dirty="0"/>
              <a:t> 4/3 at NE 104</a:t>
            </a:r>
            <a:r>
              <a:rPr lang="en-US" sz="1200" dirty="0" smtClean="0"/>
              <a:t>.</a:t>
            </a:r>
          </a:p>
          <a:p>
            <a:pPr marL="228600" indent="-228600">
              <a:buAutoNum type="arabicPeriod"/>
            </a:pPr>
            <a:r>
              <a:rPr lang="en-US" sz="1200" dirty="0" smtClean="0"/>
              <a:t>Create </a:t>
            </a:r>
            <a:r>
              <a:rPr lang="en-US" sz="1200" dirty="0"/>
              <a:t>up </a:t>
            </a:r>
            <a:r>
              <a:rPr lang="en-US" sz="1200" dirty="0" err="1"/>
              <a:t>meps</a:t>
            </a:r>
            <a:r>
              <a:rPr lang="en-US" sz="1200" dirty="0"/>
              <a:t> at </a:t>
            </a:r>
            <a:r>
              <a:rPr lang="en-US" sz="1200" dirty="0" err="1"/>
              <a:t>xg</a:t>
            </a:r>
            <a:r>
              <a:rPr lang="en-US" sz="1200" dirty="0"/>
              <a:t> 7/1 NE 104 and </a:t>
            </a:r>
            <a:r>
              <a:rPr lang="en-US" sz="1200" dirty="0" err="1"/>
              <a:t>xg</a:t>
            </a:r>
            <a:r>
              <a:rPr lang="en-US" sz="1200" dirty="0"/>
              <a:t> </a:t>
            </a:r>
            <a:r>
              <a:rPr lang="en-US" sz="1200" dirty="0" smtClean="0"/>
              <a:t>4/1 </a:t>
            </a:r>
            <a:r>
              <a:rPr lang="en-US" sz="1200" dirty="0"/>
              <a:t>NE 103</a:t>
            </a:r>
            <a:r>
              <a:rPr lang="en-US" sz="1200" dirty="0" smtClean="0"/>
              <a:t>.</a:t>
            </a:r>
          </a:p>
          <a:p>
            <a:pPr marL="228600" indent="-228600">
              <a:buAutoNum type="arabicPeriod"/>
            </a:pPr>
            <a:r>
              <a:rPr lang="en-US" sz="1200" dirty="0" smtClean="0"/>
              <a:t>Run </a:t>
            </a:r>
            <a:r>
              <a:rPr lang="en-US" sz="1200" dirty="0"/>
              <a:t>RFC2544 with initial 10G bps between up </a:t>
            </a:r>
            <a:r>
              <a:rPr lang="en-US" sz="1200" dirty="0" err="1"/>
              <a:t>mep</a:t>
            </a:r>
            <a:r>
              <a:rPr lang="en-US" sz="1200" dirty="0"/>
              <a:t> on </a:t>
            </a:r>
            <a:r>
              <a:rPr lang="en-US" sz="1200" dirty="0" err="1"/>
              <a:t>xg</a:t>
            </a:r>
            <a:r>
              <a:rPr lang="en-US" sz="1200" dirty="0"/>
              <a:t> 7/1 and </a:t>
            </a:r>
            <a:r>
              <a:rPr lang="en-US" sz="1200" dirty="0" err="1"/>
              <a:t>xg</a:t>
            </a:r>
            <a:r>
              <a:rPr lang="en-US" sz="1200" dirty="0"/>
              <a:t> 4/3</a:t>
            </a:r>
            <a:r>
              <a:rPr lang="en-US" sz="1200" dirty="0" smtClean="0"/>
              <a:t>.</a:t>
            </a:r>
          </a:p>
          <a:p>
            <a:pPr marL="228600" indent="-228600">
              <a:buAutoNum type="arabicPeriod"/>
            </a:pPr>
            <a:r>
              <a:rPr lang="en-US" sz="1200" dirty="0" smtClean="0"/>
              <a:t>The </a:t>
            </a:r>
            <a:r>
              <a:rPr lang="en-US" sz="1200" dirty="0"/>
              <a:t>RFC2544 consists of Throughput, Latency and Loss frames test items. The Throughput and Latency tests are ok.  </a:t>
            </a:r>
            <a:endParaRPr lang="en-US" sz="1200" dirty="0" smtClean="0"/>
          </a:p>
          <a:p>
            <a:pPr marL="228600" indent="-228600">
              <a:buAutoNum type="arabicPeriod"/>
            </a:pPr>
            <a:r>
              <a:rPr lang="en-US" sz="1200" dirty="0" smtClean="0">
                <a:solidFill>
                  <a:srgbClr val="C00000"/>
                </a:solidFill>
                <a:effectLst>
                  <a:outerShdw blurRad="38100" dist="38100" dir="2700000" algn="tl">
                    <a:srgbClr val="000000">
                      <a:alpha val="43137"/>
                    </a:srgbClr>
                  </a:outerShdw>
                </a:effectLst>
              </a:rPr>
              <a:t>However </a:t>
            </a:r>
            <a:r>
              <a:rPr lang="en-US" sz="1200" dirty="0">
                <a:solidFill>
                  <a:srgbClr val="C00000"/>
                </a:solidFill>
                <a:effectLst>
                  <a:outerShdw blurRad="38100" dist="38100" dir="2700000" algn="tl">
                    <a:srgbClr val="000000">
                      <a:alpha val="43137"/>
                    </a:srgbClr>
                  </a:outerShdw>
                </a:effectLst>
              </a:rPr>
              <a:t>there is a crash occurred when running the loss frame test in RFC2544</a:t>
            </a:r>
            <a:r>
              <a:rPr lang="en-US" sz="1200" dirty="0" smtClean="0">
                <a:solidFill>
                  <a:srgbClr val="C00000"/>
                </a:solidFill>
                <a:effectLst>
                  <a:outerShdw blurRad="38100" dist="38100" dir="2700000" algn="tl">
                    <a:srgbClr val="000000">
                      <a:alpha val="43137"/>
                    </a:srgbClr>
                  </a:outerShdw>
                </a:effectLst>
              </a:rPr>
              <a:t>.</a:t>
            </a:r>
          </a:p>
          <a:p>
            <a:r>
              <a:rPr lang="en-US" sz="1200" dirty="0" smtClean="0">
                <a:solidFill>
                  <a:srgbClr val="C00000"/>
                </a:solidFill>
                <a:effectLst>
                  <a:outerShdw blurRad="38100" dist="38100" dir="2700000" algn="tl">
                    <a:srgbClr val="000000">
                      <a:alpha val="43137"/>
                    </a:srgbClr>
                  </a:outerShdw>
                </a:effectLst>
              </a:rPr>
              <a:t>      Crash </a:t>
            </a:r>
            <a:r>
              <a:rPr lang="en-US" sz="1200" dirty="0">
                <a:solidFill>
                  <a:srgbClr val="C00000"/>
                </a:solidFill>
                <a:effectLst>
                  <a:outerShdw blurRad="38100" dist="38100" dir="2700000" algn="tl">
                    <a:srgbClr val="000000">
                      <a:alpha val="43137"/>
                    </a:srgbClr>
                  </a:outerShdw>
                </a:effectLst>
              </a:rPr>
              <a:t>trace:  a monitor task to read SFP status causes the crash. </a:t>
            </a:r>
            <a:endParaRPr lang="en-US" sz="1200" dirty="0" smtClean="0">
              <a:solidFill>
                <a:srgbClr val="C00000"/>
              </a:solidFill>
              <a:effectLst>
                <a:outerShdw blurRad="38100" dist="38100" dir="2700000" algn="tl">
                  <a:srgbClr val="000000">
                    <a:alpha val="43137"/>
                  </a:srgbClr>
                </a:outerShdw>
              </a:effectLst>
            </a:endParaRPr>
          </a:p>
          <a:p>
            <a:r>
              <a:rPr lang="en-US" sz="1200" dirty="0">
                <a:solidFill>
                  <a:srgbClr val="C00000"/>
                </a:solidFill>
                <a:effectLst>
                  <a:outerShdw blurRad="38100" dist="38100" dir="2700000" algn="tl">
                    <a:srgbClr val="000000">
                      <a:alpha val="43137"/>
                    </a:srgbClr>
                  </a:outerShdw>
                </a:effectLst>
              </a:rPr>
              <a:t> </a:t>
            </a:r>
            <a:r>
              <a:rPr lang="en-US" sz="1200" dirty="0" smtClean="0">
                <a:solidFill>
                  <a:srgbClr val="C00000"/>
                </a:solidFill>
                <a:effectLst>
                  <a:outerShdw blurRad="38100" dist="38100" dir="2700000" algn="tl">
                    <a:srgbClr val="000000">
                      <a:alpha val="43137"/>
                    </a:srgbClr>
                  </a:outerShdw>
                </a:effectLst>
              </a:rPr>
              <a:t>     FPGA </a:t>
            </a:r>
            <a:r>
              <a:rPr lang="en-US" sz="1200" dirty="0">
                <a:solidFill>
                  <a:srgbClr val="C00000"/>
                </a:solidFill>
                <a:effectLst>
                  <a:outerShdw blurRad="38100" dist="38100" dir="2700000" algn="tl">
                    <a:srgbClr val="000000">
                      <a:alpha val="43137"/>
                    </a:srgbClr>
                  </a:outerShdw>
                </a:effectLst>
              </a:rPr>
              <a:t>looks </a:t>
            </a:r>
            <a:r>
              <a:rPr lang="en-US" sz="1200" dirty="0" smtClean="0">
                <a:solidFill>
                  <a:srgbClr val="C00000"/>
                </a:solidFill>
                <a:effectLst>
                  <a:outerShdw blurRad="38100" dist="38100" dir="2700000" algn="tl">
                    <a:srgbClr val="000000">
                      <a:alpha val="43137"/>
                    </a:srgbClr>
                  </a:outerShdw>
                </a:effectLst>
              </a:rPr>
              <a:t>abnormal </a:t>
            </a:r>
            <a:r>
              <a:rPr lang="en-US" sz="1200" dirty="0">
                <a:solidFill>
                  <a:srgbClr val="C00000"/>
                </a:solidFill>
                <a:effectLst>
                  <a:outerShdw blurRad="38100" dist="38100" dir="2700000" algn="tl">
                    <a:srgbClr val="000000">
                      <a:alpha val="43137"/>
                    </a:srgbClr>
                  </a:outerShdw>
                </a:effectLst>
              </a:rPr>
              <a:t>work. (Detail information in </a:t>
            </a:r>
            <a:r>
              <a:rPr lang="en-US" sz="1200" dirty="0" smtClean="0">
                <a:solidFill>
                  <a:srgbClr val="C00000"/>
                </a:solidFill>
                <a:effectLst>
                  <a:outerShdw blurRad="38100" dist="38100" dir="2700000" algn="tl">
                    <a:srgbClr val="000000">
                      <a:alpha val="43137"/>
                    </a:srgbClr>
                  </a:outerShdw>
                </a:effectLst>
              </a:rPr>
              <a:t>attached crashed </a:t>
            </a:r>
            <a:r>
              <a:rPr lang="en-US" sz="1200" dirty="0">
                <a:solidFill>
                  <a:srgbClr val="C00000"/>
                </a:solidFill>
                <a:effectLst>
                  <a:outerShdw blurRad="38100" dist="38100" dir="2700000" algn="tl">
                    <a:srgbClr val="000000">
                      <a:alpha val="43137"/>
                    </a:srgbClr>
                  </a:outerShdw>
                </a:effectLst>
              </a:rPr>
              <a:t>log</a:t>
            </a:r>
            <a:r>
              <a:rPr lang="en-US" sz="1200" dirty="0" smtClean="0">
                <a:solidFill>
                  <a:srgbClr val="C00000"/>
                </a:solidFill>
                <a:effectLst>
                  <a:outerShdw blurRad="38100" dist="38100" dir="2700000" algn="tl">
                    <a:srgbClr val="000000">
                      <a:alpha val="43137"/>
                    </a:srgbClr>
                  </a:outerShdw>
                </a:effectLst>
              </a:rPr>
              <a:t>).</a:t>
            </a:r>
            <a:endParaRPr lang="en-US" sz="1200" dirty="0">
              <a:solidFill>
                <a:srgbClr val="C00000"/>
              </a:solidFill>
              <a:effectLst>
                <a:outerShdw blurRad="38100" dist="38100" dir="2700000" algn="tl">
                  <a:srgbClr val="000000">
                    <a:alpha val="43137"/>
                  </a:srgbClr>
                </a:outerShdw>
              </a:effectLst>
            </a:endParaRPr>
          </a:p>
          <a:p>
            <a:r>
              <a:rPr lang="en-US" sz="1200" dirty="0" smtClean="0">
                <a:solidFill>
                  <a:srgbClr val="C00000"/>
                </a:solidFill>
                <a:effectLst>
                  <a:outerShdw blurRad="38100" dist="38100" dir="2700000" algn="tl">
                    <a:srgbClr val="000000">
                      <a:alpha val="43137"/>
                    </a:srgbClr>
                  </a:outerShdw>
                </a:effectLst>
              </a:rPr>
              <a:t>      Warm </a:t>
            </a:r>
            <a:r>
              <a:rPr lang="en-US" sz="1200" dirty="0">
                <a:solidFill>
                  <a:srgbClr val="C00000"/>
                </a:solidFill>
                <a:effectLst>
                  <a:outerShdw blurRad="38100" dist="38100" dir="2700000" algn="tl">
                    <a:srgbClr val="000000">
                      <a:alpha val="43137"/>
                    </a:srgbClr>
                  </a:outerShdw>
                </a:effectLst>
              </a:rPr>
              <a:t>reboot can’t start up after system crash.  It runs at initialized pcie3 </a:t>
            </a:r>
            <a:r>
              <a:rPr lang="en-US" sz="1200" dirty="0" smtClean="0">
                <a:solidFill>
                  <a:srgbClr val="C00000"/>
                </a:solidFill>
                <a:effectLst>
                  <a:outerShdw blurRad="38100" dist="38100" dir="2700000" algn="tl">
                    <a:srgbClr val="000000">
                      <a:alpha val="43137"/>
                    </a:srgbClr>
                  </a:outerShdw>
                </a:effectLst>
              </a:rPr>
              <a:t>   and </a:t>
            </a:r>
            <a:r>
              <a:rPr lang="en-US" sz="1200" dirty="0">
                <a:solidFill>
                  <a:srgbClr val="C00000"/>
                </a:solidFill>
                <a:effectLst>
                  <a:outerShdw blurRad="38100" dist="38100" dir="2700000" algn="tl">
                    <a:srgbClr val="000000">
                      <a:alpha val="43137"/>
                    </a:srgbClr>
                  </a:outerShdw>
                </a:effectLst>
              </a:rPr>
              <a:t>then reboot again. (Detail in attached </a:t>
            </a:r>
            <a:r>
              <a:rPr lang="en-US" sz="1200" dirty="0" err="1" smtClean="0">
                <a:solidFill>
                  <a:srgbClr val="C00000"/>
                </a:solidFill>
                <a:effectLst>
                  <a:outerShdw blurRad="38100" dist="38100" dir="2700000" algn="tl">
                    <a:srgbClr val="000000">
                      <a:alpha val="43137"/>
                    </a:srgbClr>
                  </a:outerShdw>
                </a:effectLst>
              </a:rPr>
              <a:t>warmreboot</a:t>
            </a:r>
            <a:r>
              <a:rPr lang="en-US" sz="1200" dirty="0" smtClean="0">
                <a:solidFill>
                  <a:srgbClr val="C00000"/>
                </a:solidFill>
                <a:effectLst>
                  <a:outerShdw blurRad="38100" dist="38100" dir="2700000" algn="tl">
                    <a:srgbClr val="000000">
                      <a:alpha val="43137"/>
                    </a:srgbClr>
                  </a:outerShdw>
                </a:effectLst>
              </a:rPr>
              <a:t> log).</a:t>
            </a:r>
          </a:p>
          <a:p>
            <a:r>
              <a:rPr lang="en-US" sz="1200" dirty="0" smtClean="0"/>
              <a:t>6.   Plug </a:t>
            </a:r>
            <a:r>
              <a:rPr lang="en-US" sz="1200" dirty="0"/>
              <a:t>out and then plug in the line card,   system starts up fine</a:t>
            </a:r>
            <a:r>
              <a:rPr lang="en-US" sz="1200" dirty="0" smtClean="0"/>
              <a:t>.</a:t>
            </a:r>
            <a:endParaRPr lang="en-US" sz="1200" dirty="0" smtClean="0">
              <a:solidFill>
                <a:srgbClr val="C00000"/>
              </a:solidFill>
            </a:endParaRPr>
          </a:p>
        </p:txBody>
      </p:sp>
      <p:sp>
        <p:nvSpPr>
          <p:cNvPr id="38" name="TextBox 37"/>
          <p:cNvSpPr txBox="1"/>
          <p:nvPr/>
        </p:nvSpPr>
        <p:spPr>
          <a:xfrm>
            <a:off x="1794781" y="1748219"/>
            <a:ext cx="688009" cy="369332"/>
          </a:xfrm>
          <a:prstGeom prst="rect">
            <a:avLst/>
          </a:prstGeom>
          <a:solidFill>
            <a:srgbClr val="FFC000"/>
          </a:solidFill>
        </p:spPr>
        <p:txBody>
          <a:bodyPr wrap="none" rtlCol="0">
            <a:spAutoFit/>
          </a:bodyPr>
          <a:lstStyle/>
          <a:p>
            <a:r>
              <a:rPr lang="en-US" dirty="0" smtClean="0">
                <a:solidFill>
                  <a:schemeClr val="bg1"/>
                </a:solidFill>
              </a:rPr>
              <a:t>FPGA</a:t>
            </a:r>
            <a:endParaRPr lang="en-US" dirty="0">
              <a:solidFill>
                <a:schemeClr val="bg1"/>
              </a:solidFill>
            </a:endParaRPr>
          </a:p>
        </p:txBody>
      </p:sp>
      <p:sp>
        <p:nvSpPr>
          <p:cNvPr id="41" name="Rectangle 40"/>
          <p:cNvSpPr/>
          <p:nvPr/>
        </p:nvSpPr>
        <p:spPr>
          <a:xfrm>
            <a:off x="4819193" y="1460822"/>
            <a:ext cx="1676400" cy="13425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b="1" dirty="0">
              <a:effectLst>
                <a:outerShdw blurRad="38100" dist="38100" dir="2700000" algn="tl">
                  <a:srgbClr val="000000">
                    <a:alpha val="43137"/>
                  </a:srgbClr>
                </a:outerShdw>
              </a:effectLst>
            </a:endParaRPr>
          </a:p>
        </p:txBody>
      </p:sp>
      <p:sp>
        <p:nvSpPr>
          <p:cNvPr id="42" name="Oval 41"/>
          <p:cNvSpPr/>
          <p:nvPr/>
        </p:nvSpPr>
        <p:spPr>
          <a:xfrm>
            <a:off x="4723081" y="2242552"/>
            <a:ext cx="176430" cy="1660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44" name="TextBox 43"/>
          <p:cNvSpPr txBox="1"/>
          <p:nvPr/>
        </p:nvSpPr>
        <p:spPr>
          <a:xfrm>
            <a:off x="4443158" y="1985366"/>
            <a:ext cx="401072" cy="276999"/>
          </a:xfrm>
          <a:prstGeom prst="rect">
            <a:avLst/>
          </a:prstGeom>
          <a:noFill/>
        </p:spPr>
        <p:txBody>
          <a:bodyPr wrap="none" rtlCol="0">
            <a:spAutoFit/>
          </a:bodyPr>
          <a:lstStyle/>
          <a:p>
            <a:r>
              <a:rPr lang="en-US" sz="1200" dirty="0" smtClean="0"/>
              <a:t>4/3</a:t>
            </a:r>
            <a:endParaRPr lang="en-US" sz="1200" dirty="0"/>
          </a:p>
        </p:txBody>
      </p:sp>
      <p:sp>
        <p:nvSpPr>
          <p:cNvPr id="46" name="TextBox 45"/>
          <p:cNvSpPr txBox="1"/>
          <p:nvPr/>
        </p:nvSpPr>
        <p:spPr>
          <a:xfrm>
            <a:off x="4844230" y="1454164"/>
            <a:ext cx="799233" cy="307777"/>
          </a:xfrm>
          <a:prstGeom prst="rect">
            <a:avLst/>
          </a:prstGeom>
          <a:noFill/>
        </p:spPr>
        <p:txBody>
          <a:bodyPr wrap="square" rtlCol="0">
            <a:spAutoFit/>
          </a:bodyPr>
          <a:lstStyle/>
          <a:p>
            <a:r>
              <a:rPr lang="en-US" sz="1400" dirty="0" smtClean="0">
                <a:solidFill>
                  <a:schemeClr val="bg1"/>
                </a:solidFill>
              </a:rPr>
              <a:t>NE: 103</a:t>
            </a:r>
            <a:endParaRPr lang="en-US" sz="1400" dirty="0">
              <a:solidFill>
                <a:schemeClr val="bg1"/>
              </a:solidFill>
            </a:endParaRPr>
          </a:p>
        </p:txBody>
      </p:sp>
      <p:sp>
        <p:nvSpPr>
          <p:cNvPr id="47" name="TextBox 46"/>
          <p:cNvSpPr txBox="1"/>
          <p:nvPr/>
        </p:nvSpPr>
        <p:spPr>
          <a:xfrm>
            <a:off x="5262463" y="1770632"/>
            <a:ext cx="688009" cy="369332"/>
          </a:xfrm>
          <a:prstGeom prst="rect">
            <a:avLst/>
          </a:prstGeom>
          <a:solidFill>
            <a:srgbClr val="FFC000"/>
          </a:solidFill>
        </p:spPr>
        <p:txBody>
          <a:bodyPr wrap="none" rtlCol="0">
            <a:spAutoFit/>
          </a:bodyPr>
          <a:lstStyle/>
          <a:p>
            <a:r>
              <a:rPr lang="en-US" dirty="0" smtClean="0">
                <a:solidFill>
                  <a:schemeClr val="bg1"/>
                </a:solidFill>
              </a:rPr>
              <a:t>FPGA</a:t>
            </a:r>
            <a:endParaRPr lang="en-US" dirty="0">
              <a:solidFill>
                <a:schemeClr val="bg1"/>
              </a:solidFill>
            </a:endParaRPr>
          </a:p>
        </p:txBody>
      </p:sp>
      <p:cxnSp>
        <p:nvCxnSpPr>
          <p:cNvPr id="56" name="Straight Arrow Connector 55"/>
          <p:cNvCxnSpPr>
            <a:stCxn id="42" idx="6"/>
          </p:cNvCxnSpPr>
          <p:nvPr/>
        </p:nvCxnSpPr>
        <p:spPr>
          <a:xfrm flipV="1">
            <a:off x="4899511" y="2123867"/>
            <a:ext cx="344335" cy="201714"/>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86" name="Straight Arrow Connector 85"/>
          <p:cNvCxnSpPr>
            <a:stCxn id="42" idx="4"/>
            <a:endCxn id="12" idx="5"/>
          </p:cNvCxnSpPr>
          <p:nvPr/>
        </p:nvCxnSpPr>
        <p:spPr>
          <a:xfrm flipH="1">
            <a:off x="3110919" y="2408610"/>
            <a:ext cx="1700377" cy="67363"/>
          </a:xfrm>
          <a:prstGeom prst="straightConnector1">
            <a:avLst/>
          </a:prstGeom>
          <a:ln>
            <a:prstDash val="solid"/>
            <a:tailEnd type="arrow"/>
          </a:ln>
        </p:spPr>
        <p:style>
          <a:lnRef idx="2">
            <a:schemeClr val="accent3"/>
          </a:lnRef>
          <a:fillRef idx="0">
            <a:schemeClr val="accent3"/>
          </a:fillRef>
          <a:effectRef idx="1">
            <a:schemeClr val="accent3"/>
          </a:effectRef>
          <a:fontRef idx="minor">
            <a:schemeClr val="tx1"/>
          </a:fontRef>
        </p:style>
      </p:cxnSp>
      <p:sp>
        <p:nvSpPr>
          <p:cNvPr id="92" name="TextBox 91"/>
          <p:cNvSpPr txBox="1"/>
          <p:nvPr/>
        </p:nvSpPr>
        <p:spPr>
          <a:xfrm>
            <a:off x="3060155" y="1623550"/>
            <a:ext cx="679994" cy="276999"/>
          </a:xfrm>
          <a:prstGeom prst="rect">
            <a:avLst/>
          </a:prstGeom>
          <a:noFill/>
        </p:spPr>
        <p:txBody>
          <a:bodyPr wrap="none" rtlCol="0">
            <a:spAutoFit/>
          </a:bodyPr>
          <a:lstStyle/>
          <a:p>
            <a:r>
              <a:rPr lang="en-US" sz="1200" dirty="0" smtClean="0"/>
              <a:t>Up </a:t>
            </a:r>
            <a:r>
              <a:rPr lang="en-US" sz="1200" dirty="0" err="1" smtClean="0"/>
              <a:t>mep</a:t>
            </a:r>
            <a:endParaRPr lang="en-US" sz="1200" dirty="0"/>
          </a:p>
        </p:txBody>
      </p:sp>
      <p:sp>
        <p:nvSpPr>
          <p:cNvPr id="93" name="TextBox 92"/>
          <p:cNvSpPr txBox="1"/>
          <p:nvPr/>
        </p:nvSpPr>
        <p:spPr>
          <a:xfrm>
            <a:off x="2514600" y="1905000"/>
            <a:ext cx="670044" cy="246221"/>
          </a:xfrm>
          <a:prstGeom prst="rect">
            <a:avLst/>
          </a:prstGeom>
          <a:noFill/>
        </p:spPr>
        <p:txBody>
          <a:bodyPr wrap="square" rtlCol="0">
            <a:spAutoFit/>
          </a:bodyPr>
          <a:lstStyle/>
          <a:p>
            <a:r>
              <a:rPr lang="en-US" sz="1000" dirty="0" err="1" smtClean="0">
                <a:solidFill>
                  <a:schemeClr val="bg1"/>
                </a:solidFill>
              </a:rPr>
              <a:t>Vlan</a:t>
            </a:r>
            <a:r>
              <a:rPr lang="en-US" sz="1000" dirty="0" smtClean="0">
                <a:solidFill>
                  <a:schemeClr val="bg1"/>
                </a:solidFill>
              </a:rPr>
              <a:t>-XC</a:t>
            </a:r>
            <a:endParaRPr lang="en-US" sz="1000" dirty="0">
              <a:solidFill>
                <a:schemeClr val="bg1"/>
              </a:solidFill>
            </a:endParaRPr>
          </a:p>
        </p:txBody>
      </p:sp>
      <p:sp>
        <p:nvSpPr>
          <p:cNvPr id="94" name="TextBox 93"/>
          <p:cNvSpPr txBox="1"/>
          <p:nvPr/>
        </p:nvSpPr>
        <p:spPr>
          <a:xfrm>
            <a:off x="4780917" y="2313802"/>
            <a:ext cx="679994" cy="276999"/>
          </a:xfrm>
          <a:prstGeom prst="rect">
            <a:avLst/>
          </a:prstGeom>
          <a:noFill/>
        </p:spPr>
        <p:txBody>
          <a:bodyPr wrap="none" rtlCol="0">
            <a:spAutoFit/>
          </a:bodyPr>
          <a:lstStyle/>
          <a:p>
            <a:r>
              <a:rPr lang="en-US" sz="1200" dirty="0" smtClean="0"/>
              <a:t>Up </a:t>
            </a:r>
            <a:r>
              <a:rPr lang="en-US" sz="1200" dirty="0" err="1" smtClean="0"/>
              <a:t>mep</a:t>
            </a:r>
            <a:endParaRPr lang="en-US" sz="1200" dirty="0"/>
          </a:p>
        </p:txBody>
      </p:sp>
      <p:cxnSp>
        <p:nvCxnSpPr>
          <p:cNvPr id="95" name="Straight Arrow Connector 94"/>
          <p:cNvCxnSpPr>
            <a:stCxn id="47" idx="2"/>
          </p:cNvCxnSpPr>
          <p:nvPr/>
        </p:nvCxnSpPr>
        <p:spPr>
          <a:xfrm flipH="1">
            <a:off x="4963696" y="2139964"/>
            <a:ext cx="642772" cy="249376"/>
          </a:xfrm>
          <a:prstGeom prst="straightConnector1">
            <a:avLst/>
          </a:prstGeom>
          <a:ln>
            <a:prstDash val="solid"/>
            <a:tailEnd type="arrow"/>
          </a:ln>
        </p:spPr>
        <p:style>
          <a:lnRef idx="2">
            <a:schemeClr val="accent3"/>
          </a:lnRef>
          <a:fillRef idx="0">
            <a:schemeClr val="accent3"/>
          </a:fillRef>
          <a:effectRef idx="1">
            <a:schemeClr val="accent3"/>
          </a:effectRef>
          <a:fontRef idx="minor">
            <a:schemeClr val="tx1"/>
          </a:fontRef>
        </p:style>
      </p:cxnSp>
      <p:cxnSp>
        <p:nvCxnSpPr>
          <p:cNvPr id="97" name="Straight Arrow Connector 96"/>
          <p:cNvCxnSpPr>
            <a:endCxn id="38" idx="2"/>
          </p:cNvCxnSpPr>
          <p:nvPr/>
        </p:nvCxnSpPr>
        <p:spPr>
          <a:xfrm flipH="1" flipV="1">
            <a:off x="2138786" y="2117551"/>
            <a:ext cx="841082" cy="334750"/>
          </a:xfrm>
          <a:prstGeom prst="straightConnector1">
            <a:avLst/>
          </a:prstGeom>
          <a:ln>
            <a:prstDash val="solid"/>
            <a:tailEnd type="arrow"/>
          </a:ln>
        </p:spPr>
        <p:style>
          <a:lnRef idx="2">
            <a:schemeClr val="accent3"/>
          </a:lnRef>
          <a:fillRef idx="0">
            <a:schemeClr val="accent3"/>
          </a:fillRef>
          <a:effectRef idx="1">
            <a:schemeClr val="accent3"/>
          </a:effectRef>
          <a:fontRef idx="minor">
            <a:schemeClr val="tx1"/>
          </a:fontRef>
        </p:style>
      </p:cxnSp>
      <p:cxnSp>
        <p:nvCxnSpPr>
          <p:cNvPr id="99" name="Straight Arrow Connector 98"/>
          <p:cNvCxnSpPr>
            <a:endCxn id="12" idx="1"/>
          </p:cNvCxnSpPr>
          <p:nvPr/>
        </p:nvCxnSpPr>
        <p:spPr>
          <a:xfrm>
            <a:off x="2482790" y="1985366"/>
            <a:ext cx="472589" cy="30410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102" name="Straight Arrow Connector 101"/>
          <p:cNvCxnSpPr>
            <a:stCxn id="7" idx="2"/>
          </p:cNvCxnSpPr>
          <p:nvPr/>
        </p:nvCxnSpPr>
        <p:spPr>
          <a:xfrm flipH="1">
            <a:off x="2482790" y="1808217"/>
            <a:ext cx="431743" cy="147080"/>
          </a:xfrm>
          <a:prstGeom prst="straightConnector1">
            <a:avLst/>
          </a:prstGeom>
          <a:ln>
            <a:prstDash val="dash"/>
            <a:tailEnd type="arrow"/>
          </a:ln>
        </p:spPr>
        <p:style>
          <a:lnRef idx="2">
            <a:schemeClr val="accent6"/>
          </a:lnRef>
          <a:fillRef idx="0">
            <a:schemeClr val="accent6"/>
          </a:fillRef>
          <a:effectRef idx="1">
            <a:schemeClr val="accent6"/>
          </a:effectRef>
          <a:fontRef idx="minor">
            <a:schemeClr val="tx1"/>
          </a:fontRef>
        </p:style>
      </p:cxnSp>
      <p:sp>
        <p:nvSpPr>
          <p:cNvPr id="108" name="TextBox 107"/>
          <p:cNvSpPr txBox="1"/>
          <p:nvPr/>
        </p:nvSpPr>
        <p:spPr>
          <a:xfrm>
            <a:off x="3348407" y="2092540"/>
            <a:ext cx="1243542" cy="261610"/>
          </a:xfrm>
          <a:prstGeom prst="rect">
            <a:avLst/>
          </a:prstGeom>
          <a:noFill/>
        </p:spPr>
        <p:txBody>
          <a:bodyPr wrap="square" rtlCol="0">
            <a:spAutoFit/>
          </a:bodyPr>
          <a:lstStyle/>
          <a:p>
            <a:r>
              <a:rPr lang="en-US" sz="1100" dirty="0" smtClean="0">
                <a:solidFill>
                  <a:srgbClr val="C00000"/>
                </a:solidFill>
                <a:effectLst>
                  <a:outerShdw blurRad="38100" dist="38100" dir="2700000" algn="tl">
                    <a:srgbClr val="000000">
                      <a:alpha val="43137"/>
                    </a:srgbClr>
                  </a:outerShdw>
                </a:effectLst>
              </a:rPr>
              <a:t>LBM/DMM</a:t>
            </a:r>
            <a:endParaRPr lang="en-US" sz="1100" dirty="0">
              <a:solidFill>
                <a:srgbClr val="C00000"/>
              </a:solidFill>
              <a:effectLst>
                <a:outerShdw blurRad="38100" dist="38100" dir="2700000" algn="tl">
                  <a:srgbClr val="000000">
                    <a:alpha val="43137"/>
                  </a:srgbClr>
                </a:outerShdw>
              </a:effectLst>
            </a:endParaRPr>
          </a:p>
        </p:txBody>
      </p:sp>
      <p:sp>
        <p:nvSpPr>
          <p:cNvPr id="109" name="TextBox 108"/>
          <p:cNvSpPr txBox="1"/>
          <p:nvPr/>
        </p:nvSpPr>
        <p:spPr>
          <a:xfrm>
            <a:off x="3355564" y="2481991"/>
            <a:ext cx="1155086" cy="261610"/>
          </a:xfrm>
          <a:prstGeom prst="rect">
            <a:avLst/>
          </a:prstGeom>
          <a:noFill/>
        </p:spPr>
        <p:txBody>
          <a:bodyPr wrap="square" rtlCol="0">
            <a:spAutoFit/>
          </a:bodyPr>
          <a:lstStyle/>
          <a:p>
            <a:r>
              <a:rPr lang="en-US" sz="1100" dirty="0" smtClean="0">
                <a:solidFill>
                  <a:srgbClr val="92D050"/>
                </a:solidFill>
                <a:effectLst>
                  <a:outerShdw blurRad="38100" dist="38100" dir="2700000" algn="tl">
                    <a:srgbClr val="000000">
                      <a:alpha val="43137"/>
                    </a:srgbClr>
                  </a:outerShdw>
                </a:effectLst>
              </a:rPr>
              <a:t>LBR/DMR</a:t>
            </a:r>
            <a:endParaRPr lang="en-US" sz="1100" dirty="0">
              <a:solidFill>
                <a:srgbClr val="92D050"/>
              </a:solidFill>
              <a:effectLst>
                <a:outerShdw blurRad="38100" dist="38100" dir="2700000" algn="tl">
                  <a:srgbClr val="000000">
                    <a:alpha val="43137"/>
                  </a:srgbClr>
                </a:outerShdw>
              </a:effectLst>
            </a:endParaRPr>
          </a:p>
        </p:txBody>
      </p:sp>
      <p:sp>
        <p:nvSpPr>
          <p:cNvPr id="117" name="Rectangle 116"/>
          <p:cNvSpPr/>
          <p:nvPr/>
        </p:nvSpPr>
        <p:spPr>
          <a:xfrm>
            <a:off x="914400" y="5943600"/>
            <a:ext cx="5791376" cy="276999"/>
          </a:xfrm>
          <a:prstGeom prst="rect">
            <a:avLst/>
          </a:prstGeom>
          <a:ln>
            <a:solidFill>
              <a:srgbClr val="C00000"/>
            </a:solidFill>
          </a:ln>
        </p:spPr>
        <p:txBody>
          <a:bodyPr wrap="square">
            <a:spAutoFit/>
          </a:bodyPr>
          <a:lstStyle/>
          <a:p>
            <a:r>
              <a:rPr lang="en-US" sz="1200" u="sng" dirty="0" smtClean="0">
                <a:hlinkClick r:id="rId2"/>
              </a:rPr>
              <a:t>POCM-476</a:t>
            </a:r>
            <a:r>
              <a:rPr lang="en-US" sz="1200" u="sng" dirty="0" smtClean="0"/>
              <a:t> </a:t>
            </a:r>
            <a:r>
              <a:rPr lang="en-US" sz="1200" dirty="0" smtClean="0"/>
              <a:t>RFC2544</a:t>
            </a:r>
            <a:r>
              <a:rPr lang="en-US" sz="1200" dirty="0"/>
              <a:t>: </a:t>
            </a:r>
            <a:r>
              <a:rPr lang="en-US" sz="1200" dirty="0" err="1"/>
              <a:t>Frameloss</a:t>
            </a:r>
            <a:r>
              <a:rPr lang="en-US" sz="1200" dirty="0"/>
              <a:t> report Partially Completed with VLAN XC mode</a:t>
            </a:r>
          </a:p>
        </p:txBody>
      </p:sp>
      <p:sp>
        <p:nvSpPr>
          <p:cNvPr id="29" name="Oval 28"/>
          <p:cNvSpPr/>
          <p:nvPr/>
        </p:nvSpPr>
        <p:spPr>
          <a:xfrm>
            <a:off x="4696996" y="1650747"/>
            <a:ext cx="228600" cy="24845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30" name="TextBox 29"/>
          <p:cNvSpPr txBox="1"/>
          <p:nvPr/>
        </p:nvSpPr>
        <p:spPr>
          <a:xfrm>
            <a:off x="4383084" y="1434197"/>
            <a:ext cx="401072" cy="276999"/>
          </a:xfrm>
          <a:prstGeom prst="rect">
            <a:avLst/>
          </a:prstGeom>
          <a:noFill/>
        </p:spPr>
        <p:txBody>
          <a:bodyPr wrap="none" rtlCol="0">
            <a:spAutoFit/>
          </a:bodyPr>
          <a:lstStyle/>
          <a:p>
            <a:r>
              <a:rPr lang="en-US" sz="1200" dirty="0" smtClean="0"/>
              <a:t>4/1</a:t>
            </a:r>
            <a:endParaRPr lang="en-US" sz="1200" dirty="0"/>
          </a:p>
        </p:txBody>
      </p:sp>
      <p:sp>
        <p:nvSpPr>
          <p:cNvPr id="31" name="TextBox 30"/>
          <p:cNvSpPr txBox="1"/>
          <p:nvPr/>
        </p:nvSpPr>
        <p:spPr>
          <a:xfrm>
            <a:off x="4043087" y="1632132"/>
            <a:ext cx="679994" cy="276999"/>
          </a:xfrm>
          <a:prstGeom prst="rect">
            <a:avLst/>
          </a:prstGeom>
          <a:noFill/>
        </p:spPr>
        <p:txBody>
          <a:bodyPr wrap="none" rtlCol="0">
            <a:spAutoFit/>
          </a:bodyPr>
          <a:lstStyle/>
          <a:p>
            <a:r>
              <a:rPr lang="en-US" sz="1200" dirty="0" smtClean="0"/>
              <a:t>Up </a:t>
            </a:r>
            <a:r>
              <a:rPr lang="en-US" sz="1200" dirty="0" err="1" smtClean="0"/>
              <a:t>mep</a:t>
            </a:r>
            <a:endParaRPr lang="en-US" sz="1200" dirty="0"/>
          </a:p>
        </p:txBody>
      </p:sp>
    </p:spTree>
    <p:extLst>
      <p:ext uri="{BB962C8B-B14F-4D97-AF65-F5344CB8AC3E}">
        <p14:creationId xmlns:p14="http://schemas.microsoft.com/office/powerpoint/2010/main" val="10474690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09600" y="182563"/>
            <a:ext cx="7772400" cy="369332"/>
          </a:xfrm>
          <a:prstGeom prst="rect">
            <a:avLst/>
          </a:prstGeom>
        </p:spPr>
        <p:txBody>
          <a:bodyPr wrap="square">
            <a:spAutoFit/>
          </a:bodyPr>
          <a:lstStyle/>
          <a:p>
            <a:r>
              <a:rPr lang="en-US" dirty="0" smtClean="0"/>
              <a:t>ISSUE6: L2.5 traffic blocked during warm reboot.</a:t>
            </a:r>
            <a:endParaRPr lang="en-US" dirty="0"/>
          </a:p>
        </p:txBody>
      </p:sp>
      <p:sp>
        <p:nvSpPr>
          <p:cNvPr id="95" name="Rectangle 94"/>
          <p:cNvSpPr/>
          <p:nvPr/>
        </p:nvSpPr>
        <p:spPr>
          <a:xfrm>
            <a:off x="3581583" y="1974820"/>
            <a:ext cx="2124974" cy="1369841"/>
          </a:xfrm>
          <a:prstGeom prst="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sz="1000" b="1" dirty="0">
              <a:effectLst>
                <a:outerShdw blurRad="38100" dist="38100" dir="2700000" algn="tl">
                  <a:srgbClr val="000000">
                    <a:alpha val="43137"/>
                  </a:srgbClr>
                </a:outerShdw>
              </a:effectLst>
            </a:endParaRPr>
          </a:p>
        </p:txBody>
      </p:sp>
      <p:sp>
        <p:nvSpPr>
          <p:cNvPr id="97" name="Oval 96"/>
          <p:cNvSpPr/>
          <p:nvPr/>
        </p:nvSpPr>
        <p:spPr>
          <a:xfrm>
            <a:off x="5566853" y="2485034"/>
            <a:ext cx="228600" cy="26154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99" name="TextBox 98"/>
          <p:cNvSpPr txBox="1"/>
          <p:nvPr/>
        </p:nvSpPr>
        <p:spPr>
          <a:xfrm>
            <a:off x="5706306" y="2290004"/>
            <a:ext cx="662361" cy="246221"/>
          </a:xfrm>
          <a:prstGeom prst="rect">
            <a:avLst/>
          </a:prstGeom>
          <a:noFill/>
          <a:ln>
            <a:noFill/>
          </a:ln>
        </p:spPr>
        <p:txBody>
          <a:bodyPr wrap="none" rtlCol="0">
            <a:spAutoFit/>
          </a:bodyPr>
          <a:lstStyle/>
          <a:p>
            <a:r>
              <a:rPr lang="en-US" sz="1000" dirty="0" smtClean="0"/>
              <a:t>CEP:12/1</a:t>
            </a:r>
            <a:endParaRPr lang="en-US" sz="1000" dirty="0"/>
          </a:p>
        </p:txBody>
      </p:sp>
      <p:sp>
        <p:nvSpPr>
          <p:cNvPr id="100" name="Rectangle 99"/>
          <p:cNvSpPr/>
          <p:nvPr/>
        </p:nvSpPr>
        <p:spPr>
          <a:xfrm>
            <a:off x="3551898" y="830062"/>
            <a:ext cx="1676400" cy="519499"/>
          </a:xfrm>
          <a:prstGeom prst="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smtClean="0"/>
              <a:t>Test Center</a:t>
            </a:r>
            <a:endParaRPr lang="en-US" dirty="0"/>
          </a:p>
        </p:txBody>
      </p:sp>
      <p:sp>
        <p:nvSpPr>
          <p:cNvPr id="101" name="Oval 100"/>
          <p:cNvSpPr/>
          <p:nvPr/>
        </p:nvSpPr>
        <p:spPr>
          <a:xfrm>
            <a:off x="5095970" y="998595"/>
            <a:ext cx="228600" cy="27253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Oval 101"/>
          <p:cNvSpPr/>
          <p:nvPr/>
        </p:nvSpPr>
        <p:spPr>
          <a:xfrm>
            <a:off x="3437598" y="998595"/>
            <a:ext cx="228600" cy="27253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3" name="Elbow Connector 102"/>
          <p:cNvCxnSpPr>
            <a:stCxn id="101" idx="6"/>
            <a:endCxn id="97" idx="6"/>
          </p:cNvCxnSpPr>
          <p:nvPr/>
        </p:nvCxnSpPr>
        <p:spPr>
          <a:xfrm>
            <a:off x="5324570" y="1134862"/>
            <a:ext cx="470883" cy="1480945"/>
          </a:xfrm>
          <a:prstGeom prst="bentConnector3">
            <a:avLst>
              <a:gd name="adj1" fmla="val 404951"/>
            </a:avLst>
          </a:prstGeom>
          <a:ln>
            <a:headEnd type="none"/>
            <a:tailEnd type="stealth"/>
          </a:ln>
        </p:spPr>
        <p:style>
          <a:lnRef idx="2">
            <a:schemeClr val="accent2"/>
          </a:lnRef>
          <a:fillRef idx="0">
            <a:schemeClr val="accent2"/>
          </a:fillRef>
          <a:effectRef idx="1">
            <a:schemeClr val="accent2"/>
          </a:effectRef>
          <a:fontRef idx="minor">
            <a:schemeClr val="tx1"/>
          </a:fontRef>
        </p:style>
      </p:cxnSp>
      <p:cxnSp>
        <p:nvCxnSpPr>
          <p:cNvPr id="104" name="Elbow Connector 103"/>
          <p:cNvCxnSpPr>
            <a:stCxn id="102" idx="2"/>
          </p:cNvCxnSpPr>
          <p:nvPr/>
        </p:nvCxnSpPr>
        <p:spPr>
          <a:xfrm rot="10800000" flipH="1" flipV="1">
            <a:off x="3437598" y="1134862"/>
            <a:ext cx="36766" cy="1401362"/>
          </a:xfrm>
          <a:prstGeom prst="bentConnector3">
            <a:avLst>
              <a:gd name="adj1" fmla="val -4292025"/>
            </a:avLst>
          </a:prstGeom>
          <a:ln>
            <a:headEnd type="stealth"/>
            <a:tailEnd type="none"/>
          </a:ln>
        </p:spPr>
        <p:style>
          <a:lnRef idx="2">
            <a:schemeClr val="accent2"/>
          </a:lnRef>
          <a:fillRef idx="0">
            <a:schemeClr val="accent2"/>
          </a:fillRef>
          <a:effectRef idx="1">
            <a:schemeClr val="accent2"/>
          </a:effectRef>
          <a:fontRef idx="minor">
            <a:schemeClr val="tx1"/>
          </a:fontRef>
        </p:style>
      </p:cxnSp>
      <p:sp>
        <p:nvSpPr>
          <p:cNvPr id="105" name="TextBox 104"/>
          <p:cNvSpPr txBox="1"/>
          <p:nvPr/>
        </p:nvSpPr>
        <p:spPr>
          <a:xfrm>
            <a:off x="5225952" y="1211062"/>
            <a:ext cx="401072" cy="276999"/>
          </a:xfrm>
          <a:prstGeom prst="rect">
            <a:avLst/>
          </a:prstGeom>
          <a:noFill/>
        </p:spPr>
        <p:txBody>
          <a:bodyPr wrap="none" rtlCol="0">
            <a:spAutoFit/>
          </a:bodyPr>
          <a:lstStyle/>
          <a:p>
            <a:r>
              <a:rPr lang="en-US" sz="1200" dirty="0"/>
              <a:t>5</a:t>
            </a:r>
            <a:r>
              <a:rPr lang="en-US" sz="1200" dirty="0" smtClean="0"/>
              <a:t>/1</a:t>
            </a:r>
            <a:endParaRPr lang="en-US" sz="1200" dirty="0"/>
          </a:p>
        </p:txBody>
      </p:sp>
      <p:sp>
        <p:nvSpPr>
          <p:cNvPr id="106" name="TextBox 105"/>
          <p:cNvSpPr txBox="1"/>
          <p:nvPr/>
        </p:nvSpPr>
        <p:spPr>
          <a:xfrm>
            <a:off x="3043428" y="1199225"/>
            <a:ext cx="401072" cy="276999"/>
          </a:xfrm>
          <a:prstGeom prst="rect">
            <a:avLst/>
          </a:prstGeom>
          <a:noFill/>
        </p:spPr>
        <p:txBody>
          <a:bodyPr wrap="none" rtlCol="0">
            <a:spAutoFit/>
          </a:bodyPr>
          <a:lstStyle/>
          <a:p>
            <a:r>
              <a:rPr lang="en-US" sz="1200" dirty="0" smtClean="0"/>
              <a:t>5/2</a:t>
            </a:r>
            <a:endParaRPr lang="en-US" sz="1200" dirty="0"/>
          </a:p>
        </p:txBody>
      </p:sp>
      <p:sp>
        <p:nvSpPr>
          <p:cNvPr id="107" name="TextBox 106"/>
          <p:cNvSpPr txBox="1"/>
          <p:nvPr/>
        </p:nvSpPr>
        <p:spPr>
          <a:xfrm>
            <a:off x="3611656" y="1993304"/>
            <a:ext cx="912429" cy="369332"/>
          </a:xfrm>
          <a:prstGeom prst="rect">
            <a:avLst/>
          </a:prstGeom>
          <a:noFill/>
        </p:spPr>
        <p:txBody>
          <a:bodyPr wrap="none" rtlCol="0">
            <a:spAutoFit/>
          </a:bodyPr>
          <a:lstStyle/>
          <a:p>
            <a:r>
              <a:rPr lang="en-US" dirty="0" smtClean="0"/>
              <a:t>NE: 100</a:t>
            </a:r>
            <a:endParaRPr lang="en-US" dirty="0"/>
          </a:p>
        </p:txBody>
      </p:sp>
      <p:cxnSp>
        <p:nvCxnSpPr>
          <p:cNvPr id="109" name="Straight Arrow Connector 108"/>
          <p:cNvCxnSpPr>
            <a:stCxn id="97" idx="2"/>
            <a:endCxn id="130" idx="3"/>
          </p:cNvCxnSpPr>
          <p:nvPr/>
        </p:nvCxnSpPr>
        <p:spPr>
          <a:xfrm flipH="1">
            <a:off x="5228298" y="2615807"/>
            <a:ext cx="338555" cy="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
        <p:nvSpPr>
          <p:cNvPr id="110" name="TextBox 109"/>
          <p:cNvSpPr txBox="1"/>
          <p:nvPr/>
        </p:nvSpPr>
        <p:spPr>
          <a:xfrm>
            <a:off x="2048957" y="2321052"/>
            <a:ext cx="1465466" cy="261610"/>
          </a:xfrm>
          <a:prstGeom prst="rect">
            <a:avLst/>
          </a:prstGeom>
          <a:noFill/>
          <a:ln>
            <a:noFill/>
          </a:ln>
        </p:spPr>
        <p:txBody>
          <a:bodyPr wrap="none" rtlCol="0">
            <a:spAutoFit/>
          </a:bodyPr>
          <a:lstStyle/>
          <a:p>
            <a:r>
              <a:rPr lang="en-US" sz="1100" dirty="0" err="1" smtClean="0"/>
              <a:t>Mpls</a:t>
            </a:r>
            <a:r>
              <a:rPr lang="en-US" sz="1100" dirty="0" smtClean="0"/>
              <a:t> Compatible port.</a:t>
            </a:r>
          </a:p>
        </p:txBody>
      </p:sp>
      <p:cxnSp>
        <p:nvCxnSpPr>
          <p:cNvPr id="112" name="Straight Arrow Connector 111"/>
          <p:cNvCxnSpPr>
            <a:stCxn id="130" idx="1"/>
            <a:endCxn id="115" idx="6"/>
          </p:cNvCxnSpPr>
          <p:nvPr/>
        </p:nvCxnSpPr>
        <p:spPr>
          <a:xfrm flipH="1" flipV="1">
            <a:off x="3695883" y="2573471"/>
            <a:ext cx="541815" cy="42336"/>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graphicFrame>
        <p:nvGraphicFramePr>
          <p:cNvPr id="114" name="Table 113"/>
          <p:cNvGraphicFramePr>
            <a:graphicFrameLocks noGrp="1"/>
          </p:cNvGraphicFramePr>
          <p:nvPr>
            <p:extLst>
              <p:ext uri="{D42A27DB-BD31-4B8C-83A1-F6EECF244321}">
                <p14:modId xmlns:p14="http://schemas.microsoft.com/office/powerpoint/2010/main" val="1794525698"/>
              </p:ext>
            </p:extLst>
          </p:nvPr>
        </p:nvGraphicFramePr>
        <p:xfrm>
          <a:off x="5324570" y="769398"/>
          <a:ext cx="2820386" cy="274320"/>
        </p:xfrm>
        <a:graphic>
          <a:graphicData uri="http://schemas.openxmlformats.org/drawingml/2006/table">
            <a:tbl>
              <a:tblPr firstRow="1" bandRow="1">
                <a:tableStyleId>{7DF18680-E054-41AD-8BC1-D1AEF772440D}</a:tableStyleId>
              </a:tblPr>
              <a:tblGrid>
                <a:gridCol w="428270"/>
                <a:gridCol w="512596"/>
                <a:gridCol w="512596"/>
                <a:gridCol w="768895"/>
                <a:gridCol w="598029"/>
              </a:tblGrid>
              <a:tr h="152400">
                <a:tc>
                  <a:txBody>
                    <a:bodyPr/>
                    <a:lstStyle/>
                    <a:p>
                      <a:r>
                        <a:rPr lang="en-US" sz="1200" b="0" dirty="0" smtClean="0"/>
                        <a:t>TX</a:t>
                      </a:r>
                    </a:p>
                  </a:txBody>
                  <a:tcPr/>
                </a:tc>
                <a:tc>
                  <a:txBody>
                    <a:bodyPr/>
                    <a:lstStyle/>
                    <a:p>
                      <a:r>
                        <a:rPr lang="en-US" sz="1200" b="0" dirty="0" smtClean="0"/>
                        <a:t>DA1</a:t>
                      </a:r>
                      <a:endParaRPr lang="en-US" sz="1200" b="0" dirty="0"/>
                    </a:p>
                  </a:txBody>
                  <a:tcPr/>
                </a:tc>
                <a:tc>
                  <a:txBody>
                    <a:bodyPr/>
                    <a:lstStyle/>
                    <a:p>
                      <a:r>
                        <a:rPr lang="en-US" sz="1200" b="0" dirty="0" smtClean="0"/>
                        <a:t>SA1</a:t>
                      </a:r>
                      <a:endParaRPr lang="en-US" sz="1200" b="0" dirty="0"/>
                    </a:p>
                  </a:txBody>
                  <a:tcPr/>
                </a:tc>
                <a:tc>
                  <a:txBody>
                    <a:bodyPr/>
                    <a:lstStyle/>
                    <a:p>
                      <a:r>
                        <a:rPr lang="en-US" sz="1200" b="0" dirty="0" smtClean="0"/>
                        <a:t>0x8100</a:t>
                      </a:r>
                      <a:endParaRPr lang="en-US" sz="1200" b="0" dirty="0"/>
                    </a:p>
                  </a:txBody>
                  <a:tcPr/>
                </a:tc>
                <a:tc>
                  <a:txBody>
                    <a:bodyPr/>
                    <a:lstStyle/>
                    <a:p>
                      <a:r>
                        <a:rPr lang="en-US" sz="1200" b="0" dirty="0" smtClean="0"/>
                        <a:t>100</a:t>
                      </a:r>
                      <a:endParaRPr lang="en-US" sz="1200" b="0" dirty="0"/>
                    </a:p>
                  </a:txBody>
                  <a:tcPr/>
                </a:tc>
              </a:tr>
            </a:tbl>
          </a:graphicData>
        </a:graphic>
      </p:graphicFrame>
      <p:sp>
        <p:nvSpPr>
          <p:cNvPr id="115" name="Oval 114"/>
          <p:cNvSpPr/>
          <p:nvPr/>
        </p:nvSpPr>
        <p:spPr>
          <a:xfrm>
            <a:off x="3467283" y="2445664"/>
            <a:ext cx="228600" cy="2556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122" name="Rectangle 121"/>
          <p:cNvSpPr/>
          <p:nvPr/>
        </p:nvSpPr>
        <p:spPr>
          <a:xfrm>
            <a:off x="2940309" y="2201662"/>
            <a:ext cx="708848" cy="246221"/>
          </a:xfrm>
          <a:prstGeom prst="rect">
            <a:avLst/>
          </a:prstGeom>
        </p:spPr>
        <p:txBody>
          <a:bodyPr wrap="none">
            <a:spAutoFit/>
          </a:bodyPr>
          <a:lstStyle/>
          <a:p>
            <a:r>
              <a:rPr lang="en-US" sz="1000" dirty="0"/>
              <a:t>PNP: 12/4</a:t>
            </a:r>
          </a:p>
        </p:txBody>
      </p:sp>
      <p:graphicFrame>
        <p:nvGraphicFramePr>
          <p:cNvPr id="125" name="Table 124"/>
          <p:cNvGraphicFramePr>
            <a:graphicFrameLocks noGrp="1"/>
          </p:cNvGraphicFramePr>
          <p:nvPr>
            <p:extLst>
              <p:ext uri="{D42A27DB-BD31-4B8C-83A1-F6EECF244321}">
                <p14:modId xmlns:p14="http://schemas.microsoft.com/office/powerpoint/2010/main" val="3092915502"/>
              </p:ext>
            </p:extLst>
          </p:nvPr>
        </p:nvGraphicFramePr>
        <p:xfrm>
          <a:off x="646894" y="762000"/>
          <a:ext cx="2913447" cy="274320"/>
        </p:xfrm>
        <a:graphic>
          <a:graphicData uri="http://schemas.openxmlformats.org/drawingml/2006/table">
            <a:tbl>
              <a:tblPr firstRow="1" bandRow="1">
                <a:tableStyleId>{7DF18680-E054-41AD-8BC1-D1AEF772440D}</a:tableStyleId>
              </a:tblPr>
              <a:tblGrid>
                <a:gridCol w="363619"/>
                <a:gridCol w="396612"/>
                <a:gridCol w="373965"/>
                <a:gridCol w="717954"/>
                <a:gridCol w="554783"/>
                <a:gridCol w="506514"/>
              </a:tblGrid>
              <a:tr h="236595">
                <a:tc>
                  <a:txBody>
                    <a:bodyPr/>
                    <a:lstStyle/>
                    <a:p>
                      <a:r>
                        <a:rPr lang="en-US" sz="1200" b="0" dirty="0" smtClean="0"/>
                        <a:t>RX</a:t>
                      </a:r>
                    </a:p>
                  </a:txBody>
                  <a:tcPr/>
                </a:tc>
                <a:tc>
                  <a:txBody>
                    <a:bodyPr/>
                    <a:lstStyle/>
                    <a:p>
                      <a:r>
                        <a:rPr lang="en-US" sz="1200" b="0" dirty="0" smtClean="0"/>
                        <a:t>DA</a:t>
                      </a:r>
                      <a:endParaRPr lang="en-US" sz="1200" b="0" dirty="0"/>
                    </a:p>
                  </a:txBody>
                  <a:tcPr/>
                </a:tc>
                <a:tc>
                  <a:txBody>
                    <a:bodyPr/>
                    <a:lstStyle/>
                    <a:p>
                      <a:r>
                        <a:rPr lang="en-US" sz="1200" b="0" dirty="0" smtClean="0"/>
                        <a:t>SA</a:t>
                      </a:r>
                      <a:endParaRPr lang="en-US" sz="1200" b="0" dirty="0"/>
                    </a:p>
                  </a:txBody>
                  <a:tcPr/>
                </a:tc>
                <a:tc>
                  <a:txBody>
                    <a:bodyPr/>
                    <a:lstStyle/>
                    <a:p>
                      <a:r>
                        <a:rPr lang="en-US" sz="1200" b="0" dirty="0" smtClean="0"/>
                        <a:t>0x88A8</a:t>
                      </a:r>
                      <a:endParaRPr lang="en-US" sz="1200" b="0" dirty="0"/>
                    </a:p>
                  </a:txBody>
                  <a:tcPr/>
                </a:tc>
                <a:tc>
                  <a:txBody>
                    <a:bodyPr/>
                    <a:lstStyle/>
                    <a:p>
                      <a:r>
                        <a:rPr lang="en-US" sz="1200" b="0" dirty="0" smtClean="0"/>
                        <a:t>4000</a:t>
                      </a:r>
                      <a:endParaRPr lang="en-US" sz="1200" b="0" dirty="0"/>
                    </a:p>
                  </a:txBody>
                  <a:tcPr/>
                </a:tc>
                <a:tc>
                  <a:txBody>
                    <a:bodyPr/>
                    <a:lstStyle/>
                    <a:p>
                      <a:r>
                        <a:rPr lang="en-US" sz="1200" b="0" dirty="0" smtClean="0"/>
                        <a:t>8847</a:t>
                      </a:r>
                      <a:endParaRPr lang="en-US" sz="1200" b="0" dirty="0"/>
                    </a:p>
                  </a:txBody>
                  <a:tcPr/>
                </a:tc>
              </a:tr>
            </a:tbl>
          </a:graphicData>
        </a:graphic>
      </p:graphicFrame>
      <p:sp>
        <p:nvSpPr>
          <p:cNvPr id="130" name="Rounded Rectangle 129"/>
          <p:cNvSpPr/>
          <p:nvPr/>
        </p:nvSpPr>
        <p:spPr>
          <a:xfrm>
            <a:off x="4237698" y="2339172"/>
            <a:ext cx="990600" cy="553270"/>
          </a:xfrm>
          <a:prstGeom prst="round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000" dirty="0" smtClean="0"/>
              <a:t>VSI: 1000</a:t>
            </a:r>
            <a:endParaRPr lang="en-US" sz="1000" dirty="0"/>
          </a:p>
        </p:txBody>
      </p:sp>
      <p:sp>
        <p:nvSpPr>
          <p:cNvPr id="148" name="Rounded Rectangle 147"/>
          <p:cNvSpPr/>
          <p:nvPr/>
        </p:nvSpPr>
        <p:spPr>
          <a:xfrm>
            <a:off x="1896557" y="2765380"/>
            <a:ext cx="2171314" cy="467110"/>
          </a:xfrm>
          <a:prstGeom prst="round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000" dirty="0" smtClean="0"/>
              <a:t>LER over MPLS compatible port 12/4</a:t>
            </a:r>
          </a:p>
          <a:p>
            <a:pPr algn="ctr"/>
            <a:r>
              <a:rPr lang="en-US" sz="1000" dirty="0" smtClean="0"/>
              <a:t>PW: outlabel:1000 inlabel:2000</a:t>
            </a:r>
          </a:p>
          <a:p>
            <a:pPr algn="ctr"/>
            <a:r>
              <a:rPr lang="en-US" sz="1000" dirty="0" smtClean="0"/>
              <a:t>Tunnel:outlabel:3000 inlabel:4000</a:t>
            </a:r>
            <a:endParaRPr lang="en-US" sz="1000" dirty="0"/>
          </a:p>
        </p:txBody>
      </p:sp>
      <p:sp>
        <p:nvSpPr>
          <p:cNvPr id="181" name="TextBox 180"/>
          <p:cNvSpPr txBox="1"/>
          <p:nvPr/>
        </p:nvSpPr>
        <p:spPr>
          <a:xfrm>
            <a:off x="2429957" y="1597864"/>
            <a:ext cx="3990195" cy="261610"/>
          </a:xfrm>
          <a:prstGeom prst="rect">
            <a:avLst/>
          </a:prstGeom>
          <a:noFill/>
        </p:spPr>
        <p:txBody>
          <a:bodyPr wrap="none" rtlCol="0">
            <a:spAutoFit/>
          </a:bodyPr>
          <a:lstStyle/>
          <a:p>
            <a:r>
              <a:rPr lang="en-US" sz="1100" dirty="0" smtClean="0"/>
              <a:t>During the line card warm reboot, no  traffic sent out from </a:t>
            </a:r>
            <a:r>
              <a:rPr lang="en-US" sz="1100" dirty="0" err="1" smtClean="0"/>
              <a:t>xg</a:t>
            </a:r>
            <a:r>
              <a:rPr lang="en-US" sz="1100" dirty="0" smtClean="0"/>
              <a:t> 12/4</a:t>
            </a:r>
            <a:endParaRPr lang="en-US" sz="1100" dirty="0"/>
          </a:p>
        </p:txBody>
      </p:sp>
      <p:sp>
        <p:nvSpPr>
          <p:cNvPr id="182" name="TextBox 181"/>
          <p:cNvSpPr txBox="1"/>
          <p:nvPr/>
        </p:nvSpPr>
        <p:spPr>
          <a:xfrm>
            <a:off x="533400" y="3356330"/>
            <a:ext cx="7848600" cy="369332"/>
          </a:xfrm>
          <a:prstGeom prst="rect">
            <a:avLst/>
          </a:prstGeom>
          <a:noFill/>
        </p:spPr>
        <p:txBody>
          <a:bodyPr wrap="square" rtlCol="0">
            <a:spAutoFit/>
          </a:bodyPr>
          <a:lstStyle/>
          <a:p>
            <a:r>
              <a:rPr lang="en-US" dirty="0" smtClean="0">
                <a:solidFill>
                  <a:srgbClr val="00B0F0"/>
                </a:solidFill>
              </a:rPr>
              <a:t>-------------------------------------------------------------------------------------------------------------</a:t>
            </a:r>
            <a:endParaRPr lang="en-US" dirty="0">
              <a:solidFill>
                <a:srgbClr val="00B0F0"/>
              </a:solidFill>
            </a:endParaRPr>
          </a:p>
        </p:txBody>
      </p:sp>
      <p:sp>
        <p:nvSpPr>
          <p:cNvPr id="184" name="TextBox 183"/>
          <p:cNvSpPr txBox="1"/>
          <p:nvPr/>
        </p:nvSpPr>
        <p:spPr>
          <a:xfrm>
            <a:off x="533400" y="3573262"/>
            <a:ext cx="5306837" cy="276999"/>
          </a:xfrm>
          <a:prstGeom prst="rect">
            <a:avLst/>
          </a:prstGeom>
          <a:noFill/>
        </p:spPr>
        <p:txBody>
          <a:bodyPr wrap="none" rtlCol="0">
            <a:spAutoFit/>
          </a:bodyPr>
          <a:lstStyle/>
          <a:p>
            <a:r>
              <a:rPr lang="en-US" sz="1200" dirty="0" smtClean="0"/>
              <a:t>Debug: Compare the </a:t>
            </a:r>
            <a:r>
              <a:rPr lang="en-US" sz="1200" dirty="0"/>
              <a:t>A</a:t>
            </a:r>
            <a:r>
              <a:rPr lang="en-US" sz="1200" dirty="0" smtClean="0"/>
              <a:t>rad configure  between warm reboot and normal run stage.</a:t>
            </a:r>
            <a:endParaRPr lang="en-US" sz="1200" dirty="0"/>
          </a:p>
        </p:txBody>
      </p:sp>
      <p:graphicFrame>
        <p:nvGraphicFramePr>
          <p:cNvPr id="186" name="Table 185"/>
          <p:cNvGraphicFramePr>
            <a:graphicFrameLocks noGrp="1"/>
          </p:cNvGraphicFramePr>
          <p:nvPr>
            <p:extLst>
              <p:ext uri="{D42A27DB-BD31-4B8C-83A1-F6EECF244321}">
                <p14:modId xmlns:p14="http://schemas.microsoft.com/office/powerpoint/2010/main" val="1993689141"/>
              </p:ext>
            </p:extLst>
          </p:nvPr>
        </p:nvGraphicFramePr>
        <p:xfrm>
          <a:off x="533400" y="3914775"/>
          <a:ext cx="7996948" cy="2194560"/>
        </p:xfrm>
        <a:graphic>
          <a:graphicData uri="http://schemas.openxmlformats.org/drawingml/2006/table">
            <a:tbl>
              <a:tblPr firstRow="1" bandRow="1">
                <a:tableStyleId>{5940675A-B579-460E-94D1-54222C63F5DA}</a:tableStyleId>
              </a:tblPr>
              <a:tblGrid>
                <a:gridCol w="457199"/>
                <a:gridCol w="3763206"/>
                <a:gridCol w="3776543"/>
              </a:tblGrid>
              <a:tr h="228600">
                <a:tc>
                  <a:txBody>
                    <a:bodyPr/>
                    <a:lstStyle/>
                    <a:p>
                      <a:pPr algn="ctr"/>
                      <a:r>
                        <a:rPr lang="en-US" sz="1200" b="1" dirty="0" smtClean="0">
                          <a:solidFill>
                            <a:sysClr val="windowText" lastClr="000000"/>
                          </a:solidFill>
                          <a:effectLst/>
                        </a:rPr>
                        <a:t>NO</a:t>
                      </a:r>
                      <a:endParaRPr lang="en-US" sz="1200" b="1" dirty="0">
                        <a:solidFill>
                          <a:sysClr val="windowText" lastClr="000000"/>
                        </a:solidFill>
                        <a:effectLst/>
                      </a:endParaRPr>
                    </a:p>
                  </a:txBody>
                  <a:tcPr>
                    <a:solidFill>
                      <a:schemeClr val="accent3">
                        <a:lumMod val="60000"/>
                        <a:lumOff val="40000"/>
                      </a:schemeClr>
                    </a:solidFill>
                  </a:tcPr>
                </a:tc>
                <a:tc>
                  <a:txBody>
                    <a:bodyPr/>
                    <a:lstStyle/>
                    <a:p>
                      <a:pPr algn="ctr"/>
                      <a:r>
                        <a:rPr lang="en-US" sz="1200" b="1" dirty="0" smtClean="0">
                          <a:solidFill>
                            <a:sysClr val="windowText" lastClr="000000"/>
                          </a:solidFill>
                          <a:effectLst/>
                        </a:rPr>
                        <a:t>Normal stage</a:t>
                      </a:r>
                      <a:endParaRPr lang="en-US" sz="1200" b="1" dirty="0">
                        <a:solidFill>
                          <a:sysClr val="windowText" lastClr="000000"/>
                        </a:solidFill>
                        <a:effectLst/>
                      </a:endParaRPr>
                    </a:p>
                  </a:txBody>
                  <a:tcPr>
                    <a:solidFill>
                      <a:schemeClr val="accent3">
                        <a:lumMod val="60000"/>
                        <a:lumOff val="40000"/>
                      </a:schemeClr>
                    </a:solidFill>
                  </a:tcPr>
                </a:tc>
                <a:tc>
                  <a:txBody>
                    <a:bodyPr/>
                    <a:lstStyle/>
                    <a:p>
                      <a:pPr algn="ctr"/>
                      <a:r>
                        <a:rPr lang="en-US" sz="1200" b="1" dirty="0" smtClean="0">
                          <a:solidFill>
                            <a:sysClr val="windowText" lastClr="000000"/>
                          </a:solidFill>
                          <a:effectLst/>
                        </a:rPr>
                        <a:t>Warm</a:t>
                      </a:r>
                      <a:r>
                        <a:rPr lang="en-US" sz="1200" b="1" baseline="0" dirty="0" smtClean="0">
                          <a:solidFill>
                            <a:sysClr val="windowText" lastClr="000000"/>
                          </a:solidFill>
                          <a:effectLst/>
                        </a:rPr>
                        <a:t> reboot stage</a:t>
                      </a:r>
                      <a:endParaRPr lang="en-US" sz="1200" b="1" dirty="0">
                        <a:solidFill>
                          <a:sysClr val="windowText" lastClr="000000"/>
                        </a:solidFill>
                        <a:effectLst/>
                      </a:endParaRPr>
                    </a:p>
                  </a:txBody>
                  <a:tcPr>
                    <a:solidFill>
                      <a:schemeClr val="accent3">
                        <a:lumMod val="60000"/>
                        <a:lumOff val="40000"/>
                      </a:schemeClr>
                    </a:solidFill>
                  </a:tcPr>
                </a:tc>
              </a:tr>
              <a:tr h="370840">
                <a:tc>
                  <a:txBody>
                    <a:bodyPr/>
                    <a:lstStyle/>
                    <a:p>
                      <a:r>
                        <a:rPr lang="en-US" sz="1200" dirty="0" smtClean="0"/>
                        <a:t>1</a:t>
                      </a:r>
                      <a:endParaRPr lang="en-US" sz="1200" dirty="0"/>
                    </a:p>
                  </a:txBody>
                  <a:tcPr>
                    <a:solidFill>
                      <a:srgbClr val="FFFFCC"/>
                    </a:solidFill>
                  </a:tcPr>
                </a:tc>
                <a:tc>
                  <a:txBody>
                    <a:bodyPr/>
                    <a:lstStyle/>
                    <a:p>
                      <a:r>
                        <a:rPr lang="en-US" sz="1200" dirty="0" smtClean="0"/>
                        <a:t>BCM.0&gt; d </a:t>
                      </a:r>
                      <a:r>
                        <a:rPr lang="en-US" sz="1200" dirty="0" err="1" smtClean="0"/>
                        <a:t>chg</a:t>
                      </a:r>
                      <a:r>
                        <a:rPr lang="en-US" sz="1200" dirty="0" smtClean="0"/>
                        <a:t>  IHP_VSI_LOW_CFG_2 1000</a:t>
                      </a:r>
                    </a:p>
                    <a:p>
                      <a:r>
                        <a:rPr lang="en-US" sz="1200" dirty="0" smtClean="0"/>
                        <a:t>&lt;FID_CLASS=7,</a:t>
                      </a:r>
                      <a:r>
                        <a:rPr lang="en-US" sz="1200" dirty="0" smtClean="0">
                          <a:solidFill>
                            <a:srgbClr val="FF0000"/>
                          </a:solidFill>
                          <a:effectLst>
                            <a:outerShdw blurRad="38100" dist="38100" dir="2700000" algn="tl">
                              <a:srgbClr val="000000">
                                <a:alpha val="43137"/>
                              </a:srgbClr>
                            </a:outerShdw>
                          </a:effectLst>
                        </a:rPr>
                        <a:t>DA_NOT_FOUND_DESTINATION=0x503e8</a:t>
                      </a:r>
                      <a:r>
                        <a:rPr lang="en-US" sz="1200" dirty="0" smtClean="0"/>
                        <a:t>&gt;</a:t>
                      </a:r>
                      <a:endParaRPr lang="en-US" sz="1200" dirty="0"/>
                    </a:p>
                  </a:txBody>
                  <a:tcPr>
                    <a:solidFill>
                      <a:srgbClr val="FFFFCC"/>
                    </a:solidFill>
                  </a:tcPr>
                </a:tc>
                <a:tc>
                  <a:txBody>
                    <a:bodyPr/>
                    <a:lstStyle/>
                    <a:p>
                      <a:r>
                        <a:rPr lang="en-US" sz="1200" dirty="0" smtClean="0"/>
                        <a:t>BCM.0&gt; d </a:t>
                      </a:r>
                      <a:r>
                        <a:rPr lang="en-US" sz="1200" dirty="0" err="1" smtClean="0"/>
                        <a:t>chg</a:t>
                      </a:r>
                      <a:r>
                        <a:rPr lang="en-US" sz="1200" dirty="0" smtClean="0"/>
                        <a:t> IHP_VSI_LOW_CFG_2 1000</a:t>
                      </a:r>
                    </a:p>
                    <a:p>
                      <a:r>
                        <a:rPr lang="en-US" sz="1200" dirty="0" smtClean="0"/>
                        <a:t>&lt;FID_CLASS=7</a:t>
                      </a:r>
                      <a:r>
                        <a:rPr lang="en-US" sz="1200" dirty="0" smtClean="0">
                          <a:solidFill>
                            <a:srgbClr val="FF0000"/>
                          </a:solidFill>
                          <a:effectLst>
                            <a:outerShdw blurRad="38100" dist="38100" dir="2700000" algn="tl">
                              <a:srgbClr val="000000">
                                <a:alpha val="43137"/>
                              </a:srgbClr>
                            </a:outerShdw>
                          </a:effectLst>
                        </a:rPr>
                        <a:t>,DA_NOT_FOUND_DESTINATION=0x1ffff</a:t>
                      </a:r>
                      <a:r>
                        <a:rPr lang="en-US" sz="1200" dirty="0" smtClean="0"/>
                        <a:t>&gt;</a:t>
                      </a:r>
                      <a:endParaRPr lang="en-US" sz="1200" dirty="0"/>
                    </a:p>
                  </a:txBody>
                  <a:tcPr>
                    <a:solidFill>
                      <a:srgbClr val="FFFFCC"/>
                    </a:solidFill>
                  </a:tcPr>
                </a:tc>
              </a:tr>
              <a:tr h="370840">
                <a:tc>
                  <a:txBody>
                    <a:bodyPr/>
                    <a:lstStyle/>
                    <a:p>
                      <a:r>
                        <a:rPr lang="en-US" sz="1200" dirty="0" smtClean="0"/>
                        <a:t>2</a:t>
                      </a:r>
                      <a:endParaRPr lang="en-US" sz="1200" dirty="0"/>
                    </a:p>
                  </a:txBody>
                  <a:tcPr>
                    <a:solidFill>
                      <a:srgbClr val="FFFFCC"/>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XG 12/4 [PNP port] STP status: Forwarding (STP Group)</a:t>
                      </a:r>
                    </a:p>
                  </a:txBody>
                  <a:tcPr>
                    <a:solidFill>
                      <a:srgbClr val="FFFFCC"/>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XG 12/4 STP status: block (ingress and egress)</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BTW: PNP</a:t>
                      </a:r>
                      <a:r>
                        <a:rPr lang="en-US" sz="1200" baseline="0" dirty="0" smtClean="0"/>
                        <a:t> Ports in all STP group are  blocked(ingress and egress) and CEP Ports are forwarding.</a:t>
                      </a:r>
                      <a:endParaRPr lang="en-US" sz="1200" dirty="0"/>
                    </a:p>
                  </a:txBody>
                  <a:tcPr>
                    <a:solidFill>
                      <a:srgbClr val="FFFFCC"/>
                    </a:solidFill>
                  </a:tcPr>
                </a:tc>
              </a:tr>
              <a:tr h="370840">
                <a:tc>
                  <a:txBody>
                    <a:bodyPr/>
                    <a:lstStyle/>
                    <a:p>
                      <a:r>
                        <a:rPr lang="en-US" sz="1200" dirty="0" smtClean="0"/>
                        <a:t>3</a:t>
                      </a:r>
                      <a:endParaRPr lang="en-US" sz="1200" dirty="0"/>
                    </a:p>
                  </a:txBody>
                  <a:tcPr>
                    <a:solidFill>
                      <a:srgbClr val="FFFFCC"/>
                    </a:solidFill>
                  </a:tcPr>
                </a:tc>
                <a:tc>
                  <a:txBody>
                    <a:bodyPr/>
                    <a:lstStyle/>
                    <a:p>
                      <a:r>
                        <a:rPr lang="en-US" sz="1200" dirty="0" smtClean="0"/>
                        <a:t>There are two PM</a:t>
                      </a:r>
                      <a:r>
                        <a:rPr lang="en-US" sz="1200" baseline="0" dirty="0" smtClean="0"/>
                        <a:t>F entries to drop packets in egress. However they can’t take effect at normal stage </a:t>
                      </a:r>
                      <a:endParaRPr lang="en-US" sz="1200" dirty="0"/>
                    </a:p>
                  </a:txBody>
                  <a:tcPr>
                    <a:solidFill>
                      <a:srgbClr val="FFFFCC"/>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There are two PM</a:t>
                      </a:r>
                      <a:r>
                        <a:rPr lang="en-US" sz="1200" baseline="0" dirty="0" smtClean="0"/>
                        <a:t>F entries to drop packets in egress. One is to qualify the packet head flagged </a:t>
                      </a:r>
                      <a:r>
                        <a:rPr lang="en-US" sz="1200" baseline="0" dirty="0" err="1" smtClean="0"/>
                        <a:t>mc_learning_set</a:t>
                      </a:r>
                      <a:r>
                        <a:rPr lang="en-US" sz="1200" baseline="0" dirty="0" smtClean="0"/>
                        <a:t>. The other to qualify packets from ERP(system port: 164)</a:t>
                      </a:r>
                      <a:endParaRPr lang="en-US" sz="1200" dirty="0"/>
                    </a:p>
                  </a:txBody>
                  <a:tcPr>
                    <a:solidFill>
                      <a:srgbClr val="FFFFCC"/>
                    </a:solidFill>
                  </a:tcPr>
                </a:tc>
              </a:tr>
            </a:tbl>
          </a:graphicData>
        </a:graphic>
      </p:graphicFrame>
      <p:pic>
        <p:nvPicPr>
          <p:cNvPr id="1025"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0083" y="6048375"/>
            <a:ext cx="7176117"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0" name="Flowchart: Alternate Process 189"/>
          <p:cNvSpPr/>
          <p:nvPr/>
        </p:nvSpPr>
        <p:spPr>
          <a:xfrm>
            <a:off x="5755865" y="6268558"/>
            <a:ext cx="1178335" cy="352425"/>
          </a:xfrm>
          <a:prstGeom prst="flowChartAlternateProcess">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 name="Object 2"/>
          <p:cNvGraphicFramePr>
            <a:graphicFrameLocks noChangeAspect="1"/>
          </p:cNvGraphicFramePr>
          <p:nvPr>
            <p:extLst>
              <p:ext uri="{D42A27DB-BD31-4B8C-83A1-F6EECF244321}">
                <p14:modId xmlns:p14="http://schemas.microsoft.com/office/powerpoint/2010/main" val="1165122842"/>
              </p:ext>
            </p:extLst>
          </p:nvPr>
        </p:nvGraphicFramePr>
        <p:xfrm>
          <a:off x="7848600" y="6076488"/>
          <a:ext cx="698598" cy="589442"/>
        </p:xfrm>
        <a:graphic>
          <a:graphicData uri="http://schemas.openxmlformats.org/presentationml/2006/ole">
            <mc:AlternateContent xmlns:mc="http://schemas.openxmlformats.org/markup-compatibility/2006">
              <mc:Choice xmlns:v="urn:schemas-microsoft-com:vml" Requires="v">
                <p:oleObj spid="_x0000_s2060" name="Acrobat Document" showAsIcon="1" r:id="rId4" imgW="914400" imgH="771480" progId="AcroExch.Document.11">
                  <p:embed/>
                </p:oleObj>
              </mc:Choice>
              <mc:Fallback>
                <p:oleObj name="Acrobat Document" showAsIcon="1" r:id="rId4" imgW="914400" imgH="771480" progId="AcroExch.Document.11">
                  <p:embed/>
                  <p:pic>
                    <p:nvPicPr>
                      <p:cNvPr id="0" name=""/>
                      <p:cNvPicPr/>
                      <p:nvPr/>
                    </p:nvPicPr>
                    <p:blipFill>
                      <a:blip r:embed="rId5"/>
                      <a:stretch>
                        <a:fillRect/>
                      </a:stretch>
                    </p:blipFill>
                    <p:spPr>
                      <a:xfrm>
                        <a:off x="7848600" y="6076488"/>
                        <a:ext cx="698598" cy="589442"/>
                      </a:xfrm>
                      <a:prstGeom prst="rect">
                        <a:avLst/>
                      </a:prstGeom>
                    </p:spPr>
                  </p:pic>
                </p:oleObj>
              </mc:Fallback>
            </mc:AlternateContent>
          </a:graphicData>
        </a:graphic>
      </p:graphicFrame>
    </p:spTree>
    <p:extLst>
      <p:ext uri="{BB962C8B-B14F-4D97-AF65-F5344CB8AC3E}">
        <p14:creationId xmlns:p14="http://schemas.microsoft.com/office/powerpoint/2010/main" val="27049905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85800" y="304800"/>
            <a:ext cx="8077200" cy="369332"/>
          </a:xfrm>
          <a:prstGeom prst="rect">
            <a:avLst/>
          </a:prstGeom>
        </p:spPr>
        <p:txBody>
          <a:bodyPr wrap="square">
            <a:spAutoFit/>
          </a:bodyPr>
          <a:lstStyle/>
          <a:p>
            <a:r>
              <a:rPr lang="en-US" dirty="0" smtClean="0"/>
              <a:t>ISSUE7: </a:t>
            </a:r>
            <a:r>
              <a:rPr lang="en-US" dirty="0"/>
              <a:t>F</a:t>
            </a:r>
            <a:r>
              <a:rPr lang="en-US" dirty="0" smtClean="0"/>
              <a:t>low Control can’t work between DIGI and Arad</a:t>
            </a:r>
            <a:endParaRPr lang="en-US" dirty="0"/>
          </a:p>
        </p:txBody>
      </p:sp>
      <p:sp>
        <p:nvSpPr>
          <p:cNvPr id="6" name="Rectangle 5"/>
          <p:cNvSpPr/>
          <p:nvPr/>
        </p:nvSpPr>
        <p:spPr>
          <a:xfrm>
            <a:off x="2482467" y="2649169"/>
            <a:ext cx="3004853" cy="1537963"/>
          </a:xfrm>
          <a:prstGeom prst="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sz="1000" b="1" dirty="0">
              <a:effectLst>
                <a:outerShdw blurRad="38100" dist="38100" dir="2700000" algn="tl">
                  <a:srgbClr val="000000">
                    <a:alpha val="43137"/>
                  </a:srgbClr>
                </a:outerShdw>
              </a:effectLst>
            </a:endParaRPr>
          </a:p>
        </p:txBody>
      </p:sp>
      <p:sp>
        <p:nvSpPr>
          <p:cNvPr id="7" name="Oval 6"/>
          <p:cNvSpPr/>
          <p:nvPr/>
        </p:nvSpPr>
        <p:spPr>
          <a:xfrm>
            <a:off x="5366178" y="3378175"/>
            <a:ext cx="228600" cy="26154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9" name="Rectangle 8"/>
          <p:cNvSpPr/>
          <p:nvPr/>
        </p:nvSpPr>
        <p:spPr>
          <a:xfrm>
            <a:off x="3358065" y="1660864"/>
            <a:ext cx="1676400" cy="519499"/>
          </a:xfrm>
          <a:prstGeom prst="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smtClean="0"/>
              <a:t>Test Center</a:t>
            </a:r>
            <a:endParaRPr lang="en-US" dirty="0"/>
          </a:p>
        </p:txBody>
      </p:sp>
      <p:sp>
        <p:nvSpPr>
          <p:cNvPr id="10" name="Oval 9"/>
          <p:cNvSpPr/>
          <p:nvPr/>
        </p:nvSpPr>
        <p:spPr>
          <a:xfrm>
            <a:off x="4902137" y="1829397"/>
            <a:ext cx="228600" cy="27253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3243765" y="1829397"/>
            <a:ext cx="228600" cy="27253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Elbow Connector 11"/>
          <p:cNvCxnSpPr>
            <a:stCxn id="10" idx="6"/>
            <a:endCxn id="7" idx="6"/>
          </p:cNvCxnSpPr>
          <p:nvPr/>
        </p:nvCxnSpPr>
        <p:spPr>
          <a:xfrm>
            <a:off x="5130737" y="1965664"/>
            <a:ext cx="464041" cy="1543284"/>
          </a:xfrm>
          <a:prstGeom prst="bentConnector3">
            <a:avLst>
              <a:gd name="adj1" fmla="val 528061"/>
            </a:avLst>
          </a:prstGeom>
          <a:ln>
            <a:solidFill>
              <a:srgbClr val="0070C0"/>
            </a:solidFill>
            <a:headEnd type="none"/>
            <a:tailEnd type="stealth"/>
          </a:ln>
        </p:spPr>
        <p:style>
          <a:lnRef idx="2">
            <a:schemeClr val="accent2"/>
          </a:lnRef>
          <a:fillRef idx="0">
            <a:schemeClr val="accent2"/>
          </a:fillRef>
          <a:effectRef idx="1">
            <a:schemeClr val="accent2"/>
          </a:effectRef>
          <a:fontRef idx="minor">
            <a:schemeClr val="tx1"/>
          </a:fontRef>
        </p:style>
      </p:cxnSp>
      <p:cxnSp>
        <p:nvCxnSpPr>
          <p:cNvPr id="13" name="Elbow Connector 12"/>
          <p:cNvCxnSpPr>
            <a:stCxn id="11" idx="2"/>
            <a:endCxn id="40" idx="2"/>
          </p:cNvCxnSpPr>
          <p:nvPr/>
        </p:nvCxnSpPr>
        <p:spPr>
          <a:xfrm rot="10800000" flipV="1">
            <a:off x="2355763" y="1965664"/>
            <a:ext cx="888002" cy="1546250"/>
          </a:xfrm>
          <a:prstGeom prst="bentConnector3">
            <a:avLst>
              <a:gd name="adj1" fmla="val 228716"/>
            </a:avLst>
          </a:prstGeom>
          <a:ln>
            <a:solidFill>
              <a:srgbClr val="0070C0"/>
            </a:solidFill>
            <a:prstDash val="dash"/>
            <a:headEnd type="stealth"/>
            <a:tailEnd type="none"/>
          </a:ln>
        </p:spPr>
        <p:style>
          <a:lnRef idx="2">
            <a:schemeClr val="accent2"/>
          </a:lnRef>
          <a:fillRef idx="0">
            <a:schemeClr val="accent2"/>
          </a:fillRef>
          <a:effectRef idx="1">
            <a:schemeClr val="accent2"/>
          </a:effectRef>
          <a:fontRef idx="minor">
            <a:schemeClr val="tx1"/>
          </a:fontRef>
        </p:style>
      </p:cxnSp>
      <p:sp>
        <p:nvSpPr>
          <p:cNvPr id="14" name="TextBox 13"/>
          <p:cNvSpPr txBox="1"/>
          <p:nvPr/>
        </p:nvSpPr>
        <p:spPr>
          <a:xfrm>
            <a:off x="5032119" y="2041864"/>
            <a:ext cx="401072" cy="276999"/>
          </a:xfrm>
          <a:prstGeom prst="rect">
            <a:avLst/>
          </a:prstGeom>
          <a:noFill/>
        </p:spPr>
        <p:txBody>
          <a:bodyPr wrap="none" rtlCol="0">
            <a:spAutoFit/>
          </a:bodyPr>
          <a:lstStyle/>
          <a:p>
            <a:r>
              <a:rPr lang="en-US" sz="1200" dirty="0"/>
              <a:t>5</a:t>
            </a:r>
            <a:r>
              <a:rPr lang="en-US" sz="1200" dirty="0" smtClean="0"/>
              <a:t>/1</a:t>
            </a:r>
            <a:endParaRPr lang="en-US" sz="1200" dirty="0"/>
          </a:p>
        </p:txBody>
      </p:sp>
      <p:sp>
        <p:nvSpPr>
          <p:cNvPr id="15" name="TextBox 14"/>
          <p:cNvSpPr txBox="1"/>
          <p:nvPr/>
        </p:nvSpPr>
        <p:spPr>
          <a:xfrm>
            <a:off x="2849595" y="2030027"/>
            <a:ext cx="401072" cy="276999"/>
          </a:xfrm>
          <a:prstGeom prst="rect">
            <a:avLst/>
          </a:prstGeom>
          <a:noFill/>
        </p:spPr>
        <p:txBody>
          <a:bodyPr wrap="none" rtlCol="0">
            <a:spAutoFit/>
          </a:bodyPr>
          <a:lstStyle/>
          <a:p>
            <a:r>
              <a:rPr lang="en-US" sz="1200" dirty="0" smtClean="0"/>
              <a:t>5/2</a:t>
            </a:r>
            <a:endParaRPr lang="en-US" sz="1200" dirty="0"/>
          </a:p>
        </p:txBody>
      </p:sp>
      <p:sp>
        <p:nvSpPr>
          <p:cNvPr id="16" name="TextBox 15"/>
          <p:cNvSpPr txBox="1"/>
          <p:nvPr/>
        </p:nvSpPr>
        <p:spPr>
          <a:xfrm>
            <a:off x="2596767" y="2663448"/>
            <a:ext cx="912429" cy="369332"/>
          </a:xfrm>
          <a:prstGeom prst="rect">
            <a:avLst/>
          </a:prstGeom>
          <a:noFill/>
        </p:spPr>
        <p:txBody>
          <a:bodyPr wrap="none" rtlCol="0">
            <a:spAutoFit/>
          </a:bodyPr>
          <a:lstStyle/>
          <a:p>
            <a:r>
              <a:rPr lang="en-US" dirty="0" smtClean="0"/>
              <a:t>NE: 101</a:t>
            </a:r>
            <a:endParaRPr lang="en-US" dirty="0"/>
          </a:p>
        </p:txBody>
      </p:sp>
      <p:cxnSp>
        <p:nvCxnSpPr>
          <p:cNvPr id="17" name="Straight Arrow Connector 16"/>
          <p:cNvCxnSpPr/>
          <p:nvPr/>
        </p:nvCxnSpPr>
        <p:spPr>
          <a:xfrm>
            <a:off x="2753363" y="3947604"/>
            <a:ext cx="497304" cy="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graphicFrame>
        <p:nvGraphicFramePr>
          <p:cNvPr id="20" name="Table 19"/>
          <p:cNvGraphicFramePr>
            <a:graphicFrameLocks noGrp="1"/>
          </p:cNvGraphicFramePr>
          <p:nvPr>
            <p:extLst>
              <p:ext uri="{D42A27DB-BD31-4B8C-83A1-F6EECF244321}">
                <p14:modId xmlns:p14="http://schemas.microsoft.com/office/powerpoint/2010/main" val="2886702774"/>
              </p:ext>
            </p:extLst>
          </p:nvPr>
        </p:nvGraphicFramePr>
        <p:xfrm>
          <a:off x="5130737" y="1600200"/>
          <a:ext cx="2425512" cy="274320"/>
        </p:xfrm>
        <a:graphic>
          <a:graphicData uri="http://schemas.openxmlformats.org/drawingml/2006/table">
            <a:tbl>
              <a:tblPr firstRow="1" bandRow="1">
                <a:tableStyleId>{7DF18680-E054-41AD-8BC1-D1AEF772440D}</a:tableStyleId>
              </a:tblPr>
              <a:tblGrid>
                <a:gridCol w="371793"/>
                <a:gridCol w="475933"/>
                <a:gridCol w="453200"/>
                <a:gridCol w="673418"/>
                <a:gridCol w="451168"/>
              </a:tblGrid>
              <a:tr h="152400">
                <a:tc>
                  <a:txBody>
                    <a:bodyPr/>
                    <a:lstStyle/>
                    <a:p>
                      <a:r>
                        <a:rPr lang="en-US" sz="1200" b="0" dirty="0" smtClean="0"/>
                        <a:t>TX</a:t>
                      </a:r>
                    </a:p>
                  </a:txBody>
                  <a:tcPr/>
                </a:tc>
                <a:tc>
                  <a:txBody>
                    <a:bodyPr/>
                    <a:lstStyle/>
                    <a:p>
                      <a:r>
                        <a:rPr lang="en-US" sz="1200" b="0" dirty="0" smtClean="0"/>
                        <a:t>DA1</a:t>
                      </a:r>
                      <a:endParaRPr lang="en-US" sz="1200" b="0" dirty="0"/>
                    </a:p>
                  </a:txBody>
                  <a:tcPr/>
                </a:tc>
                <a:tc>
                  <a:txBody>
                    <a:bodyPr/>
                    <a:lstStyle/>
                    <a:p>
                      <a:r>
                        <a:rPr lang="en-US" sz="1200" b="0" dirty="0" smtClean="0"/>
                        <a:t>SA1</a:t>
                      </a:r>
                      <a:endParaRPr lang="en-US" sz="1200" b="0" dirty="0"/>
                    </a:p>
                  </a:txBody>
                  <a:tcPr/>
                </a:tc>
                <a:tc>
                  <a:txBody>
                    <a:bodyPr/>
                    <a:lstStyle/>
                    <a:p>
                      <a:r>
                        <a:rPr lang="en-US" sz="1200" b="0" dirty="0" smtClean="0"/>
                        <a:t>0x8100</a:t>
                      </a:r>
                      <a:endParaRPr lang="en-US" sz="1200" b="0" dirty="0"/>
                    </a:p>
                  </a:txBody>
                  <a:tcPr/>
                </a:tc>
                <a:tc>
                  <a:txBody>
                    <a:bodyPr/>
                    <a:lstStyle/>
                    <a:p>
                      <a:r>
                        <a:rPr lang="en-US" sz="1200" b="0" dirty="0" smtClean="0"/>
                        <a:t>100</a:t>
                      </a:r>
                      <a:endParaRPr lang="en-US" sz="1200" b="0" dirty="0"/>
                    </a:p>
                  </a:txBody>
                  <a:tcPr/>
                </a:tc>
              </a:tr>
            </a:tbl>
          </a:graphicData>
        </a:graphic>
      </p:graphicFrame>
      <p:sp>
        <p:nvSpPr>
          <p:cNvPr id="26" name="TextBox 25"/>
          <p:cNvSpPr txBox="1"/>
          <p:nvPr/>
        </p:nvSpPr>
        <p:spPr>
          <a:xfrm>
            <a:off x="2083032" y="2209800"/>
            <a:ext cx="4371710" cy="430887"/>
          </a:xfrm>
          <a:prstGeom prst="rect">
            <a:avLst/>
          </a:prstGeom>
          <a:noFill/>
        </p:spPr>
        <p:txBody>
          <a:bodyPr wrap="none" rtlCol="0">
            <a:spAutoFit/>
          </a:bodyPr>
          <a:lstStyle/>
          <a:p>
            <a:r>
              <a:rPr lang="en-US" sz="1100" dirty="0" smtClean="0"/>
              <a:t>When mass  traffic </a:t>
            </a:r>
            <a:r>
              <a:rPr lang="en-US" sz="1100" dirty="0"/>
              <a:t>to DIGI  </a:t>
            </a:r>
            <a:r>
              <a:rPr lang="en-US" sz="1100"/>
              <a:t>buffer </a:t>
            </a:r>
            <a:r>
              <a:rPr lang="en-US" sz="1100" smtClean="0"/>
              <a:t> of egress </a:t>
            </a:r>
            <a:r>
              <a:rPr lang="en-US" sz="1100"/>
              <a:t>port </a:t>
            </a:r>
            <a:r>
              <a:rPr lang="en-US" sz="1100" smtClean="0"/>
              <a:t>, </a:t>
            </a:r>
            <a:r>
              <a:rPr lang="en-US" sz="1100" dirty="0" smtClean="0"/>
              <a:t>the DIGI drop pockets, </a:t>
            </a:r>
          </a:p>
          <a:p>
            <a:r>
              <a:rPr lang="en-US" sz="1100" dirty="0" smtClean="0"/>
              <a:t>however no  FC  to ingress ports.</a:t>
            </a:r>
            <a:endParaRPr lang="en-US" sz="1100" dirty="0"/>
          </a:p>
        </p:txBody>
      </p:sp>
      <p:sp>
        <p:nvSpPr>
          <p:cNvPr id="27" name="TextBox 26"/>
          <p:cNvSpPr txBox="1"/>
          <p:nvPr/>
        </p:nvSpPr>
        <p:spPr>
          <a:xfrm>
            <a:off x="453867" y="4267200"/>
            <a:ext cx="7848600" cy="369332"/>
          </a:xfrm>
          <a:prstGeom prst="rect">
            <a:avLst/>
          </a:prstGeom>
          <a:noFill/>
        </p:spPr>
        <p:txBody>
          <a:bodyPr wrap="square" rtlCol="0">
            <a:spAutoFit/>
          </a:bodyPr>
          <a:lstStyle/>
          <a:p>
            <a:r>
              <a:rPr lang="en-US" dirty="0" smtClean="0">
                <a:solidFill>
                  <a:srgbClr val="00B0F0"/>
                </a:solidFill>
              </a:rPr>
              <a:t>-------------------------------------------------------------------------------------------------------------</a:t>
            </a:r>
            <a:endParaRPr lang="en-US" dirty="0">
              <a:solidFill>
                <a:srgbClr val="00B0F0"/>
              </a:solidFill>
            </a:endParaRPr>
          </a:p>
        </p:txBody>
      </p:sp>
      <p:cxnSp>
        <p:nvCxnSpPr>
          <p:cNvPr id="32" name="Straight Connector 31"/>
          <p:cNvCxnSpPr>
            <a:stCxn id="6" idx="0"/>
            <a:endCxn id="6" idx="2"/>
          </p:cNvCxnSpPr>
          <p:nvPr/>
        </p:nvCxnSpPr>
        <p:spPr>
          <a:xfrm>
            <a:off x="3984894" y="2649169"/>
            <a:ext cx="0" cy="1537963"/>
          </a:xfrm>
          <a:prstGeom prst="line">
            <a:avLst/>
          </a:prstGeom>
        </p:spPr>
        <p:style>
          <a:lnRef idx="1">
            <a:schemeClr val="accent1"/>
          </a:lnRef>
          <a:fillRef idx="0">
            <a:schemeClr val="accent1"/>
          </a:fillRef>
          <a:effectRef idx="0">
            <a:schemeClr val="accent1"/>
          </a:effectRef>
          <a:fontRef idx="minor">
            <a:schemeClr val="tx1"/>
          </a:fontRef>
        </p:style>
      </p:cxnSp>
      <p:sp>
        <p:nvSpPr>
          <p:cNvPr id="33" name="Rectangle 32"/>
          <p:cNvSpPr/>
          <p:nvPr/>
        </p:nvSpPr>
        <p:spPr>
          <a:xfrm>
            <a:off x="3215200" y="3084665"/>
            <a:ext cx="714366" cy="492717"/>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smtClean="0"/>
              <a:t>Arad</a:t>
            </a:r>
            <a:endParaRPr lang="en-US" dirty="0"/>
          </a:p>
        </p:txBody>
      </p:sp>
      <p:sp>
        <p:nvSpPr>
          <p:cNvPr id="36" name="Rectangle 35"/>
          <p:cNvSpPr/>
          <p:nvPr/>
        </p:nvSpPr>
        <p:spPr>
          <a:xfrm>
            <a:off x="2631994" y="3083941"/>
            <a:ext cx="529920" cy="493442"/>
          </a:xfrm>
          <a:prstGeom prst="rect">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smtClean="0"/>
              <a:t>digi</a:t>
            </a:r>
            <a:endParaRPr lang="en-US" dirty="0"/>
          </a:p>
        </p:txBody>
      </p:sp>
      <p:sp>
        <p:nvSpPr>
          <p:cNvPr id="38" name="Rectangle 37"/>
          <p:cNvSpPr/>
          <p:nvPr/>
        </p:nvSpPr>
        <p:spPr>
          <a:xfrm>
            <a:off x="4020984" y="3083942"/>
            <a:ext cx="714366" cy="493442"/>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smtClean="0"/>
              <a:t>Arad</a:t>
            </a:r>
            <a:endParaRPr lang="en-US" dirty="0"/>
          </a:p>
        </p:txBody>
      </p:sp>
      <p:sp>
        <p:nvSpPr>
          <p:cNvPr id="39" name="Rectangle 38"/>
          <p:cNvSpPr/>
          <p:nvPr/>
        </p:nvSpPr>
        <p:spPr>
          <a:xfrm>
            <a:off x="4865777" y="3083941"/>
            <a:ext cx="529920" cy="493443"/>
          </a:xfrm>
          <a:prstGeom prst="rect">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smtClean="0"/>
              <a:t>digi</a:t>
            </a:r>
            <a:endParaRPr lang="en-US" dirty="0"/>
          </a:p>
        </p:txBody>
      </p:sp>
      <p:sp>
        <p:nvSpPr>
          <p:cNvPr id="40" name="Flowchart: Summing Junction 39"/>
          <p:cNvSpPr/>
          <p:nvPr/>
        </p:nvSpPr>
        <p:spPr>
          <a:xfrm>
            <a:off x="2355763" y="3384106"/>
            <a:ext cx="241004" cy="255615"/>
          </a:xfrm>
          <a:prstGeom prst="flowChartSummingJunction">
            <a:avLst/>
          </a:prstGeom>
          <a:solidFill>
            <a:schemeClr val="tx2">
              <a:lumMod val="60000"/>
              <a:lumOff val="4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2" name="Straight Arrow Connector 41"/>
          <p:cNvCxnSpPr/>
          <p:nvPr/>
        </p:nvCxnSpPr>
        <p:spPr>
          <a:xfrm>
            <a:off x="3699146" y="3947604"/>
            <a:ext cx="497304" cy="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43" name="Straight Arrow Connector 42"/>
          <p:cNvCxnSpPr/>
          <p:nvPr/>
        </p:nvCxnSpPr>
        <p:spPr>
          <a:xfrm>
            <a:off x="4537161" y="3947604"/>
            <a:ext cx="497304" cy="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
        <p:nvSpPr>
          <p:cNvPr id="45" name="TextBox 44"/>
          <p:cNvSpPr txBox="1"/>
          <p:nvPr/>
        </p:nvSpPr>
        <p:spPr>
          <a:xfrm>
            <a:off x="3266443" y="3809276"/>
            <a:ext cx="411844" cy="369332"/>
          </a:xfrm>
          <a:prstGeom prst="rect">
            <a:avLst/>
          </a:prstGeom>
          <a:noFill/>
        </p:spPr>
        <p:txBody>
          <a:bodyPr wrap="none" rtlCol="0">
            <a:spAutoFit/>
          </a:bodyPr>
          <a:lstStyle/>
          <a:p>
            <a:r>
              <a:rPr lang="en-US" dirty="0" smtClean="0"/>
              <a:t>FC</a:t>
            </a:r>
            <a:endParaRPr lang="en-US" dirty="0"/>
          </a:p>
        </p:txBody>
      </p:sp>
      <p:sp>
        <p:nvSpPr>
          <p:cNvPr id="46" name="TextBox 45"/>
          <p:cNvSpPr txBox="1"/>
          <p:nvPr/>
        </p:nvSpPr>
        <p:spPr>
          <a:xfrm>
            <a:off x="4139830" y="3817800"/>
            <a:ext cx="411844" cy="369332"/>
          </a:xfrm>
          <a:prstGeom prst="rect">
            <a:avLst/>
          </a:prstGeom>
          <a:noFill/>
        </p:spPr>
        <p:txBody>
          <a:bodyPr wrap="none" rtlCol="0">
            <a:spAutoFit/>
          </a:bodyPr>
          <a:lstStyle/>
          <a:p>
            <a:r>
              <a:rPr lang="en-US" dirty="0" smtClean="0"/>
              <a:t>FC</a:t>
            </a:r>
            <a:endParaRPr lang="en-US" dirty="0"/>
          </a:p>
        </p:txBody>
      </p:sp>
      <p:graphicFrame>
        <p:nvGraphicFramePr>
          <p:cNvPr id="49" name="Table 48"/>
          <p:cNvGraphicFramePr>
            <a:graphicFrameLocks noGrp="1"/>
          </p:cNvGraphicFramePr>
          <p:nvPr>
            <p:extLst>
              <p:ext uri="{D42A27DB-BD31-4B8C-83A1-F6EECF244321}">
                <p14:modId xmlns:p14="http://schemas.microsoft.com/office/powerpoint/2010/main" val="3816867824"/>
              </p:ext>
            </p:extLst>
          </p:nvPr>
        </p:nvGraphicFramePr>
        <p:xfrm>
          <a:off x="1435220" y="1591327"/>
          <a:ext cx="1566190" cy="274320"/>
        </p:xfrm>
        <a:graphic>
          <a:graphicData uri="http://schemas.openxmlformats.org/drawingml/2006/table">
            <a:tbl>
              <a:tblPr firstRow="1" bandRow="1">
                <a:tableStyleId>{7DF18680-E054-41AD-8BC1-D1AEF772440D}</a:tableStyleId>
              </a:tblPr>
              <a:tblGrid>
                <a:gridCol w="428270"/>
                <a:gridCol w="284480"/>
                <a:gridCol w="284480"/>
                <a:gridCol w="284480"/>
                <a:gridCol w="284480"/>
              </a:tblGrid>
              <a:tr h="152400">
                <a:tc>
                  <a:txBody>
                    <a:bodyPr/>
                    <a:lstStyle/>
                    <a:p>
                      <a:r>
                        <a:rPr lang="en-US" sz="1200" b="0" dirty="0" smtClean="0"/>
                        <a:t>RX</a:t>
                      </a:r>
                    </a:p>
                  </a:txBody>
                  <a:tcPr/>
                </a:tc>
                <a:tc>
                  <a:txBody>
                    <a:bodyPr/>
                    <a:lstStyle/>
                    <a:p>
                      <a:r>
                        <a:rPr lang="en-US" sz="1200" b="0" dirty="0" smtClean="0"/>
                        <a:t>x</a:t>
                      </a:r>
                      <a:endParaRPr lang="en-US" sz="1200" b="0" dirty="0"/>
                    </a:p>
                  </a:txBody>
                  <a:tcPr/>
                </a:tc>
                <a:tc>
                  <a:txBody>
                    <a:bodyPr/>
                    <a:lstStyle/>
                    <a:p>
                      <a:r>
                        <a:rPr lang="en-US" sz="1200" b="0" dirty="0" smtClean="0"/>
                        <a:t>x</a:t>
                      </a:r>
                      <a:endParaRPr lang="en-US" sz="1200" b="0" dirty="0"/>
                    </a:p>
                  </a:txBody>
                  <a:tcPr/>
                </a:tc>
                <a:tc>
                  <a:txBody>
                    <a:bodyPr/>
                    <a:lstStyle/>
                    <a:p>
                      <a:r>
                        <a:rPr lang="en-US" sz="1200" b="0" dirty="0" smtClean="0"/>
                        <a:t>x</a:t>
                      </a:r>
                      <a:endParaRPr lang="en-US" sz="1200" b="0" dirty="0"/>
                    </a:p>
                  </a:txBody>
                  <a:tcPr/>
                </a:tc>
                <a:tc>
                  <a:txBody>
                    <a:bodyPr/>
                    <a:lstStyle/>
                    <a:p>
                      <a:r>
                        <a:rPr lang="en-US" sz="1200" b="0" dirty="0" smtClean="0"/>
                        <a:t>x</a:t>
                      </a:r>
                      <a:endParaRPr lang="en-US" sz="1200" b="0" dirty="0"/>
                    </a:p>
                  </a:txBody>
                  <a:tcPr/>
                </a:tc>
              </a:tr>
            </a:tbl>
          </a:graphicData>
        </a:graphic>
      </p:graphicFrame>
      <p:cxnSp>
        <p:nvCxnSpPr>
          <p:cNvPr id="53" name="Straight Arrow Connector 52"/>
          <p:cNvCxnSpPr>
            <a:stCxn id="7" idx="2"/>
            <a:endCxn id="40" idx="6"/>
          </p:cNvCxnSpPr>
          <p:nvPr/>
        </p:nvCxnSpPr>
        <p:spPr>
          <a:xfrm flipH="1">
            <a:off x="2596767" y="3508948"/>
            <a:ext cx="2769411" cy="2966"/>
          </a:xfrm>
          <a:prstGeom prst="straightConnector1">
            <a:avLst/>
          </a:prstGeom>
          <a:ln>
            <a:tailEnd type="arrow"/>
          </a:ln>
        </p:spPr>
        <p:style>
          <a:lnRef idx="2">
            <a:schemeClr val="accent5"/>
          </a:lnRef>
          <a:fillRef idx="0">
            <a:schemeClr val="accent5"/>
          </a:fillRef>
          <a:effectRef idx="1">
            <a:schemeClr val="accent5"/>
          </a:effectRef>
          <a:fontRef idx="minor">
            <a:schemeClr val="tx1"/>
          </a:fontRef>
        </p:style>
      </p:cxnSp>
      <p:sp>
        <p:nvSpPr>
          <p:cNvPr id="63" name="TextBox 62"/>
          <p:cNvSpPr txBox="1"/>
          <p:nvPr/>
        </p:nvSpPr>
        <p:spPr>
          <a:xfrm>
            <a:off x="2662019" y="3581400"/>
            <a:ext cx="538381" cy="261610"/>
          </a:xfrm>
          <a:prstGeom prst="rect">
            <a:avLst/>
          </a:prstGeom>
          <a:noFill/>
        </p:spPr>
        <p:txBody>
          <a:bodyPr wrap="square" rtlCol="0">
            <a:spAutoFit/>
          </a:bodyPr>
          <a:lstStyle/>
          <a:p>
            <a:r>
              <a:rPr lang="en-US" sz="1100" dirty="0" smtClean="0">
                <a:solidFill>
                  <a:srgbClr val="0070C0"/>
                </a:solidFill>
                <a:effectLst>
                  <a:outerShdw blurRad="38100" dist="38100" dir="2700000" algn="tl">
                    <a:srgbClr val="000000">
                      <a:alpha val="43137"/>
                    </a:srgbClr>
                  </a:outerShdw>
                </a:effectLst>
              </a:rPr>
              <a:t>Drop </a:t>
            </a:r>
            <a:endParaRPr lang="en-US" sz="1100" dirty="0">
              <a:solidFill>
                <a:srgbClr val="0070C0"/>
              </a:solidFill>
              <a:effectLst>
                <a:outerShdw blurRad="38100" dist="38100" dir="2700000" algn="tl">
                  <a:srgbClr val="000000">
                    <a:alpha val="43137"/>
                  </a:srgbClr>
                </a:outerShdw>
              </a:effectLst>
            </a:endParaRPr>
          </a:p>
        </p:txBody>
      </p:sp>
      <p:sp>
        <p:nvSpPr>
          <p:cNvPr id="65" name="TextBox 64"/>
          <p:cNvSpPr txBox="1"/>
          <p:nvPr/>
        </p:nvSpPr>
        <p:spPr>
          <a:xfrm>
            <a:off x="3367587" y="3633796"/>
            <a:ext cx="1666878" cy="261610"/>
          </a:xfrm>
          <a:prstGeom prst="rect">
            <a:avLst/>
          </a:prstGeom>
          <a:noFill/>
        </p:spPr>
        <p:txBody>
          <a:bodyPr wrap="square" rtlCol="0">
            <a:spAutoFit/>
          </a:bodyPr>
          <a:lstStyle/>
          <a:p>
            <a:r>
              <a:rPr lang="en-US" sz="1100" dirty="0" smtClean="0">
                <a:effectLst>
                  <a:outerShdw blurRad="38100" dist="38100" dir="2700000" algn="tl">
                    <a:srgbClr val="000000">
                      <a:alpha val="43137"/>
                    </a:srgbClr>
                  </a:outerShdw>
                </a:effectLst>
              </a:rPr>
              <a:t>Ingress  doesn’t FC? </a:t>
            </a:r>
            <a:endParaRPr lang="en-US" sz="1100"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63941162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820713064"/>
              </p:ext>
            </p:extLst>
          </p:nvPr>
        </p:nvGraphicFramePr>
        <p:xfrm>
          <a:off x="4648200" y="3429000"/>
          <a:ext cx="3340100" cy="2095500"/>
        </p:xfrm>
        <a:graphic>
          <a:graphicData uri="http://schemas.openxmlformats.org/drawingml/2006/table">
            <a:tbl>
              <a:tblPr/>
              <a:tblGrid>
                <a:gridCol w="1016277"/>
                <a:gridCol w="636360"/>
                <a:gridCol w="1051103"/>
                <a:gridCol w="636360"/>
              </a:tblGrid>
              <a:tr h="190500">
                <a:tc>
                  <a:txBody>
                    <a:bodyPr/>
                    <a:lstStyle/>
                    <a:p>
                      <a:pPr algn="ctr" fontAlgn="b"/>
                      <a:r>
                        <a:rPr lang="en-US" sz="1100" b="1" i="0" u="none" strike="noStrike" dirty="0">
                          <a:solidFill>
                            <a:srgbClr val="FFFFFF"/>
                          </a:solidFill>
                          <a:effectLst/>
                          <a:latin typeface="Calibri"/>
                        </a:rPr>
                        <a:t>Arad port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6933C"/>
                    </a:solidFill>
                  </a:tcPr>
                </a:tc>
                <a:tc>
                  <a:txBody>
                    <a:bodyPr/>
                    <a:lstStyle/>
                    <a:p>
                      <a:pPr algn="ctr" fontAlgn="b"/>
                      <a:r>
                        <a:rPr lang="en-US" sz="1100" b="1" i="0" u="none" strike="noStrike" dirty="0">
                          <a:solidFill>
                            <a:srgbClr val="FFFFFF"/>
                          </a:solidFill>
                          <a:effectLst/>
                          <a:latin typeface="Calibri"/>
                        </a:rPr>
                        <a:t>Inlaken0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6933C"/>
                    </a:solidFill>
                  </a:tcPr>
                </a:tc>
                <a:tc>
                  <a:txBody>
                    <a:bodyPr/>
                    <a:lstStyle/>
                    <a:p>
                      <a:pPr algn="ctr" fontAlgn="b"/>
                      <a:r>
                        <a:rPr lang="en-US" sz="1100" b="1" i="0" u="none" strike="noStrike">
                          <a:solidFill>
                            <a:srgbClr val="FFFFFF"/>
                          </a:solidFill>
                          <a:effectLst/>
                          <a:latin typeface="Calibri"/>
                        </a:rPr>
                        <a:t>Arad port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6933C"/>
                    </a:solidFill>
                  </a:tcPr>
                </a:tc>
                <a:tc>
                  <a:txBody>
                    <a:bodyPr/>
                    <a:lstStyle/>
                    <a:p>
                      <a:pPr algn="ctr" fontAlgn="b"/>
                      <a:r>
                        <a:rPr lang="en-US" sz="1100" b="1" i="0" u="none" strike="noStrike">
                          <a:solidFill>
                            <a:srgbClr val="FFFFFF"/>
                          </a:solidFill>
                          <a:effectLst/>
                          <a:latin typeface="Calibri"/>
                        </a:rPr>
                        <a:t>Inlaken1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6933C"/>
                    </a:solidFill>
                  </a:tcPr>
                </a:tc>
              </a:tr>
              <a:tr h="190500">
                <a:tc>
                  <a:txBody>
                    <a:bodyPr/>
                    <a:lstStyle/>
                    <a:p>
                      <a:pPr algn="ctr" fontAlgn="b"/>
                      <a:r>
                        <a:rPr lang="en-US" sz="1100" b="0" i="0" u="none" strike="noStrike">
                          <a:solidFill>
                            <a:srgbClr val="000000"/>
                          </a:solidFill>
                          <a:effectLst/>
                          <a:latin typeface="Calibri"/>
                        </a:rPr>
                        <a:t>ucode_port_166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r>
                        <a:rPr lang="en-US" sz="1100" b="0" i="0" u="none" strike="noStrike">
                          <a:solidFill>
                            <a:srgbClr val="000000"/>
                          </a:solidFill>
                          <a:effectLst/>
                          <a:latin typeface="Calibri"/>
                        </a:rPr>
                        <a:t>ILKN0.176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r>
                        <a:rPr lang="en-US" sz="1100" b="0" i="0" u="none" strike="noStrike" dirty="0">
                          <a:solidFill>
                            <a:srgbClr val="000000"/>
                          </a:solidFill>
                          <a:effectLst/>
                          <a:latin typeface="Calibri"/>
                        </a:rPr>
                        <a:t>ucode_port_176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r>
                        <a:rPr lang="en-US" sz="1100" b="0" i="0" u="none" strike="noStrike">
                          <a:solidFill>
                            <a:srgbClr val="000000"/>
                          </a:solidFill>
                          <a:effectLst/>
                          <a:latin typeface="Calibri"/>
                        </a:rPr>
                        <a:t>ILKN1.176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r>
              <a:tr h="190500">
                <a:tc>
                  <a:txBody>
                    <a:bodyPr/>
                    <a:lstStyle/>
                    <a:p>
                      <a:pPr algn="ctr" fontAlgn="b"/>
                      <a:r>
                        <a:rPr lang="en-US" sz="1100" b="0" i="0" u="none" strike="noStrike">
                          <a:solidFill>
                            <a:srgbClr val="000000"/>
                          </a:solidFill>
                          <a:effectLst/>
                          <a:latin typeface="Calibri"/>
                        </a:rPr>
                        <a:t>ucode_port_167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r>
                        <a:rPr lang="en-US" sz="1100" b="0" i="0" u="none" strike="noStrike">
                          <a:solidFill>
                            <a:srgbClr val="000000"/>
                          </a:solidFill>
                          <a:effectLst/>
                          <a:latin typeface="Calibri"/>
                        </a:rPr>
                        <a:t>ILKN0.177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r>
                        <a:rPr lang="en-US" sz="1100" b="0" i="0" u="none" strike="noStrike" dirty="0">
                          <a:solidFill>
                            <a:srgbClr val="000000"/>
                          </a:solidFill>
                          <a:effectLst/>
                          <a:latin typeface="Calibri"/>
                        </a:rPr>
                        <a:t>ucode_port_177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r>
                        <a:rPr lang="en-US" sz="1100" b="0" i="0" u="none" strike="noStrike">
                          <a:solidFill>
                            <a:srgbClr val="000000"/>
                          </a:solidFill>
                          <a:effectLst/>
                          <a:latin typeface="Calibri"/>
                        </a:rPr>
                        <a:t>ILKN1.177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r>
              <a:tr h="190500">
                <a:tc>
                  <a:txBody>
                    <a:bodyPr/>
                    <a:lstStyle/>
                    <a:p>
                      <a:pPr algn="ctr" fontAlgn="b"/>
                      <a:r>
                        <a:rPr lang="en-US" sz="1100" b="0" i="0" u="none" strike="noStrike">
                          <a:solidFill>
                            <a:srgbClr val="000000"/>
                          </a:solidFill>
                          <a:effectLst/>
                          <a:latin typeface="Calibri"/>
                        </a:rPr>
                        <a:t>ucode_port_168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r>
                        <a:rPr lang="en-US" sz="1100" b="0" i="0" u="none" strike="noStrike">
                          <a:solidFill>
                            <a:srgbClr val="000000"/>
                          </a:solidFill>
                          <a:effectLst/>
                          <a:latin typeface="Calibri"/>
                        </a:rPr>
                        <a:t>ILKN0.178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r>
                        <a:rPr lang="en-US" sz="1100" b="0" i="0" u="none" strike="noStrike" dirty="0">
                          <a:solidFill>
                            <a:srgbClr val="000000"/>
                          </a:solidFill>
                          <a:effectLst/>
                          <a:latin typeface="Calibri"/>
                        </a:rPr>
                        <a:t>ucode_port_178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r>
                        <a:rPr lang="en-US" sz="1100" b="0" i="0" u="none" strike="noStrike">
                          <a:solidFill>
                            <a:srgbClr val="000000"/>
                          </a:solidFill>
                          <a:effectLst/>
                          <a:latin typeface="Calibri"/>
                        </a:rPr>
                        <a:t>ILKN1.178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r>
              <a:tr h="190500">
                <a:tc>
                  <a:txBody>
                    <a:bodyPr/>
                    <a:lstStyle/>
                    <a:p>
                      <a:pPr algn="ctr" fontAlgn="b"/>
                      <a:r>
                        <a:rPr lang="en-US" sz="1100" b="0" i="0" u="none" strike="noStrike">
                          <a:solidFill>
                            <a:srgbClr val="000000"/>
                          </a:solidFill>
                          <a:effectLst/>
                          <a:latin typeface="Calibri"/>
                        </a:rPr>
                        <a:t>ucode_port_169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r>
                        <a:rPr lang="en-US" sz="1100" b="0" i="0" u="none" strike="noStrike">
                          <a:solidFill>
                            <a:srgbClr val="000000"/>
                          </a:solidFill>
                          <a:effectLst/>
                          <a:latin typeface="Calibri"/>
                        </a:rPr>
                        <a:t>ILKN0.179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r>
                        <a:rPr lang="en-US" sz="1100" b="0" i="0" u="none" strike="noStrike">
                          <a:solidFill>
                            <a:srgbClr val="000000"/>
                          </a:solidFill>
                          <a:effectLst/>
                          <a:latin typeface="Calibri"/>
                        </a:rPr>
                        <a:t>ucode_port_179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r>
                        <a:rPr lang="en-US" sz="1100" b="0" i="0" u="none" strike="noStrike">
                          <a:solidFill>
                            <a:srgbClr val="000000"/>
                          </a:solidFill>
                          <a:effectLst/>
                          <a:latin typeface="Calibri"/>
                        </a:rPr>
                        <a:t>ILKN1.179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r>
              <a:tr h="190500">
                <a:tc>
                  <a:txBody>
                    <a:bodyPr/>
                    <a:lstStyle/>
                    <a:p>
                      <a:pPr algn="ctr" fontAlgn="b"/>
                      <a:r>
                        <a:rPr lang="en-US" sz="1100" b="0" i="0" u="none" strike="noStrike">
                          <a:solidFill>
                            <a:srgbClr val="000000"/>
                          </a:solidFill>
                          <a:effectLst/>
                          <a:latin typeface="Calibri"/>
                        </a:rPr>
                        <a:t>ucode_port_170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r>
                        <a:rPr lang="en-US" sz="1100" b="0" i="0" u="none" strike="noStrike">
                          <a:solidFill>
                            <a:srgbClr val="000000"/>
                          </a:solidFill>
                          <a:effectLst/>
                          <a:latin typeface="Calibri"/>
                        </a:rPr>
                        <a:t>ILKN0.180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r>
                        <a:rPr lang="en-US" sz="1100" b="0" i="0" u="none" strike="noStrike">
                          <a:solidFill>
                            <a:srgbClr val="000000"/>
                          </a:solidFill>
                          <a:effectLst/>
                          <a:latin typeface="Calibri"/>
                        </a:rPr>
                        <a:t>ucode_port_180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r>
                        <a:rPr lang="en-US" sz="1100" b="0" i="0" u="none" strike="noStrike">
                          <a:solidFill>
                            <a:srgbClr val="000000"/>
                          </a:solidFill>
                          <a:effectLst/>
                          <a:latin typeface="Calibri"/>
                        </a:rPr>
                        <a:t>ILKN1.180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r>
              <a:tr h="190500">
                <a:tc>
                  <a:txBody>
                    <a:bodyPr/>
                    <a:lstStyle/>
                    <a:p>
                      <a:pPr algn="ctr" fontAlgn="b"/>
                      <a:r>
                        <a:rPr lang="en-US" sz="1100" b="0" i="0" u="none" strike="noStrike">
                          <a:solidFill>
                            <a:srgbClr val="000000"/>
                          </a:solidFill>
                          <a:effectLst/>
                          <a:latin typeface="Calibri"/>
                        </a:rPr>
                        <a:t>ucode_port_171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r>
                        <a:rPr lang="en-US" sz="1100" b="0" i="0" u="none" strike="noStrike">
                          <a:solidFill>
                            <a:srgbClr val="000000"/>
                          </a:solidFill>
                          <a:effectLst/>
                          <a:latin typeface="Calibri"/>
                        </a:rPr>
                        <a:t>ILKN0.181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r>
                        <a:rPr lang="en-US" sz="1100" b="0" i="0" u="none" strike="noStrike">
                          <a:solidFill>
                            <a:srgbClr val="000000"/>
                          </a:solidFill>
                          <a:effectLst/>
                          <a:latin typeface="Calibri"/>
                        </a:rPr>
                        <a:t>ucode_port_181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r>
                        <a:rPr lang="en-US" sz="1100" b="0" i="0" u="none" strike="noStrike">
                          <a:solidFill>
                            <a:srgbClr val="000000"/>
                          </a:solidFill>
                          <a:effectLst/>
                          <a:latin typeface="Calibri"/>
                        </a:rPr>
                        <a:t>ILKN1.181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r>
              <a:tr h="190500">
                <a:tc>
                  <a:txBody>
                    <a:bodyPr/>
                    <a:lstStyle/>
                    <a:p>
                      <a:pPr algn="ctr" fontAlgn="b"/>
                      <a:r>
                        <a:rPr lang="en-US" sz="1100" b="0" i="0" u="none" strike="noStrike">
                          <a:solidFill>
                            <a:srgbClr val="000000"/>
                          </a:solidFill>
                          <a:effectLst/>
                          <a:latin typeface="Calibri"/>
                        </a:rPr>
                        <a:t>ucode_port_172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r>
                        <a:rPr lang="en-US" sz="1100" b="0" i="0" u="none" strike="noStrike" dirty="0">
                          <a:solidFill>
                            <a:srgbClr val="000000"/>
                          </a:solidFill>
                          <a:effectLst/>
                          <a:latin typeface="Calibri"/>
                        </a:rPr>
                        <a:t>ILKN0.182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r>
                        <a:rPr lang="en-US" sz="1100" b="0" i="0" u="none" strike="noStrike">
                          <a:solidFill>
                            <a:srgbClr val="000000"/>
                          </a:solidFill>
                          <a:effectLst/>
                          <a:latin typeface="Calibri"/>
                        </a:rPr>
                        <a:t>ucode_port_182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r>
                        <a:rPr lang="en-US" sz="1100" b="0" i="0" u="none" strike="noStrike">
                          <a:solidFill>
                            <a:srgbClr val="000000"/>
                          </a:solidFill>
                          <a:effectLst/>
                          <a:latin typeface="Calibri"/>
                        </a:rPr>
                        <a:t>ILKN1.182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r>
              <a:tr h="190500">
                <a:tc>
                  <a:txBody>
                    <a:bodyPr/>
                    <a:lstStyle/>
                    <a:p>
                      <a:pPr algn="ctr" fontAlgn="b"/>
                      <a:r>
                        <a:rPr lang="en-US" sz="1100" b="0" i="0" u="none" strike="noStrike">
                          <a:solidFill>
                            <a:srgbClr val="000000"/>
                          </a:solidFill>
                          <a:effectLst/>
                          <a:latin typeface="Calibri"/>
                        </a:rPr>
                        <a:t>ucode_port_173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r>
                        <a:rPr lang="en-US" sz="1100" b="0" i="0" u="none" strike="noStrike">
                          <a:solidFill>
                            <a:srgbClr val="000000"/>
                          </a:solidFill>
                          <a:effectLst/>
                          <a:latin typeface="Calibri"/>
                        </a:rPr>
                        <a:t>ILKN0.183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r>
                        <a:rPr lang="en-US" sz="1100" b="0" i="0" u="none" strike="noStrike">
                          <a:solidFill>
                            <a:srgbClr val="000000"/>
                          </a:solidFill>
                          <a:effectLst/>
                          <a:latin typeface="Calibri"/>
                        </a:rPr>
                        <a:t>ucode_port_183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r>
                        <a:rPr lang="en-US" sz="1100" b="0" i="0" u="none" strike="noStrike">
                          <a:solidFill>
                            <a:srgbClr val="000000"/>
                          </a:solidFill>
                          <a:effectLst/>
                          <a:latin typeface="Calibri"/>
                        </a:rPr>
                        <a:t>ILKN1.183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r>
              <a:tr h="190500">
                <a:tc>
                  <a:txBody>
                    <a:bodyPr/>
                    <a:lstStyle/>
                    <a:p>
                      <a:pPr algn="ctr" fontAlgn="b"/>
                      <a:r>
                        <a:rPr lang="en-US" sz="1100" b="0" i="0" u="none" strike="noStrike">
                          <a:solidFill>
                            <a:srgbClr val="000000"/>
                          </a:solidFill>
                          <a:effectLst/>
                          <a:latin typeface="Calibri"/>
                        </a:rPr>
                        <a:t>ucode_port_174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r>
                        <a:rPr lang="en-US" sz="1100" b="0" i="0" u="none" strike="noStrike">
                          <a:solidFill>
                            <a:srgbClr val="000000"/>
                          </a:solidFill>
                          <a:effectLst/>
                          <a:latin typeface="Calibri"/>
                        </a:rPr>
                        <a:t>ILKN0.184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r>
                        <a:rPr lang="en-US" sz="1100" b="0" i="0" u="none" strike="noStrike">
                          <a:solidFill>
                            <a:srgbClr val="000000"/>
                          </a:solidFill>
                          <a:effectLst/>
                          <a:latin typeface="Calibri"/>
                        </a:rPr>
                        <a:t>ucode_port_184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r>
                        <a:rPr lang="en-US" sz="1100" b="0" i="0" u="none" strike="noStrike">
                          <a:solidFill>
                            <a:srgbClr val="000000"/>
                          </a:solidFill>
                          <a:effectLst/>
                          <a:latin typeface="Calibri"/>
                        </a:rPr>
                        <a:t>ILKN1.184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r>
              <a:tr h="190500">
                <a:tc>
                  <a:txBody>
                    <a:bodyPr/>
                    <a:lstStyle/>
                    <a:p>
                      <a:pPr algn="ctr" fontAlgn="b"/>
                      <a:r>
                        <a:rPr lang="en-US" sz="1100" b="0" i="0" u="none" strike="noStrike" dirty="0">
                          <a:solidFill>
                            <a:srgbClr val="000000"/>
                          </a:solidFill>
                          <a:effectLst/>
                          <a:latin typeface="Calibri"/>
                        </a:rPr>
                        <a:t>ucode_port_175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r>
                        <a:rPr lang="en-US" sz="1100" b="0" i="0" u="none" strike="noStrike" dirty="0">
                          <a:solidFill>
                            <a:srgbClr val="000000"/>
                          </a:solidFill>
                          <a:effectLst/>
                          <a:latin typeface="Calibri"/>
                        </a:rPr>
                        <a:t>ILKN0.185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r>
                        <a:rPr lang="en-US" sz="1100" b="0" i="0" u="none" strike="noStrike">
                          <a:solidFill>
                            <a:srgbClr val="000000"/>
                          </a:solidFill>
                          <a:effectLst/>
                          <a:latin typeface="Calibri"/>
                        </a:rPr>
                        <a:t>ucode_port_185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r>
                        <a:rPr lang="en-US" sz="1100" b="0" i="0" u="none" strike="noStrike" dirty="0">
                          <a:solidFill>
                            <a:srgbClr val="000000"/>
                          </a:solidFill>
                          <a:effectLst/>
                          <a:latin typeface="Calibri"/>
                        </a:rPr>
                        <a:t>ILKN1.185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r>
            </a:tbl>
          </a:graphicData>
        </a:graphic>
      </p:graphicFrame>
      <p:pic>
        <p:nvPicPr>
          <p:cNvPr id="1025"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72277" y="419099"/>
            <a:ext cx="3071723" cy="2619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6" name="Table 5"/>
          <p:cNvGraphicFramePr>
            <a:graphicFrameLocks noGrp="1"/>
          </p:cNvGraphicFramePr>
          <p:nvPr>
            <p:extLst>
              <p:ext uri="{D42A27DB-BD31-4B8C-83A1-F6EECF244321}">
                <p14:modId xmlns:p14="http://schemas.microsoft.com/office/powerpoint/2010/main" val="41157084"/>
              </p:ext>
            </p:extLst>
          </p:nvPr>
        </p:nvGraphicFramePr>
        <p:xfrm>
          <a:off x="381000" y="609600"/>
          <a:ext cx="5562600" cy="2133600"/>
        </p:xfrm>
        <a:graphic>
          <a:graphicData uri="http://schemas.openxmlformats.org/drawingml/2006/table">
            <a:tbl>
              <a:tblPr/>
              <a:tblGrid>
                <a:gridCol w="1779144"/>
                <a:gridCol w="1002156"/>
                <a:gridCol w="1779144"/>
                <a:gridCol w="1002156"/>
              </a:tblGrid>
              <a:tr h="190500">
                <a:tc>
                  <a:txBody>
                    <a:bodyPr/>
                    <a:lstStyle/>
                    <a:p>
                      <a:pPr algn="ctr" fontAlgn="b"/>
                      <a:r>
                        <a:rPr lang="en-US" sz="1100" b="1" i="0" u="none" strike="noStrike" dirty="0">
                          <a:solidFill>
                            <a:srgbClr val="FFFFFF"/>
                          </a:solidFill>
                          <a:effectLst/>
                          <a:latin typeface="Calibri"/>
                        </a:rPr>
                        <a:t>CFC_ILKN_RX_0_CAL</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76933C"/>
                    </a:solidFill>
                  </a:tcPr>
                </a:tc>
                <a:tc>
                  <a:txBody>
                    <a:bodyPr/>
                    <a:lstStyle/>
                    <a:p>
                      <a:pPr algn="ctr" fontAlgn="b"/>
                      <a:r>
                        <a:rPr lang="en-US" sz="1100" b="1" i="0" u="none" strike="noStrike">
                          <a:solidFill>
                            <a:srgbClr val="FFFFFF"/>
                          </a:solidFill>
                          <a:effectLst/>
                          <a:latin typeface="Calibri"/>
                        </a:rPr>
                        <a:t>FC_INDEX</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76933C"/>
                    </a:solidFill>
                  </a:tcPr>
                </a:tc>
                <a:tc>
                  <a:txBody>
                    <a:bodyPr/>
                    <a:lstStyle/>
                    <a:p>
                      <a:pPr algn="ctr" fontAlgn="b"/>
                      <a:r>
                        <a:rPr lang="en-US" sz="1100" b="1" i="0" u="none" strike="noStrike">
                          <a:solidFill>
                            <a:srgbClr val="FFFFFF"/>
                          </a:solidFill>
                          <a:effectLst/>
                          <a:latin typeface="Calibri"/>
                        </a:rPr>
                        <a:t>CFC_ILKN_RX_1_CAL</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76933C"/>
                    </a:solidFill>
                  </a:tcPr>
                </a:tc>
                <a:tc>
                  <a:txBody>
                    <a:bodyPr/>
                    <a:lstStyle/>
                    <a:p>
                      <a:pPr algn="ctr" fontAlgn="b"/>
                      <a:r>
                        <a:rPr lang="en-US" sz="1100" b="1" i="0" u="none" strike="noStrike" dirty="0">
                          <a:solidFill>
                            <a:srgbClr val="FFFFFF"/>
                          </a:solidFill>
                          <a:effectLst/>
                          <a:latin typeface="Calibri"/>
                        </a:rPr>
                        <a:t>FC_INDEX</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76933C"/>
                    </a:solidFill>
                  </a:tcPr>
                </a:tc>
              </a:tr>
              <a:tr h="190500">
                <a:tc>
                  <a:txBody>
                    <a:bodyPr/>
                    <a:lstStyle/>
                    <a:p>
                      <a:pPr algn="ctr" fontAlgn="b"/>
                      <a:r>
                        <a:rPr lang="en-US" sz="1100" b="0" i="0" u="none" strike="noStrike" dirty="0">
                          <a:solidFill>
                            <a:srgbClr val="000000"/>
                          </a:solidFill>
                          <a:effectLst/>
                          <a:latin typeface="Calibri"/>
                        </a:rPr>
                        <a:t>CFC_ILKN_RX_0_CAL.CFC0[1]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fontAlgn="b"/>
                      <a:r>
                        <a:rPr lang="en-US" sz="1100" b="0" i="0" u="none" strike="noStrike">
                          <a:solidFill>
                            <a:srgbClr val="000000"/>
                          </a:solidFill>
                          <a:effectLst/>
                          <a:latin typeface="Calibri"/>
                        </a:rPr>
                        <a:t>FC_INDEX=0xb8</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fontAlgn="b"/>
                      <a:r>
                        <a:rPr lang="en-US" sz="1100" b="0" i="0" u="none" strike="noStrike">
                          <a:solidFill>
                            <a:srgbClr val="000000"/>
                          </a:solidFill>
                          <a:effectLst/>
                          <a:latin typeface="Calibri"/>
                        </a:rPr>
                        <a:t>CFC_ILKN_RX_1_CAL.CFC0[1]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fontAlgn="b"/>
                      <a:r>
                        <a:rPr lang="en-US" sz="1100" b="0" i="0" u="none" strike="noStrike">
                          <a:solidFill>
                            <a:srgbClr val="000000"/>
                          </a:solidFill>
                          <a:effectLst/>
                          <a:latin typeface="Calibri"/>
                        </a:rPr>
                        <a:t>FC_INDEX=0xd0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r>
              <a:tr h="228600">
                <a:tc>
                  <a:txBody>
                    <a:bodyPr/>
                    <a:lstStyle/>
                    <a:p>
                      <a:pPr algn="ctr" fontAlgn="b"/>
                      <a:r>
                        <a:rPr lang="en-US" sz="1100" b="0" i="0" u="none" strike="noStrike">
                          <a:solidFill>
                            <a:srgbClr val="000000"/>
                          </a:solidFill>
                          <a:effectLst/>
                          <a:latin typeface="Calibri"/>
                        </a:rPr>
                        <a:t>CFC_ILKN_RX_0_CAL.CFC0[2]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fontAlgn="b"/>
                      <a:r>
                        <a:rPr lang="en-US" sz="1100" b="0" i="0" u="none" strike="noStrike" dirty="0">
                          <a:solidFill>
                            <a:srgbClr val="000000"/>
                          </a:solidFill>
                          <a:effectLst/>
                          <a:latin typeface="Calibri"/>
                        </a:rPr>
                        <a:t>FC_INDEX=0xb9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fontAlgn="b"/>
                      <a:r>
                        <a:rPr lang="en-US" sz="1100" b="0" i="0" u="none" strike="noStrike">
                          <a:solidFill>
                            <a:srgbClr val="000000"/>
                          </a:solidFill>
                          <a:effectLst/>
                          <a:latin typeface="Calibri"/>
                        </a:rPr>
                        <a:t>CFC_ILKN_RX_1_CAL.CFC0[2]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fontAlgn="b"/>
                      <a:r>
                        <a:rPr lang="en-US" sz="1100" b="0" i="0" u="none" strike="noStrike">
                          <a:solidFill>
                            <a:srgbClr val="000000"/>
                          </a:solidFill>
                          <a:effectLst/>
                          <a:latin typeface="Calibri"/>
                        </a:rPr>
                        <a:t>FC_INDEX=0xd1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r>
              <a:tr h="190500">
                <a:tc>
                  <a:txBody>
                    <a:bodyPr/>
                    <a:lstStyle/>
                    <a:p>
                      <a:pPr algn="ctr" fontAlgn="b"/>
                      <a:r>
                        <a:rPr lang="en-US" sz="1100" b="0" i="0" u="none" strike="noStrike" dirty="0">
                          <a:solidFill>
                            <a:srgbClr val="000000"/>
                          </a:solidFill>
                          <a:effectLst/>
                          <a:latin typeface="Calibri"/>
                        </a:rPr>
                        <a:t>CFC_ILKN_RX_0_CAL.CFC0[3]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fontAlgn="b"/>
                      <a:r>
                        <a:rPr lang="en-US" sz="1100" b="0" i="0" u="none" strike="noStrike">
                          <a:solidFill>
                            <a:srgbClr val="000000"/>
                          </a:solidFill>
                          <a:effectLst/>
                          <a:latin typeface="Calibri"/>
                        </a:rPr>
                        <a:t>FC_INDEX=0xba</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fontAlgn="b"/>
                      <a:r>
                        <a:rPr lang="en-US" sz="1100" b="0" i="0" u="none" strike="noStrike" dirty="0">
                          <a:solidFill>
                            <a:srgbClr val="000000"/>
                          </a:solidFill>
                          <a:effectLst/>
                          <a:latin typeface="Calibri"/>
                        </a:rPr>
                        <a:t>CFC_ILKN_RX_1_CAL.CFC0[3]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fontAlgn="b"/>
                      <a:r>
                        <a:rPr lang="en-US" sz="1100" b="0" i="0" u="none" strike="noStrike">
                          <a:solidFill>
                            <a:srgbClr val="000000"/>
                          </a:solidFill>
                          <a:effectLst/>
                          <a:latin typeface="Calibri"/>
                        </a:rPr>
                        <a:t>FC_INDEX=0xd2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r>
              <a:tr h="190500">
                <a:tc>
                  <a:txBody>
                    <a:bodyPr/>
                    <a:lstStyle/>
                    <a:p>
                      <a:pPr algn="ctr" fontAlgn="b"/>
                      <a:r>
                        <a:rPr lang="en-US" sz="1100" b="0" i="0" u="none" strike="noStrike">
                          <a:solidFill>
                            <a:srgbClr val="000000"/>
                          </a:solidFill>
                          <a:effectLst/>
                          <a:latin typeface="Calibri"/>
                        </a:rPr>
                        <a:t>CFC_ILKN_RX_0_CAL.CFC0[4]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fontAlgn="b"/>
                      <a:r>
                        <a:rPr lang="en-US" sz="1100" b="0" i="0" u="none" strike="noStrike">
                          <a:solidFill>
                            <a:srgbClr val="000000"/>
                          </a:solidFill>
                          <a:effectLst/>
                          <a:latin typeface="Calibri"/>
                        </a:rPr>
                        <a:t>FC_INDEX=0xbb</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fontAlgn="b"/>
                      <a:r>
                        <a:rPr lang="en-US" sz="1100" b="0" i="0" u="none" strike="noStrike">
                          <a:solidFill>
                            <a:srgbClr val="000000"/>
                          </a:solidFill>
                          <a:effectLst/>
                          <a:latin typeface="Calibri"/>
                        </a:rPr>
                        <a:t>CFC_ILKN_RX_1_CAL.CFC0[4]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fontAlgn="b"/>
                      <a:r>
                        <a:rPr lang="en-US" sz="1100" b="0" i="0" u="none" strike="noStrike">
                          <a:solidFill>
                            <a:srgbClr val="000000"/>
                          </a:solidFill>
                          <a:effectLst/>
                          <a:latin typeface="Calibri"/>
                        </a:rPr>
                        <a:t>FC_INDEX=0xd3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r>
              <a:tr h="190500">
                <a:tc>
                  <a:txBody>
                    <a:bodyPr/>
                    <a:lstStyle/>
                    <a:p>
                      <a:pPr algn="ctr" fontAlgn="b"/>
                      <a:r>
                        <a:rPr lang="en-US" sz="1100" b="0" i="0" u="none" strike="noStrike">
                          <a:solidFill>
                            <a:srgbClr val="000000"/>
                          </a:solidFill>
                          <a:effectLst/>
                          <a:latin typeface="Calibri"/>
                        </a:rPr>
                        <a:t>CFC_ILKN_RX_0_CAL.CFC0[5]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fontAlgn="b"/>
                      <a:r>
                        <a:rPr lang="en-US" sz="1100" b="0" i="0" u="none" strike="noStrike">
                          <a:solidFill>
                            <a:srgbClr val="000000"/>
                          </a:solidFill>
                          <a:effectLst/>
                          <a:latin typeface="Calibri"/>
                        </a:rPr>
                        <a:t>FC_INDEX=0xbc</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fontAlgn="b"/>
                      <a:r>
                        <a:rPr lang="en-US" sz="1100" b="0" i="0" u="none" strike="noStrike">
                          <a:solidFill>
                            <a:srgbClr val="000000"/>
                          </a:solidFill>
                          <a:effectLst/>
                          <a:latin typeface="Calibri"/>
                        </a:rPr>
                        <a:t>CFC_ILKN_RX_1_CAL.CFC0[5]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fontAlgn="b"/>
                      <a:r>
                        <a:rPr lang="en-US" sz="1100" b="0" i="0" u="none" strike="noStrike">
                          <a:solidFill>
                            <a:srgbClr val="000000"/>
                          </a:solidFill>
                          <a:effectLst/>
                          <a:latin typeface="Calibri"/>
                        </a:rPr>
                        <a:t>FC_INDEX=0xd4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r>
              <a:tr h="190500">
                <a:tc>
                  <a:txBody>
                    <a:bodyPr/>
                    <a:lstStyle/>
                    <a:p>
                      <a:pPr algn="ctr" fontAlgn="b"/>
                      <a:r>
                        <a:rPr lang="en-US" sz="1100" b="0" i="0" u="none" strike="noStrike">
                          <a:solidFill>
                            <a:srgbClr val="000000"/>
                          </a:solidFill>
                          <a:effectLst/>
                          <a:latin typeface="Calibri"/>
                        </a:rPr>
                        <a:t>CFC_ILKN_RX_0_CAL.CFC0[6]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fontAlgn="b"/>
                      <a:r>
                        <a:rPr lang="en-US" sz="1100" b="0" i="0" u="none" strike="noStrike">
                          <a:solidFill>
                            <a:srgbClr val="000000"/>
                          </a:solidFill>
                          <a:effectLst/>
                          <a:latin typeface="Calibri"/>
                        </a:rPr>
                        <a:t>FC_INDEX=0xbd</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fontAlgn="b"/>
                      <a:r>
                        <a:rPr lang="en-US" sz="1100" b="0" i="0" u="none" strike="noStrike">
                          <a:solidFill>
                            <a:srgbClr val="000000"/>
                          </a:solidFill>
                          <a:effectLst/>
                          <a:latin typeface="Calibri"/>
                        </a:rPr>
                        <a:t>CFC_ILKN_RX_1_CAL.CFC0[6]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fontAlgn="b"/>
                      <a:r>
                        <a:rPr lang="en-US" sz="1100" b="0" i="0" u="none" strike="noStrike">
                          <a:solidFill>
                            <a:srgbClr val="000000"/>
                          </a:solidFill>
                          <a:effectLst/>
                          <a:latin typeface="Calibri"/>
                        </a:rPr>
                        <a:t>FC_INDEX=0xd5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r>
              <a:tr h="190500">
                <a:tc>
                  <a:txBody>
                    <a:bodyPr/>
                    <a:lstStyle/>
                    <a:p>
                      <a:pPr algn="ctr" fontAlgn="b"/>
                      <a:r>
                        <a:rPr lang="en-US" sz="1100" b="0" i="0" u="none" strike="noStrike">
                          <a:solidFill>
                            <a:srgbClr val="000000"/>
                          </a:solidFill>
                          <a:effectLst/>
                          <a:latin typeface="Calibri"/>
                        </a:rPr>
                        <a:t>CFC_ILKN_RX_0_CAL.CFC0[7]</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fontAlgn="b"/>
                      <a:r>
                        <a:rPr lang="en-US" sz="1100" b="0" i="0" u="none" strike="noStrike">
                          <a:solidFill>
                            <a:srgbClr val="000000"/>
                          </a:solidFill>
                          <a:effectLst/>
                          <a:latin typeface="Calibri"/>
                        </a:rPr>
                        <a:t>FC_INDEX=0xbe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fontAlgn="b"/>
                      <a:r>
                        <a:rPr lang="en-US" sz="1100" b="0" i="0" u="none" strike="noStrike">
                          <a:solidFill>
                            <a:srgbClr val="000000"/>
                          </a:solidFill>
                          <a:effectLst/>
                          <a:latin typeface="Calibri"/>
                        </a:rPr>
                        <a:t>CFC_ILKN_RX_1_CAL.CFC0[7]</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fontAlgn="b"/>
                      <a:r>
                        <a:rPr lang="en-US" sz="1100" b="0" i="0" u="none" strike="noStrike">
                          <a:solidFill>
                            <a:srgbClr val="000000"/>
                          </a:solidFill>
                          <a:effectLst/>
                          <a:latin typeface="Calibri"/>
                        </a:rPr>
                        <a:t>FC_INDEX=0xd6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r>
              <a:tr h="190500">
                <a:tc>
                  <a:txBody>
                    <a:bodyPr/>
                    <a:lstStyle/>
                    <a:p>
                      <a:pPr algn="ctr" fontAlgn="b"/>
                      <a:r>
                        <a:rPr lang="en-US" sz="1100" b="0" i="0" u="none" strike="noStrike">
                          <a:solidFill>
                            <a:srgbClr val="000000"/>
                          </a:solidFill>
                          <a:effectLst/>
                          <a:latin typeface="Calibri"/>
                        </a:rPr>
                        <a:t>CFC_ILKN_RX_0_CAL.CFC0[8]</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fontAlgn="b"/>
                      <a:r>
                        <a:rPr lang="en-US" sz="1100" b="0" i="0" u="none" strike="noStrike">
                          <a:solidFill>
                            <a:srgbClr val="000000"/>
                          </a:solidFill>
                          <a:effectLst/>
                          <a:latin typeface="Calibri"/>
                        </a:rPr>
                        <a:t>FC_INDEX=0xbf</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fontAlgn="b"/>
                      <a:r>
                        <a:rPr lang="en-US" sz="1100" b="0" i="0" u="none" strike="noStrike">
                          <a:solidFill>
                            <a:srgbClr val="000000"/>
                          </a:solidFill>
                          <a:effectLst/>
                          <a:latin typeface="Calibri"/>
                        </a:rPr>
                        <a:t>CFC_ILKN_RX_1_CAL.CFC0[8]</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fontAlgn="b"/>
                      <a:r>
                        <a:rPr lang="en-US" sz="1100" b="0" i="0" u="none" strike="noStrike">
                          <a:solidFill>
                            <a:srgbClr val="000000"/>
                          </a:solidFill>
                          <a:effectLst/>
                          <a:latin typeface="Calibri"/>
                        </a:rPr>
                        <a:t>FC_INDEX=0xd7</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r>
              <a:tr h="190500">
                <a:tc>
                  <a:txBody>
                    <a:bodyPr/>
                    <a:lstStyle/>
                    <a:p>
                      <a:pPr algn="ctr" fontAlgn="b"/>
                      <a:r>
                        <a:rPr lang="en-US" sz="1100" b="0" i="0" u="none" strike="noStrike">
                          <a:solidFill>
                            <a:srgbClr val="000000"/>
                          </a:solidFill>
                          <a:effectLst/>
                          <a:latin typeface="Calibri"/>
                        </a:rPr>
                        <a:t>CFC_ILKN_RX_0_CAL.CFC0[9]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fontAlgn="b"/>
                      <a:r>
                        <a:rPr lang="en-US" sz="1100" b="0" i="0" u="none" strike="noStrike">
                          <a:solidFill>
                            <a:srgbClr val="000000"/>
                          </a:solidFill>
                          <a:effectLst/>
                          <a:latin typeface="Calibri"/>
                        </a:rPr>
                        <a:t>FC_INDEX=0xc8</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fontAlgn="b"/>
                      <a:r>
                        <a:rPr lang="en-US" sz="1100" b="0" i="0" u="none" strike="noStrike">
                          <a:solidFill>
                            <a:srgbClr val="000000"/>
                          </a:solidFill>
                          <a:effectLst/>
                          <a:latin typeface="Calibri"/>
                        </a:rPr>
                        <a:t>CFC_ILKN_RX_1_CAL.CFC0[9]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fontAlgn="b"/>
                      <a:r>
                        <a:rPr lang="en-US" sz="1100" b="0" i="0" u="none" strike="noStrike">
                          <a:solidFill>
                            <a:srgbClr val="000000"/>
                          </a:solidFill>
                          <a:effectLst/>
                          <a:latin typeface="Calibri"/>
                        </a:rPr>
                        <a:t>FC_INDEX=0xd8</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r>
              <a:tr h="190500">
                <a:tc>
                  <a:txBody>
                    <a:bodyPr/>
                    <a:lstStyle/>
                    <a:p>
                      <a:pPr algn="ctr" fontAlgn="b"/>
                      <a:r>
                        <a:rPr lang="en-US" sz="1100" b="0" i="0" u="none" strike="noStrike">
                          <a:solidFill>
                            <a:srgbClr val="000000"/>
                          </a:solidFill>
                          <a:effectLst/>
                          <a:latin typeface="Calibri"/>
                        </a:rPr>
                        <a:t>CFC_ILKN_RX_0_CAL.CFC0[10]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fontAlgn="b"/>
                      <a:r>
                        <a:rPr lang="en-US" sz="1100" b="0" i="0" u="none" strike="noStrike">
                          <a:solidFill>
                            <a:srgbClr val="000000"/>
                          </a:solidFill>
                          <a:effectLst/>
                          <a:latin typeface="Calibri"/>
                        </a:rPr>
                        <a:t>FC_INDEX=0xc9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fontAlgn="b"/>
                      <a:r>
                        <a:rPr lang="en-US" sz="1100" b="0" i="0" u="none" strike="noStrike">
                          <a:solidFill>
                            <a:srgbClr val="000000"/>
                          </a:solidFill>
                          <a:effectLst/>
                          <a:latin typeface="Calibri"/>
                        </a:rPr>
                        <a:t>CFC_ILKN_RX_1_CAL.CFC0[10]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fontAlgn="b"/>
                      <a:r>
                        <a:rPr lang="en-US" sz="1100" b="0" i="0" u="none" strike="noStrike" dirty="0">
                          <a:solidFill>
                            <a:srgbClr val="000000"/>
                          </a:solidFill>
                          <a:effectLst/>
                          <a:latin typeface="Calibri"/>
                        </a:rPr>
                        <a:t>FC_INDEX=0xd9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4276978022"/>
              </p:ext>
            </p:extLst>
          </p:nvPr>
        </p:nvGraphicFramePr>
        <p:xfrm>
          <a:off x="304800" y="3429000"/>
          <a:ext cx="3619500" cy="2095500"/>
        </p:xfrm>
        <a:graphic>
          <a:graphicData uri="http://schemas.openxmlformats.org/drawingml/2006/table">
            <a:tbl>
              <a:tblPr/>
              <a:tblGrid>
                <a:gridCol w="1018282"/>
                <a:gridCol w="774021"/>
                <a:gridCol w="1053176"/>
                <a:gridCol w="774021"/>
              </a:tblGrid>
              <a:tr h="190500">
                <a:tc>
                  <a:txBody>
                    <a:bodyPr/>
                    <a:lstStyle/>
                    <a:p>
                      <a:pPr algn="ctr" fontAlgn="b"/>
                      <a:r>
                        <a:rPr lang="en-US" sz="1100" b="1" i="0" u="none" strike="noStrike" dirty="0">
                          <a:solidFill>
                            <a:srgbClr val="FFFFFF"/>
                          </a:solidFill>
                          <a:effectLst/>
                          <a:latin typeface="Calibri"/>
                        </a:rPr>
                        <a:t>Arad port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6933C"/>
                    </a:solidFill>
                  </a:tcPr>
                </a:tc>
                <a:tc>
                  <a:txBody>
                    <a:bodyPr/>
                    <a:lstStyle/>
                    <a:p>
                      <a:pPr algn="ctr" fontAlgn="b"/>
                      <a:r>
                        <a:rPr lang="en-US" sz="1100" b="1" i="0" u="none" strike="noStrike">
                          <a:solidFill>
                            <a:srgbClr val="FFFFFF"/>
                          </a:solidFill>
                          <a:effectLst/>
                          <a:latin typeface="Calibri"/>
                        </a:rPr>
                        <a:t>Base Q-Pair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6933C"/>
                    </a:solidFill>
                  </a:tcPr>
                </a:tc>
                <a:tc>
                  <a:txBody>
                    <a:bodyPr/>
                    <a:lstStyle/>
                    <a:p>
                      <a:pPr algn="ctr" fontAlgn="b"/>
                      <a:r>
                        <a:rPr lang="en-US" sz="1100" b="1" i="0" u="none" strike="noStrike" dirty="0">
                          <a:solidFill>
                            <a:srgbClr val="FFFFFF"/>
                          </a:solidFill>
                          <a:effectLst/>
                          <a:latin typeface="Calibri"/>
                        </a:rPr>
                        <a:t>Arad port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6933C"/>
                    </a:solidFill>
                  </a:tcPr>
                </a:tc>
                <a:tc>
                  <a:txBody>
                    <a:bodyPr/>
                    <a:lstStyle/>
                    <a:p>
                      <a:pPr algn="ctr" fontAlgn="b"/>
                      <a:r>
                        <a:rPr lang="en-US" sz="1100" b="1" i="0" u="none" strike="noStrike" dirty="0">
                          <a:solidFill>
                            <a:srgbClr val="FFFFFF"/>
                          </a:solidFill>
                          <a:effectLst/>
                          <a:latin typeface="Calibri"/>
                        </a:rPr>
                        <a:t>Base Q-Pair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6933C"/>
                    </a:solidFill>
                  </a:tcPr>
                </a:tc>
              </a:tr>
              <a:tr h="190500">
                <a:tc>
                  <a:txBody>
                    <a:bodyPr/>
                    <a:lstStyle/>
                    <a:p>
                      <a:pPr algn="ctr" fontAlgn="b"/>
                      <a:r>
                        <a:rPr lang="en-US" sz="1100" b="0" i="0" u="none" strike="noStrike">
                          <a:solidFill>
                            <a:srgbClr val="000000"/>
                          </a:solidFill>
                          <a:effectLst/>
                          <a:latin typeface="Calibri"/>
                        </a:rPr>
                        <a:t>ucode_port_166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r>
                        <a:rPr lang="en-US" sz="1100" b="0" i="0" u="none" strike="noStrike">
                          <a:solidFill>
                            <a:srgbClr val="000000"/>
                          </a:solidFill>
                          <a:effectLst/>
                          <a:latin typeface="Calibri"/>
                        </a:rPr>
                        <a:t>184[0xb8]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r>
                        <a:rPr lang="en-US" sz="1100" b="0" i="0" u="none" strike="noStrike">
                          <a:solidFill>
                            <a:srgbClr val="000000"/>
                          </a:solidFill>
                          <a:effectLst/>
                          <a:latin typeface="Calibri"/>
                        </a:rPr>
                        <a:t>ucode_port_176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r>
                        <a:rPr lang="en-US" sz="1100" b="0" i="0" u="none" strike="noStrike" dirty="0">
                          <a:solidFill>
                            <a:srgbClr val="000000"/>
                          </a:solidFill>
                          <a:effectLst/>
                          <a:latin typeface="Calibri"/>
                        </a:rPr>
                        <a:t>208[0xd0]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r>
              <a:tr h="190500">
                <a:tc>
                  <a:txBody>
                    <a:bodyPr/>
                    <a:lstStyle/>
                    <a:p>
                      <a:pPr algn="ctr" fontAlgn="b"/>
                      <a:r>
                        <a:rPr lang="en-US" sz="1100" b="0" i="0" u="none" strike="noStrike">
                          <a:solidFill>
                            <a:srgbClr val="000000"/>
                          </a:solidFill>
                          <a:effectLst/>
                          <a:latin typeface="Calibri"/>
                        </a:rPr>
                        <a:t>ucode_port_167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r>
                        <a:rPr lang="en-US" sz="1100" b="0" i="0" u="none" strike="noStrike">
                          <a:solidFill>
                            <a:srgbClr val="000000"/>
                          </a:solidFill>
                          <a:effectLst/>
                          <a:latin typeface="Calibri"/>
                        </a:rPr>
                        <a:t>185[0xb9]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r>
                        <a:rPr lang="en-US" sz="1100" b="0" i="0" u="none" strike="noStrike">
                          <a:solidFill>
                            <a:srgbClr val="000000"/>
                          </a:solidFill>
                          <a:effectLst/>
                          <a:latin typeface="Calibri"/>
                        </a:rPr>
                        <a:t>ucode_port_177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r>
                        <a:rPr lang="en-US" sz="1100" b="0" i="0" u="none" strike="noStrike">
                          <a:solidFill>
                            <a:srgbClr val="000000"/>
                          </a:solidFill>
                          <a:effectLst/>
                          <a:latin typeface="Calibri"/>
                        </a:rPr>
                        <a:t>209[0xd1]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r>
              <a:tr h="190500">
                <a:tc>
                  <a:txBody>
                    <a:bodyPr/>
                    <a:lstStyle/>
                    <a:p>
                      <a:pPr algn="ctr" fontAlgn="b"/>
                      <a:r>
                        <a:rPr lang="en-US" sz="1100" b="0" i="0" u="none" strike="noStrike">
                          <a:solidFill>
                            <a:srgbClr val="000000"/>
                          </a:solidFill>
                          <a:effectLst/>
                          <a:latin typeface="Calibri"/>
                        </a:rPr>
                        <a:t>ucode_port_168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r>
                        <a:rPr lang="en-US" sz="1100" b="0" i="0" u="none" strike="noStrike">
                          <a:solidFill>
                            <a:srgbClr val="000000"/>
                          </a:solidFill>
                          <a:effectLst/>
                          <a:latin typeface="Calibri"/>
                        </a:rPr>
                        <a:t>186[0xba]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r>
                        <a:rPr lang="en-US" sz="1100" b="0" i="0" u="none" strike="noStrike">
                          <a:solidFill>
                            <a:srgbClr val="000000"/>
                          </a:solidFill>
                          <a:effectLst/>
                          <a:latin typeface="Calibri"/>
                        </a:rPr>
                        <a:t>ucode_port_178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r>
                        <a:rPr lang="en-US" sz="1100" b="0" i="0" u="none" strike="noStrike">
                          <a:solidFill>
                            <a:srgbClr val="000000"/>
                          </a:solidFill>
                          <a:effectLst/>
                          <a:latin typeface="Calibri"/>
                        </a:rPr>
                        <a:t>210[0xd2]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r>
              <a:tr h="190500">
                <a:tc>
                  <a:txBody>
                    <a:bodyPr/>
                    <a:lstStyle/>
                    <a:p>
                      <a:pPr algn="ctr" fontAlgn="b"/>
                      <a:r>
                        <a:rPr lang="en-US" sz="1100" b="0" i="0" u="none" strike="noStrike">
                          <a:solidFill>
                            <a:srgbClr val="000000"/>
                          </a:solidFill>
                          <a:effectLst/>
                          <a:latin typeface="Calibri"/>
                        </a:rPr>
                        <a:t>ucode_port_169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r>
                        <a:rPr lang="en-US" sz="1100" b="0" i="0" u="none" strike="noStrike">
                          <a:solidFill>
                            <a:srgbClr val="000000"/>
                          </a:solidFill>
                          <a:effectLst/>
                          <a:latin typeface="Calibri"/>
                        </a:rPr>
                        <a:t>187[0xbb]</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r>
                        <a:rPr lang="en-US" sz="1100" b="0" i="0" u="none" strike="noStrike">
                          <a:solidFill>
                            <a:srgbClr val="000000"/>
                          </a:solidFill>
                          <a:effectLst/>
                          <a:latin typeface="Calibri"/>
                        </a:rPr>
                        <a:t>ucode_port_179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r>
                        <a:rPr lang="en-US" sz="1100" b="0" i="0" u="none" strike="noStrike">
                          <a:solidFill>
                            <a:srgbClr val="000000"/>
                          </a:solidFill>
                          <a:effectLst/>
                          <a:latin typeface="Calibri"/>
                        </a:rPr>
                        <a:t>211[0xd3]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r>
              <a:tr h="190500">
                <a:tc>
                  <a:txBody>
                    <a:bodyPr/>
                    <a:lstStyle/>
                    <a:p>
                      <a:pPr algn="ctr" fontAlgn="b"/>
                      <a:r>
                        <a:rPr lang="en-US" sz="1100" b="0" i="0" u="none" strike="noStrike">
                          <a:solidFill>
                            <a:srgbClr val="000000"/>
                          </a:solidFill>
                          <a:effectLst/>
                          <a:latin typeface="Calibri"/>
                        </a:rPr>
                        <a:t>ucode_port_170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r>
                        <a:rPr lang="en-US" sz="1100" b="0" i="0" u="none" strike="noStrike">
                          <a:solidFill>
                            <a:srgbClr val="000000"/>
                          </a:solidFill>
                          <a:effectLst/>
                          <a:latin typeface="Calibri"/>
                        </a:rPr>
                        <a:t>188[0xbc]</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r>
                        <a:rPr lang="en-US" sz="1100" b="0" i="0" u="none" strike="noStrike">
                          <a:solidFill>
                            <a:srgbClr val="000000"/>
                          </a:solidFill>
                          <a:effectLst/>
                          <a:latin typeface="Calibri"/>
                        </a:rPr>
                        <a:t>ucode_port_180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r>
                        <a:rPr lang="en-US" sz="1100" b="0" i="0" u="none" strike="noStrike">
                          <a:solidFill>
                            <a:srgbClr val="000000"/>
                          </a:solidFill>
                          <a:effectLst/>
                          <a:latin typeface="Calibri"/>
                        </a:rPr>
                        <a:t>212[0xd4]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r>
              <a:tr h="190500">
                <a:tc>
                  <a:txBody>
                    <a:bodyPr/>
                    <a:lstStyle/>
                    <a:p>
                      <a:pPr algn="ctr" fontAlgn="b"/>
                      <a:r>
                        <a:rPr lang="en-US" sz="1100" b="0" i="0" u="none" strike="noStrike">
                          <a:solidFill>
                            <a:srgbClr val="000000"/>
                          </a:solidFill>
                          <a:effectLst/>
                          <a:latin typeface="Calibri"/>
                        </a:rPr>
                        <a:t>ucode_port_171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r>
                        <a:rPr lang="en-US" sz="1100" b="0" i="0" u="none" strike="noStrike">
                          <a:solidFill>
                            <a:srgbClr val="000000"/>
                          </a:solidFill>
                          <a:effectLst/>
                          <a:latin typeface="Calibri"/>
                        </a:rPr>
                        <a:t>189[0xbd]</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r>
                        <a:rPr lang="en-US" sz="1100" b="0" i="0" u="none" strike="noStrike">
                          <a:solidFill>
                            <a:srgbClr val="000000"/>
                          </a:solidFill>
                          <a:effectLst/>
                          <a:latin typeface="Calibri"/>
                        </a:rPr>
                        <a:t>ucode_port_181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r>
                        <a:rPr lang="en-US" sz="1100" b="0" i="0" u="none" strike="noStrike">
                          <a:solidFill>
                            <a:srgbClr val="000000"/>
                          </a:solidFill>
                          <a:effectLst/>
                          <a:latin typeface="Calibri"/>
                        </a:rPr>
                        <a:t>213[0xd5]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r>
              <a:tr h="190500">
                <a:tc>
                  <a:txBody>
                    <a:bodyPr/>
                    <a:lstStyle/>
                    <a:p>
                      <a:pPr algn="ctr" fontAlgn="b"/>
                      <a:r>
                        <a:rPr lang="en-US" sz="1100" b="0" i="0" u="none" strike="noStrike">
                          <a:solidFill>
                            <a:srgbClr val="000000"/>
                          </a:solidFill>
                          <a:effectLst/>
                          <a:latin typeface="Calibri"/>
                        </a:rPr>
                        <a:t>ucode_port_172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r>
                        <a:rPr lang="en-US" sz="1100" b="0" i="0" u="none" strike="noStrike">
                          <a:solidFill>
                            <a:srgbClr val="000000"/>
                          </a:solidFill>
                          <a:effectLst/>
                          <a:latin typeface="Calibri"/>
                        </a:rPr>
                        <a:t>190[0xbe]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r>
                        <a:rPr lang="en-US" sz="1100" b="0" i="0" u="none" strike="noStrike">
                          <a:solidFill>
                            <a:srgbClr val="000000"/>
                          </a:solidFill>
                          <a:effectLst/>
                          <a:latin typeface="Calibri"/>
                        </a:rPr>
                        <a:t>ucode_port_182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r>
                        <a:rPr lang="en-US" sz="1100" b="0" i="0" u="none" strike="noStrike">
                          <a:solidFill>
                            <a:srgbClr val="000000"/>
                          </a:solidFill>
                          <a:effectLst/>
                          <a:latin typeface="Calibri"/>
                        </a:rPr>
                        <a:t>214[0xd6]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r>
              <a:tr h="190500">
                <a:tc>
                  <a:txBody>
                    <a:bodyPr/>
                    <a:lstStyle/>
                    <a:p>
                      <a:pPr algn="ctr" fontAlgn="b"/>
                      <a:r>
                        <a:rPr lang="en-US" sz="1100" b="0" i="0" u="none" strike="noStrike">
                          <a:solidFill>
                            <a:srgbClr val="000000"/>
                          </a:solidFill>
                          <a:effectLst/>
                          <a:latin typeface="Calibri"/>
                        </a:rPr>
                        <a:t>ucode_port_173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r>
                        <a:rPr lang="en-US" sz="1100" b="0" i="0" u="none" strike="noStrike">
                          <a:solidFill>
                            <a:srgbClr val="000000"/>
                          </a:solidFill>
                          <a:effectLst/>
                          <a:latin typeface="Calibri"/>
                        </a:rPr>
                        <a:t>191[0xbf]</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r>
                        <a:rPr lang="en-US" sz="1100" b="0" i="0" u="none" strike="noStrike">
                          <a:solidFill>
                            <a:srgbClr val="000000"/>
                          </a:solidFill>
                          <a:effectLst/>
                          <a:latin typeface="Calibri"/>
                        </a:rPr>
                        <a:t>ucode_port_183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r>
                        <a:rPr lang="en-US" sz="1100" b="0" i="0" u="none" strike="noStrike">
                          <a:solidFill>
                            <a:srgbClr val="000000"/>
                          </a:solidFill>
                          <a:effectLst/>
                          <a:latin typeface="Calibri"/>
                        </a:rPr>
                        <a:t>215[0xd7]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r>
              <a:tr h="190500">
                <a:tc>
                  <a:txBody>
                    <a:bodyPr/>
                    <a:lstStyle/>
                    <a:p>
                      <a:pPr algn="ctr" fontAlgn="b"/>
                      <a:r>
                        <a:rPr lang="en-US" sz="1100" b="0" i="0" u="none" strike="noStrike">
                          <a:solidFill>
                            <a:srgbClr val="000000"/>
                          </a:solidFill>
                          <a:effectLst/>
                          <a:latin typeface="Calibri"/>
                        </a:rPr>
                        <a:t>ucode_port_174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r>
                        <a:rPr lang="en-US" sz="1100" b="0" i="0" u="none" strike="noStrike">
                          <a:solidFill>
                            <a:srgbClr val="000000"/>
                          </a:solidFill>
                          <a:effectLst/>
                          <a:latin typeface="Calibri"/>
                        </a:rPr>
                        <a:t>200[0xc8]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r>
                        <a:rPr lang="en-US" sz="1100" b="0" i="0" u="none" strike="noStrike">
                          <a:solidFill>
                            <a:srgbClr val="000000"/>
                          </a:solidFill>
                          <a:effectLst/>
                          <a:latin typeface="Calibri"/>
                        </a:rPr>
                        <a:t>ucode_port_184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r>
                        <a:rPr lang="en-US" sz="1100" b="0" i="0" u="none" strike="noStrike">
                          <a:solidFill>
                            <a:srgbClr val="000000"/>
                          </a:solidFill>
                          <a:effectLst/>
                          <a:latin typeface="Calibri"/>
                        </a:rPr>
                        <a:t>216[0xd8]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r>
              <a:tr h="190500">
                <a:tc>
                  <a:txBody>
                    <a:bodyPr/>
                    <a:lstStyle/>
                    <a:p>
                      <a:pPr algn="ctr" fontAlgn="b"/>
                      <a:r>
                        <a:rPr lang="en-US" sz="1100" b="0" i="0" u="none" strike="noStrike">
                          <a:solidFill>
                            <a:srgbClr val="000000"/>
                          </a:solidFill>
                          <a:effectLst/>
                          <a:latin typeface="Calibri"/>
                        </a:rPr>
                        <a:t>ucode_port_175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r>
                        <a:rPr lang="en-US" sz="1100" b="0" i="0" u="none" strike="noStrike">
                          <a:solidFill>
                            <a:srgbClr val="000000"/>
                          </a:solidFill>
                          <a:effectLst/>
                          <a:latin typeface="Calibri"/>
                        </a:rPr>
                        <a:t>201[0xc9]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r>
                        <a:rPr lang="en-US" sz="1100" b="0" i="0" u="none" strike="noStrike" dirty="0">
                          <a:solidFill>
                            <a:srgbClr val="000000"/>
                          </a:solidFill>
                          <a:effectLst/>
                          <a:latin typeface="Calibri"/>
                        </a:rPr>
                        <a:t>ucode_port_185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r>
                        <a:rPr lang="en-US" sz="1100" b="0" i="0" u="none" strike="noStrike" dirty="0">
                          <a:solidFill>
                            <a:srgbClr val="000000"/>
                          </a:solidFill>
                          <a:effectLst/>
                          <a:latin typeface="Calibri"/>
                        </a:rPr>
                        <a:t>217[0xd9]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r>
            </a:tbl>
          </a:graphicData>
        </a:graphic>
      </p:graphicFrame>
      <p:cxnSp>
        <p:nvCxnSpPr>
          <p:cNvPr id="11" name="Straight Arrow Connector 10"/>
          <p:cNvCxnSpPr/>
          <p:nvPr/>
        </p:nvCxnSpPr>
        <p:spPr>
          <a:xfrm flipH="1">
            <a:off x="1752600" y="2695574"/>
            <a:ext cx="533400" cy="685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08687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38200" y="304800"/>
            <a:ext cx="7924800" cy="369332"/>
          </a:xfrm>
          <a:prstGeom prst="rect">
            <a:avLst/>
          </a:prstGeom>
        </p:spPr>
        <p:txBody>
          <a:bodyPr wrap="square">
            <a:spAutoFit/>
          </a:bodyPr>
          <a:lstStyle/>
          <a:p>
            <a:r>
              <a:rPr lang="en-US" dirty="0" smtClean="0"/>
              <a:t>ISSUE8: ERPS: Removing/Failing LAG link in ERPG causes "</a:t>
            </a:r>
            <a:r>
              <a:rPr lang="en-US" dirty="0" err="1" smtClean="0"/>
              <a:t>APSMNotReceived</a:t>
            </a:r>
            <a:r>
              <a:rPr lang="en-US" dirty="0" smtClean="0"/>
              <a:t>“ </a:t>
            </a:r>
            <a:endParaRPr lang="en-US" dirty="0"/>
          </a:p>
        </p:txBody>
      </p:sp>
      <p:pic>
        <p:nvPicPr>
          <p:cNvPr id="5" name="Picture 4"/>
          <p:cNvPicPr>
            <a:picLocks noChangeAspect="1"/>
          </p:cNvPicPr>
          <p:nvPr/>
        </p:nvPicPr>
        <p:blipFill>
          <a:blip r:embed="rId2"/>
          <a:stretch>
            <a:fillRect/>
          </a:stretch>
        </p:blipFill>
        <p:spPr>
          <a:xfrm>
            <a:off x="693909" y="674132"/>
            <a:ext cx="7368515" cy="5029200"/>
          </a:xfrm>
          <a:prstGeom prst="rect">
            <a:avLst/>
          </a:prstGeom>
        </p:spPr>
      </p:pic>
      <p:sp>
        <p:nvSpPr>
          <p:cNvPr id="6" name="Oval 5"/>
          <p:cNvSpPr/>
          <p:nvPr/>
        </p:nvSpPr>
        <p:spPr>
          <a:xfrm>
            <a:off x="2971800" y="2187278"/>
            <a:ext cx="188926" cy="188925"/>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sz="1200" b="1" dirty="0" smtClean="0">
                <a:ln w="6600">
                  <a:solidFill>
                    <a:schemeClr val="accent2"/>
                  </a:solidFill>
                  <a:prstDash val="solid"/>
                </a:ln>
                <a:solidFill>
                  <a:srgbClr val="FFFFFF"/>
                </a:solidFill>
                <a:effectLst>
                  <a:outerShdw dist="38100" dir="2700000" algn="tl" rotWithShape="0">
                    <a:schemeClr val="accent2"/>
                  </a:outerShdw>
                </a:effectLst>
              </a:rPr>
              <a:t>X</a:t>
            </a:r>
            <a:endParaRPr lang="en-US" sz="1200" b="1" dirty="0">
              <a:ln w="6600">
                <a:solidFill>
                  <a:schemeClr val="accent2"/>
                </a:solidFill>
                <a:prstDash val="solid"/>
              </a:ln>
              <a:solidFill>
                <a:srgbClr val="FFFFFF"/>
              </a:solidFill>
              <a:effectLst>
                <a:outerShdw dist="38100" dir="2700000" algn="tl" rotWithShape="0">
                  <a:schemeClr val="accent2"/>
                </a:outerShdw>
              </a:effectLst>
            </a:endParaRPr>
          </a:p>
        </p:txBody>
      </p:sp>
      <p:sp>
        <p:nvSpPr>
          <p:cNvPr id="7" name="TextBox 6"/>
          <p:cNvSpPr txBox="1"/>
          <p:nvPr/>
        </p:nvSpPr>
        <p:spPr>
          <a:xfrm>
            <a:off x="453866" y="5887998"/>
            <a:ext cx="7848600" cy="369332"/>
          </a:xfrm>
          <a:prstGeom prst="rect">
            <a:avLst/>
          </a:prstGeom>
          <a:noFill/>
        </p:spPr>
        <p:txBody>
          <a:bodyPr wrap="square" rtlCol="0">
            <a:spAutoFit/>
          </a:bodyPr>
          <a:lstStyle/>
          <a:p>
            <a:r>
              <a:rPr lang="en-US" dirty="0" smtClean="0">
                <a:solidFill>
                  <a:srgbClr val="00B0F0"/>
                </a:solidFill>
              </a:rPr>
              <a:t>-------------------------------------------------------------------------------------------------------------</a:t>
            </a:r>
            <a:endParaRPr lang="en-US" dirty="0">
              <a:solidFill>
                <a:srgbClr val="00B0F0"/>
              </a:solidFill>
            </a:endParaRPr>
          </a:p>
        </p:txBody>
      </p:sp>
      <p:sp>
        <p:nvSpPr>
          <p:cNvPr id="8" name="TextBox 7"/>
          <p:cNvSpPr txBox="1"/>
          <p:nvPr/>
        </p:nvSpPr>
        <p:spPr>
          <a:xfrm>
            <a:off x="470955" y="6134219"/>
            <a:ext cx="5889754" cy="553998"/>
          </a:xfrm>
          <a:prstGeom prst="rect">
            <a:avLst/>
          </a:prstGeom>
          <a:noFill/>
        </p:spPr>
        <p:txBody>
          <a:bodyPr wrap="none" rtlCol="0">
            <a:spAutoFit/>
          </a:bodyPr>
          <a:lstStyle/>
          <a:p>
            <a:r>
              <a:rPr lang="en-US" sz="1000" dirty="0" smtClean="0"/>
              <a:t>When the one member port in PO1 is down, it </a:t>
            </a:r>
            <a:r>
              <a:rPr lang="en-US" sz="1000" dirty="0"/>
              <a:t>causes "</a:t>
            </a:r>
            <a:r>
              <a:rPr lang="en-US" sz="1000" dirty="0" err="1"/>
              <a:t>APSMNotReceived</a:t>
            </a:r>
            <a:r>
              <a:rPr lang="en-US" sz="1000" dirty="0"/>
              <a:t>“ </a:t>
            </a:r>
            <a:r>
              <a:rPr lang="en-US" sz="1000" dirty="0" smtClean="0"/>
              <a:t>in pear </a:t>
            </a:r>
            <a:r>
              <a:rPr lang="en-US" sz="1000" dirty="0" err="1" smtClean="0"/>
              <a:t>lc</a:t>
            </a:r>
            <a:r>
              <a:rPr lang="en-US" sz="1000" dirty="0" smtClean="0"/>
              <a:t> in ERPG.</a:t>
            </a:r>
          </a:p>
          <a:p>
            <a:r>
              <a:rPr lang="en-US" sz="1000" dirty="0" smtClean="0"/>
              <a:t>Root cause: when lag port change, miss updating the mac </a:t>
            </a:r>
            <a:r>
              <a:rPr lang="en-US" sz="1000" dirty="0" smtClean="0"/>
              <a:t>tale of </a:t>
            </a:r>
            <a:r>
              <a:rPr lang="en-US" sz="1000" dirty="0" smtClean="0"/>
              <a:t>subring   in ERPS.</a:t>
            </a:r>
          </a:p>
          <a:p>
            <a:r>
              <a:rPr lang="en-US" sz="1000" dirty="0" smtClean="0"/>
              <a:t>Fix: Add </a:t>
            </a:r>
            <a:r>
              <a:rPr lang="en-US" sz="1000" dirty="0"/>
              <a:t>the  process </a:t>
            </a:r>
            <a:r>
              <a:rPr lang="en-US" sz="1000" dirty="0" smtClean="0"/>
              <a:t>ERPS_HW_SUB_RING_MC_UPDATE_NEEDED at </a:t>
            </a:r>
            <a:r>
              <a:rPr lang="en-US" sz="1000" dirty="0"/>
              <a:t>function </a:t>
            </a:r>
            <a:r>
              <a:rPr lang="en-US" sz="1000" dirty="0" err="1" smtClean="0"/>
              <a:t>FsErpsHwRingConfig</a:t>
            </a:r>
            <a:r>
              <a:rPr lang="en-US" sz="1000" dirty="0" smtClean="0"/>
              <a:t> in </a:t>
            </a:r>
            <a:r>
              <a:rPr lang="en-US" sz="1000" dirty="0" err="1" smtClean="0"/>
              <a:t>erpsnp.c</a:t>
            </a:r>
            <a:endParaRPr lang="en-US" sz="1000" dirty="0"/>
          </a:p>
        </p:txBody>
      </p:sp>
      <p:sp>
        <p:nvSpPr>
          <p:cNvPr id="9" name="Rectangle 8"/>
          <p:cNvSpPr/>
          <p:nvPr/>
        </p:nvSpPr>
        <p:spPr>
          <a:xfrm>
            <a:off x="228600" y="674132"/>
            <a:ext cx="1314784" cy="369332"/>
          </a:xfrm>
          <a:prstGeom prst="rect">
            <a:avLst/>
          </a:prstGeom>
        </p:spPr>
        <p:txBody>
          <a:bodyPr wrap="none">
            <a:spAutoFit/>
          </a:bodyPr>
          <a:lstStyle/>
          <a:p>
            <a:r>
              <a:rPr lang="en-US" dirty="0"/>
              <a:t>POCM-3833</a:t>
            </a:r>
          </a:p>
        </p:txBody>
      </p:sp>
    </p:spTree>
    <p:extLst>
      <p:ext uri="{BB962C8B-B14F-4D97-AF65-F5344CB8AC3E}">
        <p14:creationId xmlns:p14="http://schemas.microsoft.com/office/powerpoint/2010/main" val="29918107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22973"/>
            <a:ext cx="8229600" cy="646331"/>
          </a:xfrm>
        </p:spPr>
        <p:txBody>
          <a:bodyPr wrap="square">
            <a:spAutoFit/>
          </a:bodyPr>
          <a:lstStyle/>
          <a:p>
            <a:pPr algn="l"/>
            <a:r>
              <a:rPr lang="en-US" sz="1800" dirty="0" smtClean="0">
                <a:latin typeface="+mn-lt"/>
                <a:ea typeface="+mn-ea"/>
                <a:cs typeface="+mn-cs"/>
              </a:rPr>
              <a:t>Issue 9: </a:t>
            </a:r>
            <a:r>
              <a:rPr lang="en-US" sz="1800" dirty="0">
                <a:latin typeface="+mn-lt"/>
                <a:ea typeface="+mn-ea"/>
                <a:cs typeface="+mn-cs"/>
              </a:rPr>
              <a:t>Drop packet up to 25% at frame size from 64 to </a:t>
            </a:r>
            <a:r>
              <a:rPr lang="en-US" sz="1800" dirty="0" smtClean="0">
                <a:latin typeface="+mn-lt"/>
                <a:ea typeface="+mn-ea"/>
                <a:cs typeface="+mn-cs"/>
              </a:rPr>
              <a:t>77. however there is no  issue when frame size is greater than 77.</a:t>
            </a:r>
            <a:endParaRPr lang="en-US" sz="1800" dirty="0">
              <a:latin typeface="+mn-lt"/>
              <a:ea typeface="+mn-ea"/>
              <a:cs typeface="+mn-cs"/>
            </a:endParaRPr>
          </a:p>
        </p:txBody>
      </p:sp>
      <p:pic>
        <p:nvPicPr>
          <p:cNvPr id="4" name="Picture 3"/>
          <p:cNvPicPr>
            <a:picLocks noChangeAspect="1"/>
          </p:cNvPicPr>
          <p:nvPr/>
        </p:nvPicPr>
        <p:blipFill>
          <a:blip r:embed="rId3"/>
          <a:stretch>
            <a:fillRect/>
          </a:stretch>
        </p:blipFill>
        <p:spPr>
          <a:xfrm>
            <a:off x="914400" y="1295401"/>
            <a:ext cx="6430330" cy="2819400"/>
          </a:xfrm>
          <a:prstGeom prst="rect">
            <a:avLst/>
          </a:prstGeom>
        </p:spPr>
      </p:pic>
      <p:sp>
        <p:nvSpPr>
          <p:cNvPr id="5" name="Rectangle 4"/>
          <p:cNvSpPr/>
          <p:nvPr/>
        </p:nvSpPr>
        <p:spPr>
          <a:xfrm>
            <a:off x="876300" y="4572000"/>
            <a:ext cx="7391400" cy="1754326"/>
          </a:xfrm>
          <a:prstGeom prst="rect">
            <a:avLst/>
          </a:prstGeom>
        </p:spPr>
        <p:txBody>
          <a:bodyPr wrap="square">
            <a:spAutoFit/>
          </a:bodyPr>
          <a:lstStyle/>
          <a:p>
            <a:r>
              <a:rPr lang="en-US" sz="1200" dirty="0" smtClean="0"/>
              <a:t>The </a:t>
            </a:r>
            <a:r>
              <a:rPr lang="en-US" sz="1200" dirty="0"/>
              <a:t>ETH frame generated by the JDSU (64 bytes length for example), can found that the IP Header Length (IHL) is increasing from 0x0 to 0xF. If the IHL set to bigger than 0xB, namely 0xC, 0xD, 0xE and 0xF, the minimum packet length ( </a:t>
            </a:r>
            <a:r>
              <a:rPr lang="en-US" sz="1200" b="1" i="1" dirty="0"/>
              <a:t>DA(6)+SA(6)+TYPE(2)+IHL*4 + CRC(4) </a:t>
            </a:r>
            <a:r>
              <a:rPr lang="en-US" sz="1200" dirty="0"/>
              <a:t>)  should be 66, 70, 74 and 78, but actually the ETH packet length is only 64 bytes in this case. </a:t>
            </a:r>
          </a:p>
          <a:p>
            <a:r>
              <a:rPr lang="en-US" sz="1200" dirty="0"/>
              <a:t> </a:t>
            </a:r>
          </a:p>
          <a:p>
            <a:r>
              <a:rPr lang="en-US" sz="1200" dirty="0"/>
              <a:t>When chipset Arad check the IP header and verify the packet length, will find that the actual ETH frame length is smaller than the minimum, must be an invalid packet and just dropped it.  So for 64 bytes packet generated by JDSU in this case, IHL with 0xC, 0xD, 0xE and 0xF will be dropped, IHL from 0x0 to 0xB will be OK, this is match the 25% packet drop rate.  </a:t>
            </a:r>
          </a:p>
        </p:txBody>
      </p:sp>
    </p:spTree>
    <p:extLst>
      <p:ext uri="{BB962C8B-B14F-4D97-AF65-F5344CB8AC3E}">
        <p14:creationId xmlns:p14="http://schemas.microsoft.com/office/powerpoint/2010/main" val="8085948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Schedule template is ok.</a:t>
            </a:r>
          </a:p>
          <a:p>
            <a:r>
              <a:rPr lang="en-US" dirty="0" smtClean="0"/>
              <a:t>VOQ QOS is ok</a:t>
            </a:r>
          </a:p>
          <a:p>
            <a:r>
              <a:rPr lang="en-US" dirty="0" smtClean="0"/>
              <a:t> </a:t>
            </a:r>
            <a:endParaRPr lang="en-US" dirty="0"/>
          </a:p>
        </p:txBody>
      </p:sp>
    </p:spTree>
    <p:extLst>
      <p:ext uri="{BB962C8B-B14F-4D97-AF65-F5344CB8AC3E}">
        <p14:creationId xmlns:p14="http://schemas.microsoft.com/office/powerpoint/2010/main" val="22303221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990600"/>
            <a:ext cx="8229600" cy="4525963"/>
          </a:xfrm>
        </p:spPr>
        <p:txBody>
          <a:bodyPr/>
          <a:lstStyle/>
          <a:p>
            <a:r>
              <a:rPr lang="en-US" dirty="0" smtClean="0"/>
              <a:t>There is a bug for forwarding the l2.5 traffic during the warm reboot.</a:t>
            </a:r>
          </a:p>
          <a:p>
            <a:r>
              <a:rPr lang="en-US" dirty="0" smtClean="0"/>
              <a:t>The MPLS capably port should add in the </a:t>
            </a:r>
            <a:r>
              <a:rPr lang="en-US" dirty="0" err="1" smtClean="0"/>
              <a:t>stp</a:t>
            </a:r>
            <a:r>
              <a:rPr lang="en-US" dirty="0" smtClean="0"/>
              <a:t> group 63. </a:t>
            </a:r>
            <a:endParaRPr lang="en-US" dirty="0"/>
          </a:p>
        </p:txBody>
      </p:sp>
      <p:sp>
        <p:nvSpPr>
          <p:cNvPr id="4" name="Rectangle 3"/>
          <p:cNvSpPr/>
          <p:nvPr/>
        </p:nvSpPr>
        <p:spPr>
          <a:xfrm>
            <a:off x="609600" y="381000"/>
            <a:ext cx="5867400" cy="369332"/>
          </a:xfrm>
          <a:prstGeom prst="rect">
            <a:avLst/>
          </a:prstGeom>
        </p:spPr>
        <p:txBody>
          <a:bodyPr wrap="square">
            <a:spAutoFit/>
          </a:bodyPr>
          <a:lstStyle/>
          <a:p>
            <a:r>
              <a:rPr lang="en-US" dirty="0"/>
              <a:t>ISSUE6: L2.5 traffic blocked during warm reboot.</a:t>
            </a:r>
          </a:p>
        </p:txBody>
      </p:sp>
    </p:spTree>
    <p:extLst>
      <p:ext uri="{BB962C8B-B14F-4D97-AF65-F5344CB8AC3E}">
        <p14:creationId xmlns:p14="http://schemas.microsoft.com/office/powerpoint/2010/main" val="118427725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the mac over odu2-1 interface can’t be up.</a:t>
            </a:r>
          </a:p>
          <a:p>
            <a:r>
              <a:rPr lang="en-US" dirty="0" smtClean="0"/>
              <a:t>However mac over odu2-2 over the same port can be up</a:t>
            </a:r>
            <a:r>
              <a:rPr lang="en-US" smtClean="0"/>
              <a:t>.  </a:t>
            </a:r>
            <a:endParaRPr lang="en-US" dirty="0"/>
          </a:p>
        </p:txBody>
      </p:sp>
    </p:spTree>
    <p:extLst>
      <p:ext uri="{BB962C8B-B14F-4D97-AF65-F5344CB8AC3E}">
        <p14:creationId xmlns:p14="http://schemas.microsoft.com/office/powerpoint/2010/main" val="294015259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Create </a:t>
            </a:r>
            <a:r>
              <a:rPr lang="en-US" dirty="0" err="1" smtClean="0"/>
              <a:t>Vlan</a:t>
            </a:r>
            <a:r>
              <a:rPr lang="en-US" dirty="0" smtClean="0"/>
              <a:t>(bridge) and then delete the </a:t>
            </a:r>
            <a:r>
              <a:rPr lang="en-US" dirty="0" err="1" smtClean="0"/>
              <a:t>Vlan</a:t>
            </a:r>
            <a:r>
              <a:rPr lang="en-US" dirty="0" smtClean="0"/>
              <a:t> bridge . The </a:t>
            </a:r>
            <a:r>
              <a:rPr lang="en-US" dirty="0" err="1" smtClean="0"/>
              <a:t>inlif</a:t>
            </a:r>
            <a:r>
              <a:rPr lang="en-US" dirty="0" smtClean="0"/>
              <a:t> of </a:t>
            </a:r>
            <a:r>
              <a:rPr lang="en-US" dirty="0" err="1"/>
              <a:t>bcm</a:t>
            </a:r>
            <a:r>
              <a:rPr lang="en-US" dirty="0" smtClean="0"/>
              <a:t> can’t be deleted.?</a:t>
            </a:r>
            <a:endParaRPr lang="en-US" dirty="0"/>
          </a:p>
        </p:txBody>
      </p:sp>
    </p:spTree>
    <p:extLst>
      <p:ext uri="{BB962C8B-B14F-4D97-AF65-F5344CB8AC3E}">
        <p14:creationId xmlns:p14="http://schemas.microsoft.com/office/powerpoint/2010/main" val="35163570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1648</Words>
  <Application>Microsoft Office PowerPoint</Application>
  <PresentationFormat>On-screen Show (4:3)</PresentationFormat>
  <Paragraphs>437</Paragraphs>
  <Slides>15</Slides>
  <Notes>1</Notes>
  <HiddenSlides>0</HiddenSlides>
  <MMClips>0</MMClips>
  <ScaleCrop>false</ScaleCrop>
  <HeadingPairs>
    <vt:vector size="8" baseType="variant">
      <vt:variant>
        <vt:lpstr>Fonts Used</vt:lpstr>
      </vt:variant>
      <vt:variant>
        <vt:i4>2</vt:i4>
      </vt:variant>
      <vt:variant>
        <vt:lpstr>Theme</vt:lpstr>
      </vt:variant>
      <vt:variant>
        <vt:i4>1</vt:i4>
      </vt:variant>
      <vt:variant>
        <vt:lpstr>Embedded OLE Servers</vt:lpstr>
      </vt:variant>
      <vt:variant>
        <vt:i4>1</vt:i4>
      </vt:variant>
      <vt:variant>
        <vt:lpstr>Slide Titles</vt:lpstr>
      </vt:variant>
      <vt:variant>
        <vt:i4>15</vt:i4>
      </vt:variant>
    </vt:vector>
  </HeadingPairs>
  <TitlesOfParts>
    <vt:vector size="19" baseType="lpstr">
      <vt:lpstr>Arial</vt:lpstr>
      <vt:lpstr>Calibri</vt:lpstr>
      <vt:lpstr>Office Theme</vt:lpstr>
      <vt:lpstr>Acrobat Document</vt:lpstr>
      <vt:lpstr>7100 SW ISSUEs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Issue 9: Drop packet up to 25% at frame size from 64 to 77. however there is no  issue when frame size is greater than 77.</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Kaikun, Luo</dc:creator>
  <cp:lastModifiedBy>Kaikun, Luo (Coriant - CN/Shanghai)</cp:lastModifiedBy>
  <cp:revision>145</cp:revision>
  <cp:lastPrinted>2016-03-08T12:39:52Z</cp:lastPrinted>
  <dcterms:created xsi:type="dcterms:W3CDTF">2006-08-16T00:00:00Z</dcterms:created>
  <dcterms:modified xsi:type="dcterms:W3CDTF">2016-09-12T02:16:34Z</dcterms:modified>
</cp:coreProperties>
</file>